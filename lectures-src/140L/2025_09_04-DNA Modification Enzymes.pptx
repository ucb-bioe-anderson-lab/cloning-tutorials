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8.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9.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1.xml" ContentType="application/vnd.openxmlformats-officedocument.themeOverr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xml" ContentType="application/vnd.openxmlformats-officedocument.presentationml.tags+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5.xml" ContentType="application/vnd.openxmlformats-officedocument.presentationml.tags+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6.xml" ContentType="application/vnd.openxmlformats-officedocument.presentationml.tags+xml"/>
  <Override PartName="/ppt/notesSlides/notesSlide10.xml" ContentType="application/vnd.openxmlformats-officedocument.presentationml.notesSlide+xml"/>
  <Override PartName="/ppt/tags/tag7.xml" ContentType="application/vnd.openxmlformats-officedocument.presentationml.tags+xml"/>
  <Override PartName="/ppt/notesSlides/notesSlide11.xml" ContentType="application/vnd.openxmlformats-officedocument.presentationml.notesSlide+xml"/>
  <Override PartName="/ppt/tags/tag8.xml" ContentType="application/vnd.openxmlformats-officedocument.presentationml.tags+xml"/>
  <Override PartName="/ppt/notesSlides/notesSlide12.xml" ContentType="application/vnd.openxmlformats-officedocument.presentationml.notesSlide+xml"/>
  <Override PartName="/ppt/tags/tag9.xml" ContentType="application/vnd.openxmlformats-officedocument.presentationml.tags+xml"/>
  <Override PartName="/ppt/notesSlides/notesSlide13.xml" ContentType="application/vnd.openxmlformats-officedocument.presentationml.notesSlide+xml"/>
  <Override PartName="/ppt/tags/tag10.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Override2.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1.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heme/themeOverride3.xml" ContentType="application/vnd.openxmlformats-officedocument.themeOverr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2.xml" ContentType="application/vnd.openxmlformats-officedocument.presentationml.tags+xml"/>
  <Override PartName="/ppt/notesSlides/notesSlide42.xml" ContentType="application/vnd.openxmlformats-officedocument.presentationml.notesSlide+xml"/>
  <Override PartName="/ppt/tags/tag13.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heme/themeOverride4.xml" ContentType="application/vnd.openxmlformats-officedocument.themeOverr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theme/themeOverride5.xml" ContentType="application/vnd.openxmlformats-officedocument.themeOverr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14.xml" ContentType="application/vnd.openxmlformats-officedocument.presentationml.tags+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theme/themeOverride6.xml" ContentType="application/vnd.openxmlformats-officedocument.themeOverr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theme/themeOverride7.xml" ContentType="application/vnd.openxmlformats-officedocument.themeOverr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tags/tag15.xml" ContentType="application/vnd.openxmlformats-officedocument.presentationml.tags+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tags/tag16.xml" ContentType="application/vnd.openxmlformats-officedocument.presentationml.tags+xml"/>
  <Override PartName="/ppt/notesSlides/notesSlide76.xml" ContentType="application/vnd.openxmlformats-officedocument.presentationml.notesSlide+xml"/>
  <Override PartName="/ppt/theme/themeOverride8.xml" ContentType="application/vnd.openxmlformats-officedocument.themeOverride+xml"/>
  <Override PartName="/ppt/tags/tag17.xml" ContentType="application/vnd.openxmlformats-officedocument.presentationml.tags+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 id="2147483709" r:id="rId3"/>
    <p:sldMasterId id="2147483734" r:id="rId4"/>
    <p:sldMasterId id="2147483771" r:id="rId5"/>
    <p:sldMasterId id="2147483807" r:id="rId6"/>
    <p:sldMasterId id="2147483819" r:id="rId7"/>
    <p:sldMasterId id="2147483843" r:id="rId8"/>
    <p:sldMasterId id="2147483891" r:id="rId9"/>
    <p:sldMasterId id="2147483903" r:id="rId10"/>
  </p:sldMasterIdLst>
  <p:notesMasterIdLst>
    <p:notesMasterId r:id="rId100"/>
  </p:notesMasterIdLst>
  <p:sldIdLst>
    <p:sldId id="374" r:id="rId11"/>
    <p:sldId id="487" r:id="rId12"/>
    <p:sldId id="537" r:id="rId13"/>
    <p:sldId id="366" r:id="rId14"/>
    <p:sldId id="261" r:id="rId15"/>
    <p:sldId id="263" r:id="rId16"/>
    <p:sldId id="262" r:id="rId17"/>
    <p:sldId id="264" r:id="rId18"/>
    <p:sldId id="446" r:id="rId19"/>
    <p:sldId id="265" r:id="rId20"/>
    <p:sldId id="267" r:id="rId21"/>
    <p:sldId id="368" r:id="rId22"/>
    <p:sldId id="367" r:id="rId23"/>
    <p:sldId id="269" r:id="rId24"/>
    <p:sldId id="555" r:id="rId25"/>
    <p:sldId id="273" r:id="rId26"/>
    <p:sldId id="271" r:id="rId27"/>
    <p:sldId id="416" r:id="rId28"/>
    <p:sldId id="274" r:id="rId29"/>
    <p:sldId id="417" r:id="rId30"/>
    <p:sldId id="397" r:id="rId31"/>
    <p:sldId id="377" r:id="rId32"/>
    <p:sldId id="282" r:id="rId33"/>
    <p:sldId id="285" r:id="rId34"/>
    <p:sldId id="286" r:id="rId35"/>
    <p:sldId id="287" r:id="rId36"/>
    <p:sldId id="284"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448" r:id="rId51"/>
    <p:sldId id="449" r:id="rId52"/>
    <p:sldId id="450" r:id="rId53"/>
    <p:sldId id="451" r:id="rId54"/>
    <p:sldId id="452" r:id="rId55"/>
    <p:sldId id="453" r:id="rId56"/>
    <p:sldId id="454" r:id="rId57"/>
    <p:sldId id="455" r:id="rId58"/>
    <p:sldId id="456" r:id="rId59"/>
    <p:sldId id="457" r:id="rId60"/>
    <p:sldId id="458" r:id="rId61"/>
    <p:sldId id="314" r:id="rId62"/>
    <p:sldId id="313" r:id="rId63"/>
    <p:sldId id="315" r:id="rId64"/>
    <p:sldId id="316" r:id="rId65"/>
    <p:sldId id="311" r:id="rId66"/>
    <p:sldId id="319" r:id="rId67"/>
    <p:sldId id="320" r:id="rId68"/>
    <p:sldId id="321" r:id="rId69"/>
    <p:sldId id="322" r:id="rId70"/>
    <p:sldId id="323" r:id="rId71"/>
    <p:sldId id="324" r:id="rId72"/>
    <p:sldId id="328" r:id="rId73"/>
    <p:sldId id="329" r:id="rId74"/>
    <p:sldId id="394" r:id="rId75"/>
    <p:sldId id="330" r:id="rId76"/>
    <p:sldId id="418" r:id="rId77"/>
    <p:sldId id="333" r:id="rId78"/>
    <p:sldId id="343" r:id="rId79"/>
    <p:sldId id="344" r:id="rId80"/>
    <p:sldId id="345" r:id="rId81"/>
    <p:sldId id="352" r:id="rId82"/>
    <p:sldId id="353" r:id="rId83"/>
    <p:sldId id="354" r:id="rId84"/>
    <p:sldId id="447" r:id="rId85"/>
    <p:sldId id="419" r:id="rId86"/>
    <p:sldId id="357" r:id="rId87"/>
    <p:sldId id="358" r:id="rId88"/>
    <p:sldId id="361" r:id="rId89"/>
    <p:sldId id="362" r:id="rId90"/>
    <p:sldId id="424" r:id="rId91"/>
    <p:sldId id="378" r:id="rId92"/>
    <p:sldId id="554" r:id="rId93"/>
    <p:sldId id="553" r:id="rId94"/>
    <p:sldId id="464" r:id="rId95"/>
    <p:sldId id="557" r:id="rId96"/>
    <p:sldId id="548" r:id="rId97"/>
    <p:sldId id="551" r:id="rId98"/>
    <p:sldId id="425" r:id="rId9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CCFF"/>
    <a:srgbClr val="00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55" autoAdjust="0"/>
    <p:restoredTop sz="80680" autoAdjust="0"/>
  </p:normalViewPr>
  <p:slideViewPr>
    <p:cSldViewPr>
      <p:cViewPr varScale="1">
        <p:scale>
          <a:sx n="102" d="100"/>
          <a:sy n="102" d="100"/>
        </p:scale>
        <p:origin x="1816" y="176"/>
      </p:cViewPr>
      <p:guideLst>
        <p:guide orient="horz" pos="2160"/>
        <p:guide pos="2880"/>
      </p:guideLst>
    </p:cSldViewPr>
  </p:slideViewPr>
  <p:notesTextViewPr>
    <p:cViewPr>
      <p:scale>
        <a:sx n="155" d="100"/>
        <a:sy n="155" d="100"/>
      </p:scale>
      <p:origin x="0" y="0"/>
    </p:cViewPr>
  </p:notesTextViewPr>
  <p:sorterViewPr>
    <p:cViewPr>
      <p:scale>
        <a:sx n="50" d="100"/>
        <a:sy n="50" d="100"/>
      </p:scale>
      <p:origin x="0" y="2275"/>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84" Type="http://schemas.openxmlformats.org/officeDocument/2006/relationships/slide" Target="slides/slide74.xml"/><Relationship Id="rId89" Type="http://schemas.openxmlformats.org/officeDocument/2006/relationships/slide" Target="slides/slide79.xml"/><Relationship Id="rId16" Type="http://schemas.openxmlformats.org/officeDocument/2006/relationships/slide" Target="slides/slide6.xml"/><Relationship Id="rId11" Type="http://schemas.openxmlformats.org/officeDocument/2006/relationships/slide" Target="slides/slide1.xml"/><Relationship Id="rId32" Type="http://schemas.openxmlformats.org/officeDocument/2006/relationships/slide" Target="slides/slide22.xml"/><Relationship Id="rId37" Type="http://schemas.openxmlformats.org/officeDocument/2006/relationships/slide" Target="slides/slide27.xml"/><Relationship Id="rId53" Type="http://schemas.openxmlformats.org/officeDocument/2006/relationships/slide" Target="slides/slide43.xml"/><Relationship Id="rId58" Type="http://schemas.openxmlformats.org/officeDocument/2006/relationships/slide" Target="slides/slide48.xml"/><Relationship Id="rId74" Type="http://schemas.openxmlformats.org/officeDocument/2006/relationships/slide" Target="slides/slide64.xml"/><Relationship Id="rId79" Type="http://schemas.openxmlformats.org/officeDocument/2006/relationships/slide" Target="slides/slide69.xml"/><Relationship Id="rId102" Type="http://schemas.openxmlformats.org/officeDocument/2006/relationships/viewProps" Target="viewProps.xml"/><Relationship Id="rId5" Type="http://schemas.openxmlformats.org/officeDocument/2006/relationships/slideMaster" Target="slideMasters/slideMaster5.xml"/><Relationship Id="rId90" Type="http://schemas.openxmlformats.org/officeDocument/2006/relationships/slide" Target="slides/slide80.xml"/><Relationship Id="rId95" Type="http://schemas.openxmlformats.org/officeDocument/2006/relationships/slide" Target="slides/slide85.xml"/><Relationship Id="rId22" Type="http://schemas.openxmlformats.org/officeDocument/2006/relationships/slide" Target="slides/slide12.xml"/><Relationship Id="rId27" Type="http://schemas.openxmlformats.org/officeDocument/2006/relationships/slide" Target="slides/slide17.xml"/><Relationship Id="rId43" Type="http://schemas.openxmlformats.org/officeDocument/2006/relationships/slide" Target="slides/slide33.xml"/><Relationship Id="rId48" Type="http://schemas.openxmlformats.org/officeDocument/2006/relationships/slide" Target="slides/slide38.xml"/><Relationship Id="rId64" Type="http://schemas.openxmlformats.org/officeDocument/2006/relationships/slide" Target="slides/slide54.xml"/><Relationship Id="rId69" Type="http://schemas.openxmlformats.org/officeDocument/2006/relationships/slide" Target="slides/slide59.xml"/><Relationship Id="rId80" Type="http://schemas.openxmlformats.org/officeDocument/2006/relationships/slide" Target="slides/slide70.xml"/><Relationship Id="rId85" Type="http://schemas.openxmlformats.org/officeDocument/2006/relationships/slide" Target="slides/slide75.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103" Type="http://schemas.openxmlformats.org/officeDocument/2006/relationships/theme" Target="theme/theme1.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slide" Target="slides/slide65.xml"/><Relationship Id="rId83" Type="http://schemas.openxmlformats.org/officeDocument/2006/relationships/slide" Target="slides/slide73.xml"/><Relationship Id="rId88" Type="http://schemas.openxmlformats.org/officeDocument/2006/relationships/slide" Target="slides/slide78.xml"/><Relationship Id="rId91" Type="http://schemas.openxmlformats.org/officeDocument/2006/relationships/slide" Target="slides/slide81.xml"/><Relationship Id="rId96" Type="http://schemas.openxmlformats.org/officeDocument/2006/relationships/slide" Target="slides/slide86.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slide" Target="slides/slide71.xml"/><Relationship Id="rId86" Type="http://schemas.openxmlformats.org/officeDocument/2006/relationships/slide" Target="slides/slide76.xml"/><Relationship Id="rId94" Type="http://schemas.openxmlformats.org/officeDocument/2006/relationships/slide" Target="slides/slide84.xml"/><Relationship Id="rId99" Type="http://schemas.openxmlformats.org/officeDocument/2006/relationships/slide" Target="slides/slide89.xml"/><Relationship Id="rId10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97" Type="http://schemas.openxmlformats.org/officeDocument/2006/relationships/slide" Target="slides/slide87.xml"/><Relationship Id="rId104" Type="http://schemas.openxmlformats.org/officeDocument/2006/relationships/tableStyles" Target="tableStyles.xml"/><Relationship Id="rId7" Type="http://schemas.openxmlformats.org/officeDocument/2006/relationships/slideMaster" Target="slideMasters/slideMaster7.xml"/><Relationship Id="rId71" Type="http://schemas.openxmlformats.org/officeDocument/2006/relationships/slide" Target="slides/slide61.xml"/><Relationship Id="rId92" Type="http://schemas.openxmlformats.org/officeDocument/2006/relationships/slide" Target="slides/slide82.xml"/><Relationship Id="rId2" Type="http://schemas.openxmlformats.org/officeDocument/2006/relationships/slideMaster" Target="slideMasters/slideMaster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 Id="rId87" Type="http://schemas.openxmlformats.org/officeDocument/2006/relationships/slide" Target="slides/slide77.xml"/><Relationship Id="rId61" Type="http://schemas.openxmlformats.org/officeDocument/2006/relationships/slide" Target="slides/slide51.xml"/><Relationship Id="rId82" Type="http://schemas.openxmlformats.org/officeDocument/2006/relationships/slide" Target="slides/slide72.xml"/><Relationship Id="rId19" Type="http://schemas.openxmlformats.org/officeDocument/2006/relationships/slide" Target="slides/slide9.xml"/><Relationship Id="rId14" Type="http://schemas.openxmlformats.org/officeDocument/2006/relationships/slide" Target="slides/slide4.xml"/><Relationship Id="rId30" Type="http://schemas.openxmlformats.org/officeDocument/2006/relationships/slide" Target="slides/slide20.xml"/><Relationship Id="rId35" Type="http://schemas.openxmlformats.org/officeDocument/2006/relationships/slide" Target="slides/slide25.xml"/><Relationship Id="rId56" Type="http://schemas.openxmlformats.org/officeDocument/2006/relationships/slide" Target="slides/slide46.xml"/><Relationship Id="rId77" Type="http://schemas.openxmlformats.org/officeDocument/2006/relationships/slide" Target="slides/slide67.xml"/><Relationship Id="rId100" Type="http://schemas.openxmlformats.org/officeDocument/2006/relationships/notesMaster" Target="notesMasters/notesMaster1.xml"/><Relationship Id="rId8" Type="http://schemas.openxmlformats.org/officeDocument/2006/relationships/slideMaster" Target="slideMasters/slideMaster8.xml"/><Relationship Id="rId51" Type="http://schemas.openxmlformats.org/officeDocument/2006/relationships/slide" Target="slides/slide41.xml"/><Relationship Id="rId72" Type="http://schemas.openxmlformats.org/officeDocument/2006/relationships/slide" Target="slides/slide62.xml"/><Relationship Id="rId93" Type="http://schemas.openxmlformats.org/officeDocument/2006/relationships/slide" Target="slides/slide83.xml"/><Relationship Id="rId98" Type="http://schemas.openxmlformats.org/officeDocument/2006/relationships/slide" Target="slides/slide88.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B30533-3C7D-4748-8D9F-173FE80F9998}"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US"/>
        </a:p>
      </dgm:t>
    </dgm:pt>
    <dgm:pt modelId="{7338A351-633C-4F66-9FF2-349AC855AEB4}">
      <dgm:prSet phldrT="[Text]" custT="1"/>
      <dgm:spPr/>
      <dgm:t>
        <a:bodyPr/>
        <a:lstStyle/>
        <a:p>
          <a:r>
            <a:rPr lang="en-US" sz="1800" dirty="0"/>
            <a:t>Type I</a:t>
          </a:r>
        </a:p>
      </dgm:t>
    </dgm:pt>
    <dgm:pt modelId="{BEF77F20-E9D3-4046-87A7-2AA828BA137A}" type="parTrans" cxnId="{D8C66334-942A-4375-810C-63F4AA908089}">
      <dgm:prSet/>
      <dgm:spPr/>
      <dgm:t>
        <a:bodyPr/>
        <a:lstStyle/>
        <a:p>
          <a:endParaRPr lang="en-US" sz="4000"/>
        </a:p>
      </dgm:t>
    </dgm:pt>
    <dgm:pt modelId="{63A9FE03-C6AD-4E34-BB02-54E87EE8433F}" type="sibTrans" cxnId="{D8C66334-942A-4375-810C-63F4AA908089}">
      <dgm:prSet/>
      <dgm:spPr/>
      <dgm:t>
        <a:bodyPr/>
        <a:lstStyle/>
        <a:p>
          <a:endParaRPr lang="en-US" sz="4000"/>
        </a:p>
      </dgm:t>
    </dgm:pt>
    <dgm:pt modelId="{E08B4D6F-F32C-4D95-B062-D674173EFD73}">
      <dgm:prSet custT="1"/>
      <dgm:spPr/>
      <dgm:t>
        <a:bodyPr/>
        <a:lstStyle/>
        <a:p>
          <a:r>
            <a:rPr lang="en-US" sz="1800" dirty="0"/>
            <a:t>RMS systems (3 subunit proteins)</a:t>
          </a:r>
        </a:p>
      </dgm:t>
    </dgm:pt>
    <dgm:pt modelId="{0D2F8983-8077-4126-9ADC-99B9464E70AD}" type="parTrans" cxnId="{0110540C-EA5B-4783-BA6D-AE6EEC4031C3}">
      <dgm:prSet/>
      <dgm:spPr/>
      <dgm:t>
        <a:bodyPr/>
        <a:lstStyle/>
        <a:p>
          <a:endParaRPr lang="en-US" sz="4000"/>
        </a:p>
      </dgm:t>
    </dgm:pt>
    <dgm:pt modelId="{7894F13E-9FCD-4C82-BA3B-BE1B674C8E0E}" type="sibTrans" cxnId="{0110540C-EA5B-4783-BA6D-AE6EEC4031C3}">
      <dgm:prSet/>
      <dgm:spPr/>
      <dgm:t>
        <a:bodyPr/>
        <a:lstStyle/>
        <a:p>
          <a:endParaRPr lang="en-US" sz="4000"/>
        </a:p>
      </dgm:t>
    </dgm:pt>
    <dgm:pt modelId="{BA53A99C-8006-47F8-AAA7-46F72A66B11E}">
      <dgm:prSet custT="1"/>
      <dgm:spPr/>
      <dgm:t>
        <a:bodyPr/>
        <a:lstStyle/>
        <a:p>
          <a:r>
            <a:rPr lang="en-US" sz="1800" dirty="0"/>
            <a:t>Typically named </a:t>
          </a:r>
          <a:r>
            <a:rPr lang="en-US" sz="1800" dirty="0" err="1"/>
            <a:t>HsdR</a:t>
          </a:r>
          <a:r>
            <a:rPr lang="en-US" sz="1800" dirty="0"/>
            <a:t>, </a:t>
          </a:r>
          <a:r>
            <a:rPr lang="en-US" sz="1800" dirty="0" err="1"/>
            <a:t>HsdM</a:t>
          </a:r>
          <a:r>
            <a:rPr lang="en-US" sz="1800" dirty="0"/>
            <a:t>, and </a:t>
          </a:r>
          <a:r>
            <a:rPr lang="en-US" sz="1800" dirty="0" err="1"/>
            <a:t>HsdS</a:t>
          </a:r>
          <a:endParaRPr lang="en-US" sz="1800" dirty="0"/>
        </a:p>
      </dgm:t>
    </dgm:pt>
    <dgm:pt modelId="{12947726-C613-408B-82C4-A76B333B043A}" type="parTrans" cxnId="{81410507-551F-45C0-A5A6-3D1CFBCA4CDE}">
      <dgm:prSet/>
      <dgm:spPr/>
      <dgm:t>
        <a:bodyPr/>
        <a:lstStyle/>
        <a:p>
          <a:endParaRPr lang="en-US" sz="4000"/>
        </a:p>
      </dgm:t>
    </dgm:pt>
    <dgm:pt modelId="{DE0D7D54-8779-4BCB-9D7F-73308DF69721}" type="sibTrans" cxnId="{81410507-551F-45C0-A5A6-3D1CFBCA4CDE}">
      <dgm:prSet/>
      <dgm:spPr/>
      <dgm:t>
        <a:bodyPr/>
        <a:lstStyle/>
        <a:p>
          <a:endParaRPr lang="en-US" sz="4000"/>
        </a:p>
      </dgm:t>
    </dgm:pt>
    <dgm:pt modelId="{D3A34E91-5C3F-4590-93F3-3B217DE08DE1}">
      <dgm:prSet custT="1"/>
      <dgm:spPr/>
      <dgm:t>
        <a:bodyPr/>
        <a:lstStyle/>
        <a:p>
          <a:r>
            <a:rPr lang="en-US" sz="1800" dirty="0"/>
            <a:t>Generally not sequence specific</a:t>
          </a:r>
        </a:p>
      </dgm:t>
    </dgm:pt>
    <dgm:pt modelId="{60FF7E1B-5A93-4219-AA77-AEDE05CE9933}" type="parTrans" cxnId="{B74672F7-518C-48C7-9005-92A61B70BEE8}">
      <dgm:prSet/>
      <dgm:spPr/>
      <dgm:t>
        <a:bodyPr/>
        <a:lstStyle/>
        <a:p>
          <a:endParaRPr lang="en-US" sz="4000"/>
        </a:p>
      </dgm:t>
    </dgm:pt>
    <dgm:pt modelId="{DB7D7789-C1D7-4540-AEA4-CA841553ACF8}" type="sibTrans" cxnId="{B74672F7-518C-48C7-9005-92A61B70BEE8}">
      <dgm:prSet/>
      <dgm:spPr/>
      <dgm:t>
        <a:bodyPr/>
        <a:lstStyle/>
        <a:p>
          <a:endParaRPr lang="en-US" sz="4000"/>
        </a:p>
      </dgm:t>
    </dgm:pt>
    <dgm:pt modelId="{2A86A668-55FB-4261-9877-067A905E21EC}">
      <dgm:prSet custT="1"/>
      <dgm:spPr/>
      <dgm:t>
        <a:bodyPr/>
        <a:lstStyle/>
        <a:p>
          <a:r>
            <a:rPr lang="en-US" sz="1800" dirty="0"/>
            <a:t>Not used in vitro</a:t>
          </a:r>
        </a:p>
      </dgm:t>
    </dgm:pt>
    <dgm:pt modelId="{96C10F33-05F8-452E-A7FD-6A4152631613}" type="parTrans" cxnId="{5E4CFB6C-7D1A-4D40-8893-9FA69F8D1543}">
      <dgm:prSet/>
      <dgm:spPr/>
      <dgm:t>
        <a:bodyPr/>
        <a:lstStyle/>
        <a:p>
          <a:endParaRPr lang="en-US" sz="4000"/>
        </a:p>
      </dgm:t>
    </dgm:pt>
    <dgm:pt modelId="{9D4CBCF3-C27D-4EE4-8E5A-69B4AF64EF3B}" type="sibTrans" cxnId="{5E4CFB6C-7D1A-4D40-8893-9FA69F8D1543}">
      <dgm:prSet/>
      <dgm:spPr/>
      <dgm:t>
        <a:bodyPr/>
        <a:lstStyle/>
        <a:p>
          <a:endParaRPr lang="en-US" sz="4000"/>
        </a:p>
      </dgm:t>
    </dgm:pt>
    <dgm:pt modelId="{7EA3C62C-2754-43F5-A697-66222D094341}">
      <dgm:prSet custT="1"/>
      <dgm:spPr/>
      <dgm:t>
        <a:bodyPr/>
        <a:lstStyle/>
        <a:p>
          <a:r>
            <a:rPr lang="en-US" sz="1800" dirty="0"/>
            <a:t>Usually knocked out</a:t>
          </a:r>
        </a:p>
      </dgm:t>
    </dgm:pt>
    <dgm:pt modelId="{8FF9E6F3-C60D-481C-BF8F-4EE3057FFA95}" type="parTrans" cxnId="{A57DB90A-42B9-44E3-91C5-E28EA0E8A46A}">
      <dgm:prSet/>
      <dgm:spPr/>
      <dgm:t>
        <a:bodyPr/>
        <a:lstStyle/>
        <a:p>
          <a:endParaRPr lang="en-US" sz="4000"/>
        </a:p>
      </dgm:t>
    </dgm:pt>
    <dgm:pt modelId="{E788716E-F6E6-4155-B3E2-03B0F6D3DCCC}" type="sibTrans" cxnId="{A57DB90A-42B9-44E3-91C5-E28EA0E8A46A}">
      <dgm:prSet/>
      <dgm:spPr/>
      <dgm:t>
        <a:bodyPr/>
        <a:lstStyle/>
        <a:p>
          <a:endParaRPr lang="en-US" sz="4000"/>
        </a:p>
      </dgm:t>
    </dgm:pt>
    <dgm:pt modelId="{93C3AFB6-49A9-4564-AA70-D08FE68C1CF9}">
      <dgm:prSet custT="1"/>
      <dgm:spPr/>
      <dgm:t>
        <a:bodyPr/>
        <a:lstStyle/>
        <a:p>
          <a:r>
            <a:rPr lang="en-US" sz="1800" dirty="0"/>
            <a:t>Type II</a:t>
          </a:r>
        </a:p>
      </dgm:t>
    </dgm:pt>
    <dgm:pt modelId="{CA9098CA-C16A-4698-AE81-32B1F3C8DF42}" type="parTrans" cxnId="{9008CFBE-8423-43F3-8871-4E3753B75A61}">
      <dgm:prSet/>
      <dgm:spPr/>
      <dgm:t>
        <a:bodyPr/>
        <a:lstStyle/>
        <a:p>
          <a:endParaRPr lang="en-US" sz="4000"/>
        </a:p>
      </dgm:t>
    </dgm:pt>
    <dgm:pt modelId="{8551C577-7A40-424C-8FCA-65744492398C}" type="sibTrans" cxnId="{9008CFBE-8423-43F3-8871-4E3753B75A61}">
      <dgm:prSet/>
      <dgm:spPr/>
      <dgm:t>
        <a:bodyPr/>
        <a:lstStyle/>
        <a:p>
          <a:endParaRPr lang="en-US" sz="4000"/>
        </a:p>
      </dgm:t>
    </dgm:pt>
    <dgm:pt modelId="{55772A9B-25D0-446E-87FB-E972F69D2B23}">
      <dgm:prSet custT="1"/>
      <dgm:spPr/>
      <dgm:t>
        <a:bodyPr/>
        <a:lstStyle/>
        <a:p>
          <a:r>
            <a:rPr lang="en-US" sz="1800" dirty="0"/>
            <a:t>We’ll go through these in detail</a:t>
          </a:r>
        </a:p>
      </dgm:t>
    </dgm:pt>
    <dgm:pt modelId="{C17DD7E9-A912-404A-A96C-11A2FC55EBA5}" type="parTrans" cxnId="{C7257FFE-E2CD-4761-ADEF-36906BACA0E8}">
      <dgm:prSet/>
      <dgm:spPr/>
      <dgm:t>
        <a:bodyPr/>
        <a:lstStyle/>
        <a:p>
          <a:endParaRPr lang="en-US" sz="4000"/>
        </a:p>
      </dgm:t>
    </dgm:pt>
    <dgm:pt modelId="{69FCFFD7-47E2-4998-8948-A42092EE4D3E}" type="sibTrans" cxnId="{C7257FFE-E2CD-4761-ADEF-36906BACA0E8}">
      <dgm:prSet/>
      <dgm:spPr/>
      <dgm:t>
        <a:bodyPr/>
        <a:lstStyle/>
        <a:p>
          <a:endParaRPr lang="en-US" sz="4000"/>
        </a:p>
      </dgm:t>
    </dgm:pt>
    <dgm:pt modelId="{4C59F4D7-376D-4062-8862-6DC734D47D20}">
      <dgm:prSet custT="1"/>
      <dgm:spPr/>
      <dgm:t>
        <a:bodyPr/>
        <a:lstStyle/>
        <a:p>
          <a:r>
            <a:rPr lang="en-US" sz="1800" dirty="0"/>
            <a:t>Type III</a:t>
          </a:r>
        </a:p>
      </dgm:t>
    </dgm:pt>
    <dgm:pt modelId="{BF4B8B91-EDB6-4DD0-9118-166EF4333E26}" type="parTrans" cxnId="{B5EA5B34-0483-481F-8D62-AEF5C095936E}">
      <dgm:prSet/>
      <dgm:spPr/>
      <dgm:t>
        <a:bodyPr/>
        <a:lstStyle/>
        <a:p>
          <a:endParaRPr lang="en-US" sz="4000"/>
        </a:p>
      </dgm:t>
    </dgm:pt>
    <dgm:pt modelId="{BCD0A556-F9E0-4B04-889F-43BA57B37696}" type="sibTrans" cxnId="{B5EA5B34-0483-481F-8D62-AEF5C095936E}">
      <dgm:prSet/>
      <dgm:spPr/>
      <dgm:t>
        <a:bodyPr/>
        <a:lstStyle/>
        <a:p>
          <a:endParaRPr lang="en-US" sz="4000"/>
        </a:p>
      </dgm:t>
    </dgm:pt>
    <dgm:pt modelId="{FAB30299-95B2-4340-AB9A-02310F00855E}">
      <dgm:prSet custT="1"/>
      <dgm:spPr/>
      <dgm:t>
        <a:bodyPr/>
        <a:lstStyle/>
        <a:p>
          <a:r>
            <a:rPr lang="en-US" sz="1800" dirty="0"/>
            <a:t>Sequence-specific, but not in common use</a:t>
          </a:r>
        </a:p>
      </dgm:t>
    </dgm:pt>
    <dgm:pt modelId="{8ADEAE99-304B-4749-AE94-5DE44CCCA8DE}" type="parTrans" cxnId="{5BDD0B5F-CD56-458F-A051-2C547B8DD413}">
      <dgm:prSet/>
      <dgm:spPr/>
      <dgm:t>
        <a:bodyPr/>
        <a:lstStyle/>
        <a:p>
          <a:endParaRPr lang="en-US" sz="4000"/>
        </a:p>
      </dgm:t>
    </dgm:pt>
    <dgm:pt modelId="{ABB76F0D-F23C-4481-96D0-0D9E823B4018}" type="sibTrans" cxnId="{5BDD0B5F-CD56-458F-A051-2C547B8DD413}">
      <dgm:prSet/>
      <dgm:spPr/>
      <dgm:t>
        <a:bodyPr/>
        <a:lstStyle/>
        <a:p>
          <a:endParaRPr lang="en-US" sz="4000"/>
        </a:p>
      </dgm:t>
    </dgm:pt>
    <dgm:pt modelId="{A09C38E0-9193-4488-8147-61C67743EB8C}">
      <dgm:prSet custT="1"/>
      <dgm:spPr/>
      <dgm:t>
        <a:bodyPr/>
        <a:lstStyle/>
        <a:p>
          <a:r>
            <a:rPr lang="en-US" sz="1800" dirty="0"/>
            <a:t>Type IV</a:t>
          </a:r>
        </a:p>
      </dgm:t>
    </dgm:pt>
    <dgm:pt modelId="{990F73A9-594D-4198-AD74-D606F2598082}" type="parTrans" cxnId="{5FF1BF8F-198A-424B-A4DA-D9886F7003FC}">
      <dgm:prSet/>
      <dgm:spPr/>
      <dgm:t>
        <a:bodyPr/>
        <a:lstStyle/>
        <a:p>
          <a:endParaRPr lang="en-US" sz="4000"/>
        </a:p>
      </dgm:t>
    </dgm:pt>
    <dgm:pt modelId="{F981760D-4939-4577-9634-8DF2E097864D}" type="sibTrans" cxnId="{5FF1BF8F-198A-424B-A4DA-D9886F7003FC}">
      <dgm:prSet/>
      <dgm:spPr/>
      <dgm:t>
        <a:bodyPr/>
        <a:lstStyle/>
        <a:p>
          <a:endParaRPr lang="en-US" sz="4000"/>
        </a:p>
      </dgm:t>
    </dgm:pt>
    <dgm:pt modelId="{77B4DD04-11F7-4CE7-B706-6C26B1077241}">
      <dgm:prSet custT="1"/>
      <dgm:spPr/>
      <dgm:t>
        <a:bodyPr/>
        <a:lstStyle/>
        <a:p>
          <a:r>
            <a:rPr lang="en-US" sz="1800" dirty="0"/>
            <a:t>Cleave modified (</a:t>
          </a:r>
          <a:r>
            <a:rPr lang="en-US" sz="1800" dirty="0" err="1"/>
            <a:t>methylated</a:t>
          </a:r>
          <a:r>
            <a:rPr lang="en-US" sz="1800" dirty="0"/>
            <a:t>, etc.) DNA</a:t>
          </a:r>
        </a:p>
      </dgm:t>
    </dgm:pt>
    <dgm:pt modelId="{678F3F10-4BB5-4D7D-B9ED-C089515A7BAF}" type="parTrans" cxnId="{FE75CF53-1028-4B3C-AA5A-FB9392275E15}">
      <dgm:prSet/>
      <dgm:spPr/>
      <dgm:t>
        <a:bodyPr/>
        <a:lstStyle/>
        <a:p>
          <a:endParaRPr lang="en-US" sz="4000"/>
        </a:p>
      </dgm:t>
    </dgm:pt>
    <dgm:pt modelId="{6DB85613-7F8F-45BD-A80F-3CE7F44AEB03}" type="sibTrans" cxnId="{FE75CF53-1028-4B3C-AA5A-FB9392275E15}">
      <dgm:prSet/>
      <dgm:spPr/>
      <dgm:t>
        <a:bodyPr/>
        <a:lstStyle/>
        <a:p>
          <a:endParaRPr lang="en-US" sz="4000"/>
        </a:p>
      </dgm:t>
    </dgm:pt>
    <dgm:pt modelId="{FEC5250F-BE44-4A57-92B3-3995970058BB}">
      <dgm:prSet custT="1"/>
      <dgm:spPr/>
      <dgm:t>
        <a:bodyPr/>
        <a:lstStyle/>
        <a:p>
          <a:r>
            <a:rPr lang="en-US" sz="1800" dirty="0" err="1"/>
            <a:t>McrA</a:t>
          </a:r>
          <a:r>
            <a:rPr lang="en-US" sz="1800" dirty="0"/>
            <a:t>, </a:t>
          </a:r>
          <a:r>
            <a:rPr lang="en-US" sz="1800" dirty="0" err="1"/>
            <a:t>McrBC</a:t>
          </a:r>
          <a:r>
            <a:rPr lang="en-US" sz="1800" dirty="0"/>
            <a:t> and </a:t>
          </a:r>
          <a:r>
            <a:rPr lang="en-US" sz="1800" dirty="0" err="1"/>
            <a:t>Mrr</a:t>
          </a:r>
          <a:r>
            <a:rPr lang="en-US" sz="1800" dirty="0"/>
            <a:t>, usually knocked out</a:t>
          </a:r>
        </a:p>
      </dgm:t>
    </dgm:pt>
    <dgm:pt modelId="{78E7EF1D-61DA-4512-A4AB-027B71B28BE1}" type="parTrans" cxnId="{602D20F6-1D25-4F01-8223-37CC4182A569}">
      <dgm:prSet/>
      <dgm:spPr/>
      <dgm:t>
        <a:bodyPr/>
        <a:lstStyle/>
        <a:p>
          <a:endParaRPr lang="en-US"/>
        </a:p>
      </dgm:t>
    </dgm:pt>
    <dgm:pt modelId="{59C3ED4D-40BC-4108-83F0-EC0DD71868AF}" type="sibTrans" cxnId="{602D20F6-1D25-4F01-8223-37CC4182A569}">
      <dgm:prSet/>
      <dgm:spPr/>
      <dgm:t>
        <a:bodyPr/>
        <a:lstStyle/>
        <a:p>
          <a:endParaRPr lang="en-US"/>
        </a:p>
      </dgm:t>
    </dgm:pt>
    <dgm:pt modelId="{3D895257-9FF9-41A8-8847-6FA392268BF1}">
      <dgm:prSet custT="1"/>
      <dgm:spPr/>
      <dgm:t>
        <a:bodyPr/>
        <a:lstStyle/>
        <a:p>
          <a:r>
            <a:rPr lang="en-US" sz="1800" dirty="0"/>
            <a:t>Cleave at specific DNA sequences</a:t>
          </a:r>
        </a:p>
      </dgm:t>
    </dgm:pt>
    <dgm:pt modelId="{8CAA0001-7575-4C74-87BD-0AAFB8628EC1}" type="parTrans" cxnId="{D0DE8CD3-03D0-4A90-A28A-864A9615B8D7}">
      <dgm:prSet/>
      <dgm:spPr/>
    </dgm:pt>
    <dgm:pt modelId="{98326BB6-1B90-47A4-ABB4-031881507267}" type="sibTrans" cxnId="{D0DE8CD3-03D0-4A90-A28A-864A9615B8D7}">
      <dgm:prSet/>
      <dgm:spPr/>
    </dgm:pt>
    <dgm:pt modelId="{6A63A048-63E5-464C-8E7B-30A351DBB8E6}" type="pres">
      <dgm:prSet presAssocID="{7AB30533-3C7D-4748-8D9F-173FE80F9998}" presName="linear" presStyleCnt="0">
        <dgm:presLayoutVars>
          <dgm:dir/>
          <dgm:animLvl val="lvl"/>
          <dgm:resizeHandles val="exact"/>
        </dgm:presLayoutVars>
      </dgm:prSet>
      <dgm:spPr/>
    </dgm:pt>
    <dgm:pt modelId="{5D834D29-A4A5-43D7-ACD1-8A8D86F4287B}" type="pres">
      <dgm:prSet presAssocID="{7338A351-633C-4F66-9FF2-349AC855AEB4}" presName="parentLin" presStyleCnt="0"/>
      <dgm:spPr/>
    </dgm:pt>
    <dgm:pt modelId="{99EB6B71-44F2-4238-BE4D-9A56C1DEDDDE}" type="pres">
      <dgm:prSet presAssocID="{7338A351-633C-4F66-9FF2-349AC855AEB4}" presName="parentLeftMargin" presStyleLbl="node1" presStyleIdx="0" presStyleCnt="4"/>
      <dgm:spPr/>
    </dgm:pt>
    <dgm:pt modelId="{716C2A70-531E-4585-B019-79012931A60B}" type="pres">
      <dgm:prSet presAssocID="{7338A351-633C-4F66-9FF2-349AC855AEB4}" presName="parentText" presStyleLbl="node1" presStyleIdx="0" presStyleCnt="4">
        <dgm:presLayoutVars>
          <dgm:chMax val="0"/>
          <dgm:bulletEnabled val="1"/>
        </dgm:presLayoutVars>
      </dgm:prSet>
      <dgm:spPr/>
    </dgm:pt>
    <dgm:pt modelId="{7943B041-FF6D-4303-A9CC-5112D2837684}" type="pres">
      <dgm:prSet presAssocID="{7338A351-633C-4F66-9FF2-349AC855AEB4}" presName="negativeSpace" presStyleCnt="0"/>
      <dgm:spPr/>
    </dgm:pt>
    <dgm:pt modelId="{77F1EFBC-C22E-4D5D-8261-FE4CC0518EA4}" type="pres">
      <dgm:prSet presAssocID="{7338A351-633C-4F66-9FF2-349AC855AEB4}" presName="childText" presStyleLbl="conFgAcc1" presStyleIdx="0" presStyleCnt="4">
        <dgm:presLayoutVars>
          <dgm:bulletEnabled val="1"/>
        </dgm:presLayoutVars>
      </dgm:prSet>
      <dgm:spPr/>
    </dgm:pt>
    <dgm:pt modelId="{B84ABC31-82D4-4B08-B436-FAE68CF0D831}" type="pres">
      <dgm:prSet presAssocID="{63A9FE03-C6AD-4E34-BB02-54E87EE8433F}" presName="spaceBetweenRectangles" presStyleCnt="0"/>
      <dgm:spPr/>
    </dgm:pt>
    <dgm:pt modelId="{CD456952-00A1-460C-96AD-72513F1936B9}" type="pres">
      <dgm:prSet presAssocID="{93C3AFB6-49A9-4564-AA70-D08FE68C1CF9}" presName="parentLin" presStyleCnt="0"/>
      <dgm:spPr/>
    </dgm:pt>
    <dgm:pt modelId="{107B93CE-7BCE-426E-B830-3463A5DCA85C}" type="pres">
      <dgm:prSet presAssocID="{93C3AFB6-49A9-4564-AA70-D08FE68C1CF9}" presName="parentLeftMargin" presStyleLbl="node1" presStyleIdx="0" presStyleCnt="4"/>
      <dgm:spPr/>
    </dgm:pt>
    <dgm:pt modelId="{D967E2D1-43D6-4499-ADD6-6E45DFA129AC}" type="pres">
      <dgm:prSet presAssocID="{93C3AFB6-49A9-4564-AA70-D08FE68C1CF9}" presName="parentText" presStyleLbl="node1" presStyleIdx="1" presStyleCnt="4">
        <dgm:presLayoutVars>
          <dgm:chMax val="0"/>
          <dgm:bulletEnabled val="1"/>
        </dgm:presLayoutVars>
      </dgm:prSet>
      <dgm:spPr/>
    </dgm:pt>
    <dgm:pt modelId="{6D565C4B-9066-40B6-B2FE-3767FA186727}" type="pres">
      <dgm:prSet presAssocID="{93C3AFB6-49A9-4564-AA70-D08FE68C1CF9}" presName="negativeSpace" presStyleCnt="0"/>
      <dgm:spPr/>
    </dgm:pt>
    <dgm:pt modelId="{766F42E4-5029-448B-8723-417371CE0B17}" type="pres">
      <dgm:prSet presAssocID="{93C3AFB6-49A9-4564-AA70-D08FE68C1CF9}" presName="childText" presStyleLbl="conFgAcc1" presStyleIdx="1" presStyleCnt="4">
        <dgm:presLayoutVars>
          <dgm:bulletEnabled val="1"/>
        </dgm:presLayoutVars>
      </dgm:prSet>
      <dgm:spPr/>
    </dgm:pt>
    <dgm:pt modelId="{39591048-F4D1-4287-A026-29519260F8CD}" type="pres">
      <dgm:prSet presAssocID="{8551C577-7A40-424C-8FCA-65744492398C}" presName="spaceBetweenRectangles" presStyleCnt="0"/>
      <dgm:spPr/>
    </dgm:pt>
    <dgm:pt modelId="{97B24719-9C42-411C-BDA4-227284CB566B}" type="pres">
      <dgm:prSet presAssocID="{4C59F4D7-376D-4062-8862-6DC734D47D20}" presName="parentLin" presStyleCnt="0"/>
      <dgm:spPr/>
    </dgm:pt>
    <dgm:pt modelId="{35378814-A2E8-40E1-AD54-5CCC00666339}" type="pres">
      <dgm:prSet presAssocID="{4C59F4D7-376D-4062-8862-6DC734D47D20}" presName="parentLeftMargin" presStyleLbl="node1" presStyleIdx="1" presStyleCnt="4"/>
      <dgm:spPr/>
    </dgm:pt>
    <dgm:pt modelId="{9C369214-7A6F-4277-B303-E695E9ACFC1F}" type="pres">
      <dgm:prSet presAssocID="{4C59F4D7-376D-4062-8862-6DC734D47D20}" presName="parentText" presStyleLbl="node1" presStyleIdx="2" presStyleCnt="4">
        <dgm:presLayoutVars>
          <dgm:chMax val="0"/>
          <dgm:bulletEnabled val="1"/>
        </dgm:presLayoutVars>
      </dgm:prSet>
      <dgm:spPr/>
    </dgm:pt>
    <dgm:pt modelId="{EEF314CD-2299-42AF-AC4B-9FF590F07DDC}" type="pres">
      <dgm:prSet presAssocID="{4C59F4D7-376D-4062-8862-6DC734D47D20}" presName="negativeSpace" presStyleCnt="0"/>
      <dgm:spPr/>
    </dgm:pt>
    <dgm:pt modelId="{93A25796-833B-4B27-9F27-37188C4F03DE}" type="pres">
      <dgm:prSet presAssocID="{4C59F4D7-376D-4062-8862-6DC734D47D20}" presName="childText" presStyleLbl="conFgAcc1" presStyleIdx="2" presStyleCnt="4">
        <dgm:presLayoutVars>
          <dgm:bulletEnabled val="1"/>
        </dgm:presLayoutVars>
      </dgm:prSet>
      <dgm:spPr/>
    </dgm:pt>
    <dgm:pt modelId="{250A793E-F406-47BE-874F-880837D86526}" type="pres">
      <dgm:prSet presAssocID="{BCD0A556-F9E0-4B04-889F-43BA57B37696}" presName="spaceBetweenRectangles" presStyleCnt="0"/>
      <dgm:spPr/>
    </dgm:pt>
    <dgm:pt modelId="{3E4660C9-8097-4FBF-A969-86D8E7BD95D3}" type="pres">
      <dgm:prSet presAssocID="{A09C38E0-9193-4488-8147-61C67743EB8C}" presName="parentLin" presStyleCnt="0"/>
      <dgm:spPr/>
    </dgm:pt>
    <dgm:pt modelId="{9ABE0F11-22EE-4028-812F-FAA59BED1110}" type="pres">
      <dgm:prSet presAssocID="{A09C38E0-9193-4488-8147-61C67743EB8C}" presName="parentLeftMargin" presStyleLbl="node1" presStyleIdx="2" presStyleCnt="4"/>
      <dgm:spPr/>
    </dgm:pt>
    <dgm:pt modelId="{E887998A-8EFB-43F8-A3AE-5F6EE9119DEC}" type="pres">
      <dgm:prSet presAssocID="{A09C38E0-9193-4488-8147-61C67743EB8C}" presName="parentText" presStyleLbl="node1" presStyleIdx="3" presStyleCnt="4">
        <dgm:presLayoutVars>
          <dgm:chMax val="0"/>
          <dgm:bulletEnabled val="1"/>
        </dgm:presLayoutVars>
      </dgm:prSet>
      <dgm:spPr/>
    </dgm:pt>
    <dgm:pt modelId="{05E3E4A5-D676-4E85-BC99-E57763E03321}" type="pres">
      <dgm:prSet presAssocID="{A09C38E0-9193-4488-8147-61C67743EB8C}" presName="negativeSpace" presStyleCnt="0"/>
      <dgm:spPr/>
    </dgm:pt>
    <dgm:pt modelId="{2DA49B06-80E0-4BFD-BE5D-9A92784C7F1C}" type="pres">
      <dgm:prSet presAssocID="{A09C38E0-9193-4488-8147-61C67743EB8C}" presName="childText" presStyleLbl="conFgAcc1" presStyleIdx="3" presStyleCnt="4">
        <dgm:presLayoutVars>
          <dgm:bulletEnabled val="1"/>
        </dgm:presLayoutVars>
      </dgm:prSet>
      <dgm:spPr/>
    </dgm:pt>
  </dgm:ptLst>
  <dgm:cxnLst>
    <dgm:cxn modelId="{A9A14404-52A2-4C3B-8B54-7C6732D9C527}" type="presOf" srcId="{93C3AFB6-49A9-4564-AA70-D08FE68C1CF9}" destId="{107B93CE-7BCE-426E-B830-3463A5DCA85C}" srcOrd="0" destOrd="0" presId="urn:microsoft.com/office/officeart/2005/8/layout/list1"/>
    <dgm:cxn modelId="{81410507-551F-45C0-A5A6-3D1CFBCA4CDE}" srcId="{7338A351-633C-4F66-9FF2-349AC855AEB4}" destId="{BA53A99C-8006-47F8-AAA7-46F72A66B11E}" srcOrd="1" destOrd="0" parTransId="{12947726-C613-408B-82C4-A76B333B043A}" sibTransId="{DE0D7D54-8779-4BCB-9D7F-73308DF69721}"/>
    <dgm:cxn modelId="{A57DB90A-42B9-44E3-91C5-E28EA0E8A46A}" srcId="{7338A351-633C-4F66-9FF2-349AC855AEB4}" destId="{7EA3C62C-2754-43F5-A697-66222D094341}" srcOrd="4" destOrd="0" parTransId="{8FF9E6F3-C60D-481C-BF8F-4EE3057FFA95}" sibTransId="{E788716E-F6E6-4155-B3E2-03B0F6D3DCCC}"/>
    <dgm:cxn modelId="{0110540C-EA5B-4783-BA6D-AE6EEC4031C3}" srcId="{7338A351-633C-4F66-9FF2-349AC855AEB4}" destId="{E08B4D6F-F32C-4D95-B062-D674173EFD73}" srcOrd="0" destOrd="0" parTransId="{0D2F8983-8077-4126-9ADC-99B9464E70AD}" sibTransId="{7894F13E-9FCD-4C82-BA3B-BE1B674C8E0E}"/>
    <dgm:cxn modelId="{5D3BA411-DCDA-4A94-81F6-D9D2DCF56C54}" type="presOf" srcId="{E08B4D6F-F32C-4D95-B062-D674173EFD73}" destId="{77F1EFBC-C22E-4D5D-8261-FE4CC0518EA4}" srcOrd="0" destOrd="0" presId="urn:microsoft.com/office/officeart/2005/8/layout/list1"/>
    <dgm:cxn modelId="{7A722713-E797-4F83-A233-DC901CDB9808}" type="presOf" srcId="{7338A351-633C-4F66-9FF2-349AC855AEB4}" destId="{99EB6B71-44F2-4238-BE4D-9A56C1DEDDDE}" srcOrd="0" destOrd="0" presId="urn:microsoft.com/office/officeart/2005/8/layout/list1"/>
    <dgm:cxn modelId="{2966A213-29CB-4463-A7DE-5932BE24055A}" type="presOf" srcId="{7AB30533-3C7D-4748-8D9F-173FE80F9998}" destId="{6A63A048-63E5-464C-8E7B-30A351DBB8E6}" srcOrd="0" destOrd="0" presId="urn:microsoft.com/office/officeart/2005/8/layout/list1"/>
    <dgm:cxn modelId="{B71A0C24-CBED-4366-AAFC-C272D59CDC0E}" type="presOf" srcId="{4C59F4D7-376D-4062-8862-6DC734D47D20}" destId="{35378814-A2E8-40E1-AD54-5CCC00666339}" srcOrd="0" destOrd="0" presId="urn:microsoft.com/office/officeart/2005/8/layout/list1"/>
    <dgm:cxn modelId="{AF614A2F-DDD8-42F7-825D-6A48EF7E9401}" type="presOf" srcId="{FAB30299-95B2-4340-AB9A-02310F00855E}" destId="{93A25796-833B-4B27-9F27-37188C4F03DE}" srcOrd="0" destOrd="0" presId="urn:microsoft.com/office/officeart/2005/8/layout/list1"/>
    <dgm:cxn modelId="{B5EA5B34-0483-481F-8D62-AEF5C095936E}" srcId="{7AB30533-3C7D-4748-8D9F-173FE80F9998}" destId="{4C59F4D7-376D-4062-8862-6DC734D47D20}" srcOrd="2" destOrd="0" parTransId="{BF4B8B91-EDB6-4DD0-9118-166EF4333E26}" sibTransId="{BCD0A556-F9E0-4B04-889F-43BA57B37696}"/>
    <dgm:cxn modelId="{D8C66334-942A-4375-810C-63F4AA908089}" srcId="{7AB30533-3C7D-4748-8D9F-173FE80F9998}" destId="{7338A351-633C-4F66-9FF2-349AC855AEB4}" srcOrd="0" destOrd="0" parTransId="{BEF77F20-E9D3-4046-87A7-2AA828BA137A}" sibTransId="{63A9FE03-C6AD-4E34-BB02-54E87EE8433F}"/>
    <dgm:cxn modelId="{836A383A-8FE4-4C99-AA9D-6C5E62280F2A}" type="presOf" srcId="{93C3AFB6-49A9-4564-AA70-D08FE68C1CF9}" destId="{D967E2D1-43D6-4499-ADD6-6E45DFA129AC}" srcOrd="1" destOrd="0" presId="urn:microsoft.com/office/officeart/2005/8/layout/list1"/>
    <dgm:cxn modelId="{783C2641-65B6-4E38-A3AE-4FBF33120B0B}" type="presOf" srcId="{7EA3C62C-2754-43F5-A697-66222D094341}" destId="{77F1EFBC-C22E-4D5D-8261-FE4CC0518EA4}" srcOrd="0" destOrd="4" presId="urn:microsoft.com/office/officeart/2005/8/layout/list1"/>
    <dgm:cxn modelId="{4566944C-0905-4B3B-A50D-271E3D942D2C}" type="presOf" srcId="{A09C38E0-9193-4488-8147-61C67743EB8C}" destId="{E887998A-8EFB-43F8-A3AE-5F6EE9119DEC}" srcOrd="1" destOrd="0" presId="urn:microsoft.com/office/officeart/2005/8/layout/list1"/>
    <dgm:cxn modelId="{CDE59251-B912-4123-9F52-2041AB2BF35D}" type="presOf" srcId="{FEC5250F-BE44-4A57-92B3-3995970058BB}" destId="{2DA49B06-80E0-4BFD-BE5D-9A92784C7F1C}" srcOrd="0" destOrd="1" presId="urn:microsoft.com/office/officeart/2005/8/layout/list1"/>
    <dgm:cxn modelId="{FE75CF53-1028-4B3C-AA5A-FB9392275E15}" srcId="{A09C38E0-9193-4488-8147-61C67743EB8C}" destId="{77B4DD04-11F7-4CE7-B706-6C26B1077241}" srcOrd="0" destOrd="0" parTransId="{678F3F10-4BB5-4D7D-B9ED-C089515A7BAF}" sibTransId="{6DB85613-7F8F-45BD-A80F-3CE7F44AEB03}"/>
    <dgm:cxn modelId="{5BDD0B5F-CD56-458F-A051-2C547B8DD413}" srcId="{4C59F4D7-376D-4062-8862-6DC734D47D20}" destId="{FAB30299-95B2-4340-AB9A-02310F00855E}" srcOrd="0" destOrd="0" parTransId="{8ADEAE99-304B-4749-AE94-5DE44CCCA8DE}" sibTransId="{ABB76F0D-F23C-4481-96D0-0D9E823B4018}"/>
    <dgm:cxn modelId="{DF2AAE67-60A7-403E-8668-616D9B9A5FAA}" type="presOf" srcId="{55772A9B-25D0-446E-87FB-E972F69D2B23}" destId="{766F42E4-5029-448B-8723-417371CE0B17}" srcOrd="0" destOrd="1" presId="urn:microsoft.com/office/officeart/2005/8/layout/list1"/>
    <dgm:cxn modelId="{5E4CFB6C-7D1A-4D40-8893-9FA69F8D1543}" srcId="{7338A351-633C-4F66-9FF2-349AC855AEB4}" destId="{2A86A668-55FB-4261-9877-067A905E21EC}" srcOrd="3" destOrd="0" parTransId="{96C10F33-05F8-452E-A7FD-6A4152631613}" sibTransId="{9D4CBCF3-C27D-4EE4-8E5A-69B4AF64EF3B}"/>
    <dgm:cxn modelId="{FCBB9A73-E43B-47EA-8C3F-C15BA5B7A5A3}" type="presOf" srcId="{D3A34E91-5C3F-4590-93F3-3B217DE08DE1}" destId="{77F1EFBC-C22E-4D5D-8261-FE4CC0518EA4}" srcOrd="0" destOrd="2" presId="urn:microsoft.com/office/officeart/2005/8/layout/list1"/>
    <dgm:cxn modelId="{2544657A-5ECA-44EF-974B-DC3EA1EC5437}" type="presOf" srcId="{BA53A99C-8006-47F8-AAA7-46F72A66B11E}" destId="{77F1EFBC-C22E-4D5D-8261-FE4CC0518EA4}" srcOrd="0" destOrd="1" presId="urn:microsoft.com/office/officeart/2005/8/layout/list1"/>
    <dgm:cxn modelId="{98C20E8A-387A-44E8-9B66-BBA661CD314B}" type="presOf" srcId="{77B4DD04-11F7-4CE7-B706-6C26B1077241}" destId="{2DA49B06-80E0-4BFD-BE5D-9A92784C7F1C}" srcOrd="0" destOrd="0" presId="urn:microsoft.com/office/officeart/2005/8/layout/list1"/>
    <dgm:cxn modelId="{5FF1BF8F-198A-424B-A4DA-D9886F7003FC}" srcId="{7AB30533-3C7D-4748-8D9F-173FE80F9998}" destId="{A09C38E0-9193-4488-8147-61C67743EB8C}" srcOrd="3" destOrd="0" parTransId="{990F73A9-594D-4198-AD74-D606F2598082}" sibTransId="{F981760D-4939-4577-9634-8DF2E097864D}"/>
    <dgm:cxn modelId="{3D0C6DB5-0F90-447B-88F3-059EAC148AD3}" type="presOf" srcId="{2A86A668-55FB-4261-9877-067A905E21EC}" destId="{77F1EFBC-C22E-4D5D-8261-FE4CC0518EA4}" srcOrd="0" destOrd="3" presId="urn:microsoft.com/office/officeart/2005/8/layout/list1"/>
    <dgm:cxn modelId="{9008CFBE-8423-43F3-8871-4E3753B75A61}" srcId="{7AB30533-3C7D-4748-8D9F-173FE80F9998}" destId="{93C3AFB6-49A9-4564-AA70-D08FE68C1CF9}" srcOrd="1" destOrd="0" parTransId="{CA9098CA-C16A-4698-AE81-32B1F3C8DF42}" sibTransId="{8551C577-7A40-424C-8FCA-65744492398C}"/>
    <dgm:cxn modelId="{D0DE8CD3-03D0-4A90-A28A-864A9615B8D7}" srcId="{93C3AFB6-49A9-4564-AA70-D08FE68C1CF9}" destId="{3D895257-9FF9-41A8-8847-6FA392268BF1}" srcOrd="0" destOrd="0" parTransId="{8CAA0001-7575-4C74-87BD-0AAFB8628EC1}" sibTransId="{98326BB6-1B90-47A4-ABB4-031881507267}"/>
    <dgm:cxn modelId="{9588E6D4-729F-4C94-8C52-B2D353B9EA7C}" type="presOf" srcId="{7338A351-633C-4F66-9FF2-349AC855AEB4}" destId="{716C2A70-531E-4585-B019-79012931A60B}" srcOrd="1" destOrd="0" presId="urn:microsoft.com/office/officeart/2005/8/layout/list1"/>
    <dgm:cxn modelId="{65846AD6-17F9-4683-8D5E-AA51827E17BB}" type="presOf" srcId="{3D895257-9FF9-41A8-8847-6FA392268BF1}" destId="{766F42E4-5029-448B-8723-417371CE0B17}" srcOrd="0" destOrd="0" presId="urn:microsoft.com/office/officeart/2005/8/layout/list1"/>
    <dgm:cxn modelId="{C533D3F0-7A77-4C06-B200-25F4F07D6D70}" type="presOf" srcId="{A09C38E0-9193-4488-8147-61C67743EB8C}" destId="{9ABE0F11-22EE-4028-812F-FAA59BED1110}" srcOrd="0" destOrd="0" presId="urn:microsoft.com/office/officeart/2005/8/layout/list1"/>
    <dgm:cxn modelId="{602D20F6-1D25-4F01-8223-37CC4182A569}" srcId="{A09C38E0-9193-4488-8147-61C67743EB8C}" destId="{FEC5250F-BE44-4A57-92B3-3995970058BB}" srcOrd="1" destOrd="0" parTransId="{78E7EF1D-61DA-4512-A4AB-027B71B28BE1}" sibTransId="{59C3ED4D-40BC-4108-83F0-EC0DD71868AF}"/>
    <dgm:cxn modelId="{B74672F7-518C-48C7-9005-92A61B70BEE8}" srcId="{7338A351-633C-4F66-9FF2-349AC855AEB4}" destId="{D3A34E91-5C3F-4590-93F3-3B217DE08DE1}" srcOrd="2" destOrd="0" parTransId="{60FF7E1B-5A93-4219-AA77-AEDE05CE9933}" sibTransId="{DB7D7789-C1D7-4540-AEA4-CA841553ACF8}"/>
    <dgm:cxn modelId="{C7257FFE-E2CD-4761-ADEF-36906BACA0E8}" srcId="{93C3AFB6-49A9-4564-AA70-D08FE68C1CF9}" destId="{55772A9B-25D0-446E-87FB-E972F69D2B23}" srcOrd="1" destOrd="0" parTransId="{C17DD7E9-A912-404A-A96C-11A2FC55EBA5}" sibTransId="{69FCFFD7-47E2-4998-8948-A42092EE4D3E}"/>
    <dgm:cxn modelId="{974B70FF-9918-43EC-817F-195E5310FD39}" type="presOf" srcId="{4C59F4D7-376D-4062-8862-6DC734D47D20}" destId="{9C369214-7A6F-4277-B303-E695E9ACFC1F}" srcOrd="1" destOrd="0" presId="urn:microsoft.com/office/officeart/2005/8/layout/list1"/>
    <dgm:cxn modelId="{2DAAD615-71A7-4581-9548-51D4408A8E6F}" type="presParOf" srcId="{6A63A048-63E5-464C-8E7B-30A351DBB8E6}" destId="{5D834D29-A4A5-43D7-ACD1-8A8D86F4287B}" srcOrd="0" destOrd="0" presId="urn:microsoft.com/office/officeart/2005/8/layout/list1"/>
    <dgm:cxn modelId="{379676CB-DC94-4489-BBA4-D61FA879E074}" type="presParOf" srcId="{5D834D29-A4A5-43D7-ACD1-8A8D86F4287B}" destId="{99EB6B71-44F2-4238-BE4D-9A56C1DEDDDE}" srcOrd="0" destOrd="0" presId="urn:microsoft.com/office/officeart/2005/8/layout/list1"/>
    <dgm:cxn modelId="{891BB42C-2EF0-4CD9-BA25-09BD386ABA5E}" type="presParOf" srcId="{5D834D29-A4A5-43D7-ACD1-8A8D86F4287B}" destId="{716C2A70-531E-4585-B019-79012931A60B}" srcOrd="1" destOrd="0" presId="urn:microsoft.com/office/officeart/2005/8/layout/list1"/>
    <dgm:cxn modelId="{C2A10414-DABD-4F55-8623-3AF407076CFE}" type="presParOf" srcId="{6A63A048-63E5-464C-8E7B-30A351DBB8E6}" destId="{7943B041-FF6D-4303-A9CC-5112D2837684}" srcOrd="1" destOrd="0" presId="urn:microsoft.com/office/officeart/2005/8/layout/list1"/>
    <dgm:cxn modelId="{63FD5FD6-2140-4B40-A906-A1E8FA52FA19}" type="presParOf" srcId="{6A63A048-63E5-464C-8E7B-30A351DBB8E6}" destId="{77F1EFBC-C22E-4D5D-8261-FE4CC0518EA4}" srcOrd="2" destOrd="0" presId="urn:microsoft.com/office/officeart/2005/8/layout/list1"/>
    <dgm:cxn modelId="{8F7355FA-2F35-45EF-992D-5DB7B89703B3}" type="presParOf" srcId="{6A63A048-63E5-464C-8E7B-30A351DBB8E6}" destId="{B84ABC31-82D4-4B08-B436-FAE68CF0D831}" srcOrd="3" destOrd="0" presId="urn:microsoft.com/office/officeart/2005/8/layout/list1"/>
    <dgm:cxn modelId="{7AC8640F-D9D6-4187-850A-F68DF0872ABC}" type="presParOf" srcId="{6A63A048-63E5-464C-8E7B-30A351DBB8E6}" destId="{CD456952-00A1-460C-96AD-72513F1936B9}" srcOrd="4" destOrd="0" presId="urn:microsoft.com/office/officeart/2005/8/layout/list1"/>
    <dgm:cxn modelId="{753A2383-149E-451B-B1C1-51D6D09BB3E6}" type="presParOf" srcId="{CD456952-00A1-460C-96AD-72513F1936B9}" destId="{107B93CE-7BCE-426E-B830-3463A5DCA85C}" srcOrd="0" destOrd="0" presId="urn:microsoft.com/office/officeart/2005/8/layout/list1"/>
    <dgm:cxn modelId="{DFDB27F4-E096-430B-99BF-605045E03DB9}" type="presParOf" srcId="{CD456952-00A1-460C-96AD-72513F1936B9}" destId="{D967E2D1-43D6-4499-ADD6-6E45DFA129AC}" srcOrd="1" destOrd="0" presId="urn:microsoft.com/office/officeart/2005/8/layout/list1"/>
    <dgm:cxn modelId="{AE2517D4-3937-42D3-8CF1-5653A0106368}" type="presParOf" srcId="{6A63A048-63E5-464C-8E7B-30A351DBB8E6}" destId="{6D565C4B-9066-40B6-B2FE-3767FA186727}" srcOrd="5" destOrd="0" presId="urn:microsoft.com/office/officeart/2005/8/layout/list1"/>
    <dgm:cxn modelId="{04B30C97-0C43-4B83-8ECD-9E3A1CEE2334}" type="presParOf" srcId="{6A63A048-63E5-464C-8E7B-30A351DBB8E6}" destId="{766F42E4-5029-448B-8723-417371CE0B17}" srcOrd="6" destOrd="0" presId="urn:microsoft.com/office/officeart/2005/8/layout/list1"/>
    <dgm:cxn modelId="{63BB2EE7-8317-4528-BDA0-DBF95B32D456}" type="presParOf" srcId="{6A63A048-63E5-464C-8E7B-30A351DBB8E6}" destId="{39591048-F4D1-4287-A026-29519260F8CD}" srcOrd="7" destOrd="0" presId="urn:microsoft.com/office/officeart/2005/8/layout/list1"/>
    <dgm:cxn modelId="{D70F865E-11F1-42CC-9E26-8F0780188F74}" type="presParOf" srcId="{6A63A048-63E5-464C-8E7B-30A351DBB8E6}" destId="{97B24719-9C42-411C-BDA4-227284CB566B}" srcOrd="8" destOrd="0" presId="urn:microsoft.com/office/officeart/2005/8/layout/list1"/>
    <dgm:cxn modelId="{6DFACCF4-1690-4023-B802-392C6B074F47}" type="presParOf" srcId="{97B24719-9C42-411C-BDA4-227284CB566B}" destId="{35378814-A2E8-40E1-AD54-5CCC00666339}" srcOrd="0" destOrd="0" presId="urn:microsoft.com/office/officeart/2005/8/layout/list1"/>
    <dgm:cxn modelId="{CC1DF4BB-8862-454E-B617-53E2307A411F}" type="presParOf" srcId="{97B24719-9C42-411C-BDA4-227284CB566B}" destId="{9C369214-7A6F-4277-B303-E695E9ACFC1F}" srcOrd="1" destOrd="0" presId="urn:microsoft.com/office/officeart/2005/8/layout/list1"/>
    <dgm:cxn modelId="{1C4718D5-6260-4F8B-BF51-86583222F2F9}" type="presParOf" srcId="{6A63A048-63E5-464C-8E7B-30A351DBB8E6}" destId="{EEF314CD-2299-42AF-AC4B-9FF590F07DDC}" srcOrd="9" destOrd="0" presId="urn:microsoft.com/office/officeart/2005/8/layout/list1"/>
    <dgm:cxn modelId="{13D7F315-0EBC-447E-B91C-9EA4FAA6FFB2}" type="presParOf" srcId="{6A63A048-63E5-464C-8E7B-30A351DBB8E6}" destId="{93A25796-833B-4B27-9F27-37188C4F03DE}" srcOrd="10" destOrd="0" presId="urn:microsoft.com/office/officeart/2005/8/layout/list1"/>
    <dgm:cxn modelId="{28A398F8-5D68-40A9-934C-3B9FF48DFD76}" type="presParOf" srcId="{6A63A048-63E5-464C-8E7B-30A351DBB8E6}" destId="{250A793E-F406-47BE-874F-880837D86526}" srcOrd="11" destOrd="0" presId="urn:microsoft.com/office/officeart/2005/8/layout/list1"/>
    <dgm:cxn modelId="{BE2CC268-FA5B-4624-8813-396B0B07287A}" type="presParOf" srcId="{6A63A048-63E5-464C-8E7B-30A351DBB8E6}" destId="{3E4660C9-8097-4FBF-A969-86D8E7BD95D3}" srcOrd="12" destOrd="0" presId="urn:microsoft.com/office/officeart/2005/8/layout/list1"/>
    <dgm:cxn modelId="{E5EA745A-EF8E-4791-B066-97966294C6CB}" type="presParOf" srcId="{3E4660C9-8097-4FBF-A969-86D8E7BD95D3}" destId="{9ABE0F11-22EE-4028-812F-FAA59BED1110}" srcOrd="0" destOrd="0" presId="urn:microsoft.com/office/officeart/2005/8/layout/list1"/>
    <dgm:cxn modelId="{365E6EA5-7DE9-4B4F-BBE1-6D8E43376A0D}" type="presParOf" srcId="{3E4660C9-8097-4FBF-A969-86D8E7BD95D3}" destId="{E887998A-8EFB-43F8-A3AE-5F6EE9119DEC}" srcOrd="1" destOrd="0" presId="urn:microsoft.com/office/officeart/2005/8/layout/list1"/>
    <dgm:cxn modelId="{9F69836D-0040-4A0D-BC35-6A7A8750565F}" type="presParOf" srcId="{6A63A048-63E5-464C-8E7B-30A351DBB8E6}" destId="{05E3E4A5-D676-4E85-BC99-E57763E03321}" srcOrd="13" destOrd="0" presId="urn:microsoft.com/office/officeart/2005/8/layout/list1"/>
    <dgm:cxn modelId="{44B6E399-F5D6-46AE-AE32-5FDBF7B8341F}" type="presParOf" srcId="{6A63A048-63E5-464C-8E7B-30A351DBB8E6}" destId="{2DA49B06-80E0-4BFD-BE5D-9A92784C7F1C}"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B30533-3C7D-4748-8D9F-173FE80F9998}"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US"/>
        </a:p>
      </dgm:t>
    </dgm:pt>
    <dgm:pt modelId="{7338A351-633C-4F66-9FF2-349AC855AEB4}">
      <dgm:prSet phldrT="[Text]" custT="1"/>
      <dgm:spPr/>
      <dgm:t>
        <a:bodyPr/>
        <a:lstStyle/>
        <a:p>
          <a:r>
            <a:rPr lang="en-US" sz="1800" dirty="0"/>
            <a:t>5’ 4bp Overhang</a:t>
          </a:r>
        </a:p>
      </dgm:t>
    </dgm:pt>
    <dgm:pt modelId="{BEF77F20-E9D3-4046-87A7-2AA828BA137A}" type="parTrans" cxnId="{D8C66334-942A-4375-810C-63F4AA908089}">
      <dgm:prSet/>
      <dgm:spPr/>
      <dgm:t>
        <a:bodyPr/>
        <a:lstStyle/>
        <a:p>
          <a:endParaRPr lang="en-US" sz="4000"/>
        </a:p>
      </dgm:t>
    </dgm:pt>
    <dgm:pt modelId="{63A9FE03-C6AD-4E34-BB02-54E87EE8433F}" type="sibTrans" cxnId="{D8C66334-942A-4375-810C-63F4AA908089}">
      <dgm:prSet/>
      <dgm:spPr/>
      <dgm:t>
        <a:bodyPr/>
        <a:lstStyle/>
        <a:p>
          <a:endParaRPr lang="en-US" sz="4000"/>
        </a:p>
      </dgm:t>
    </dgm:pt>
    <dgm:pt modelId="{1C60E2FD-9E49-461D-ADD3-5BD41C417905}">
      <dgm:prSet custT="1"/>
      <dgm:spPr/>
      <dgm:t>
        <a:bodyPr/>
        <a:lstStyle/>
        <a:p>
          <a:r>
            <a:rPr lang="en-US" sz="1800"/>
            <a:t>BamHI G/GATCC</a:t>
          </a:r>
        </a:p>
      </dgm:t>
    </dgm:pt>
    <dgm:pt modelId="{4AC85A01-556D-4A60-8ED0-2613CC6D4402}" type="parTrans" cxnId="{3DA1439F-C4A5-4AD7-905A-7B4910C32B9A}">
      <dgm:prSet/>
      <dgm:spPr/>
      <dgm:t>
        <a:bodyPr/>
        <a:lstStyle/>
        <a:p>
          <a:endParaRPr lang="en-US"/>
        </a:p>
      </dgm:t>
    </dgm:pt>
    <dgm:pt modelId="{4FFAC739-DB79-4E01-B29D-1FF78A266572}" type="sibTrans" cxnId="{3DA1439F-C4A5-4AD7-905A-7B4910C32B9A}">
      <dgm:prSet/>
      <dgm:spPr/>
      <dgm:t>
        <a:bodyPr/>
        <a:lstStyle/>
        <a:p>
          <a:endParaRPr lang="en-US"/>
        </a:p>
      </dgm:t>
    </dgm:pt>
    <dgm:pt modelId="{E69A92D0-8059-417C-B8EC-3B4670596911}">
      <dgm:prSet custT="1"/>
      <dgm:spPr/>
      <dgm:t>
        <a:bodyPr/>
        <a:lstStyle/>
        <a:p>
          <a:r>
            <a:rPr lang="en-US" sz="1800"/>
            <a:t>XbaI T/CTAGA</a:t>
          </a:r>
        </a:p>
      </dgm:t>
    </dgm:pt>
    <dgm:pt modelId="{9504D65A-8023-4C3F-B527-8911C0222F61}" type="parTrans" cxnId="{31C6ABC7-5E3F-4C02-AC05-77FB020BDFBE}">
      <dgm:prSet/>
      <dgm:spPr/>
      <dgm:t>
        <a:bodyPr/>
        <a:lstStyle/>
        <a:p>
          <a:endParaRPr lang="en-US"/>
        </a:p>
      </dgm:t>
    </dgm:pt>
    <dgm:pt modelId="{77814275-E792-470A-8C8B-5164178DB96E}" type="sibTrans" cxnId="{31C6ABC7-5E3F-4C02-AC05-77FB020BDFBE}">
      <dgm:prSet/>
      <dgm:spPr/>
      <dgm:t>
        <a:bodyPr/>
        <a:lstStyle/>
        <a:p>
          <a:endParaRPr lang="en-US"/>
        </a:p>
      </dgm:t>
    </dgm:pt>
    <dgm:pt modelId="{8DB94909-15B5-48D0-8811-1D552BD53E1F}">
      <dgm:prSet custT="1"/>
      <dgm:spPr/>
      <dgm:t>
        <a:bodyPr/>
        <a:lstStyle/>
        <a:p>
          <a:r>
            <a:rPr lang="en-US" sz="1800" dirty="0" err="1"/>
            <a:t>EcoRI</a:t>
          </a:r>
          <a:r>
            <a:rPr lang="en-US" sz="1800" dirty="0"/>
            <a:t> G/AATTC</a:t>
          </a:r>
        </a:p>
      </dgm:t>
    </dgm:pt>
    <dgm:pt modelId="{AFF14B85-F5B5-4165-B334-A0A1473DB15C}" type="parTrans" cxnId="{A64FC552-CF41-4AA0-86B3-36AFD97820DB}">
      <dgm:prSet/>
      <dgm:spPr/>
      <dgm:t>
        <a:bodyPr/>
        <a:lstStyle/>
        <a:p>
          <a:endParaRPr lang="en-US"/>
        </a:p>
      </dgm:t>
    </dgm:pt>
    <dgm:pt modelId="{185409CF-5B40-423B-B25D-5486E66EAA2F}" type="sibTrans" cxnId="{A64FC552-CF41-4AA0-86B3-36AFD97820DB}">
      <dgm:prSet/>
      <dgm:spPr/>
      <dgm:t>
        <a:bodyPr/>
        <a:lstStyle/>
        <a:p>
          <a:endParaRPr lang="en-US"/>
        </a:p>
      </dgm:t>
    </dgm:pt>
    <dgm:pt modelId="{6A63A048-63E5-464C-8E7B-30A351DBB8E6}" type="pres">
      <dgm:prSet presAssocID="{7AB30533-3C7D-4748-8D9F-173FE80F9998}" presName="linear" presStyleCnt="0">
        <dgm:presLayoutVars>
          <dgm:dir/>
          <dgm:animLvl val="lvl"/>
          <dgm:resizeHandles val="exact"/>
        </dgm:presLayoutVars>
      </dgm:prSet>
      <dgm:spPr/>
    </dgm:pt>
    <dgm:pt modelId="{5D834D29-A4A5-43D7-ACD1-8A8D86F4287B}" type="pres">
      <dgm:prSet presAssocID="{7338A351-633C-4F66-9FF2-349AC855AEB4}" presName="parentLin" presStyleCnt="0"/>
      <dgm:spPr/>
    </dgm:pt>
    <dgm:pt modelId="{99EB6B71-44F2-4238-BE4D-9A56C1DEDDDE}" type="pres">
      <dgm:prSet presAssocID="{7338A351-633C-4F66-9FF2-349AC855AEB4}" presName="parentLeftMargin" presStyleLbl="node1" presStyleIdx="0" presStyleCnt="1"/>
      <dgm:spPr/>
    </dgm:pt>
    <dgm:pt modelId="{716C2A70-531E-4585-B019-79012931A60B}" type="pres">
      <dgm:prSet presAssocID="{7338A351-633C-4F66-9FF2-349AC855AEB4}" presName="parentText" presStyleLbl="node1" presStyleIdx="0" presStyleCnt="1">
        <dgm:presLayoutVars>
          <dgm:chMax val="0"/>
          <dgm:bulletEnabled val="1"/>
        </dgm:presLayoutVars>
      </dgm:prSet>
      <dgm:spPr/>
    </dgm:pt>
    <dgm:pt modelId="{7943B041-FF6D-4303-A9CC-5112D2837684}" type="pres">
      <dgm:prSet presAssocID="{7338A351-633C-4F66-9FF2-349AC855AEB4}" presName="negativeSpace" presStyleCnt="0"/>
      <dgm:spPr/>
    </dgm:pt>
    <dgm:pt modelId="{77F1EFBC-C22E-4D5D-8261-FE4CC0518EA4}" type="pres">
      <dgm:prSet presAssocID="{7338A351-633C-4F66-9FF2-349AC855AEB4}" presName="childText" presStyleLbl="conFgAcc1" presStyleIdx="0" presStyleCnt="1">
        <dgm:presLayoutVars>
          <dgm:bulletEnabled val="1"/>
        </dgm:presLayoutVars>
      </dgm:prSet>
      <dgm:spPr/>
    </dgm:pt>
  </dgm:ptLst>
  <dgm:cxnLst>
    <dgm:cxn modelId="{4FFBEC11-63F5-4107-8027-EFE74A858FF0}" type="presOf" srcId="{7338A351-633C-4F66-9FF2-349AC855AEB4}" destId="{716C2A70-531E-4585-B019-79012931A60B}" srcOrd="1" destOrd="0" presId="urn:microsoft.com/office/officeart/2005/8/layout/list1"/>
    <dgm:cxn modelId="{AEEFF11E-E336-4D3D-8464-7F667957EC58}" type="presOf" srcId="{8DB94909-15B5-48D0-8811-1D552BD53E1F}" destId="{77F1EFBC-C22E-4D5D-8261-FE4CC0518EA4}" srcOrd="0" destOrd="2" presId="urn:microsoft.com/office/officeart/2005/8/layout/list1"/>
    <dgm:cxn modelId="{9992092C-FC8F-4812-9E03-C2952E47B0DF}" type="presOf" srcId="{7AB30533-3C7D-4748-8D9F-173FE80F9998}" destId="{6A63A048-63E5-464C-8E7B-30A351DBB8E6}" srcOrd="0" destOrd="0" presId="urn:microsoft.com/office/officeart/2005/8/layout/list1"/>
    <dgm:cxn modelId="{D8C66334-942A-4375-810C-63F4AA908089}" srcId="{7AB30533-3C7D-4748-8D9F-173FE80F9998}" destId="{7338A351-633C-4F66-9FF2-349AC855AEB4}" srcOrd="0" destOrd="0" parTransId="{BEF77F20-E9D3-4046-87A7-2AA828BA137A}" sibTransId="{63A9FE03-C6AD-4E34-BB02-54E87EE8433F}"/>
    <dgm:cxn modelId="{A64FC552-CF41-4AA0-86B3-36AFD97820DB}" srcId="{7338A351-633C-4F66-9FF2-349AC855AEB4}" destId="{8DB94909-15B5-48D0-8811-1D552BD53E1F}" srcOrd="2" destOrd="0" parTransId="{AFF14B85-F5B5-4165-B334-A0A1473DB15C}" sibTransId="{185409CF-5B40-423B-B25D-5486E66EAA2F}"/>
    <dgm:cxn modelId="{5A6ADC7B-EC17-4502-BA51-36A4EFEC8297}" type="presOf" srcId="{1C60E2FD-9E49-461D-ADD3-5BD41C417905}" destId="{77F1EFBC-C22E-4D5D-8261-FE4CC0518EA4}" srcOrd="0" destOrd="0" presId="urn:microsoft.com/office/officeart/2005/8/layout/list1"/>
    <dgm:cxn modelId="{A5874699-31F2-40C2-A645-21CFEF957872}" type="presOf" srcId="{E69A92D0-8059-417C-B8EC-3B4670596911}" destId="{77F1EFBC-C22E-4D5D-8261-FE4CC0518EA4}" srcOrd="0" destOrd="1" presId="urn:microsoft.com/office/officeart/2005/8/layout/list1"/>
    <dgm:cxn modelId="{3DA1439F-C4A5-4AD7-905A-7B4910C32B9A}" srcId="{7338A351-633C-4F66-9FF2-349AC855AEB4}" destId="{1C60E2FD-9E49-461D-ADD3-5BD41C417905}" srcOrd="0" destOrd="0" parTransId="{4AC85A01-556D-4A60-8ED0-2613CC6D4402}" sibTransId="{4FFAC739-DB79-4E01-B29D-1FF78A266572}"/>
    <dgm:cxn modelId="{2F3EA0B9-D75C-47CF-A048-3506D80B6F77}" type="presOf" srcId="{7338A351-633C-4F66-9FF2-349AC855AEB4}" destId="{99EB6B71-44F2-4238-BE4D-9A56C1DEDDDE}" srcOrd="0" destOrd="0" presId="urn:microsoft.com/office/officeart/2005/8/layout/list1"/>
    <dgm:cxn modelId="{31C6ABC7-5E3F-4C02-AC05-77FB020BDFBE}" srcId="{7338A351-633C-4F66-9FF2-349AC855AEB4}" destId="{E69A92D0-8059-417C-B8EC-3B4670596911}" srcOrd="1" destOrd="0" parTransId="{9504D65A-8023-4C3F-B527-8911C0222F61}" sibTransId="{77814275-E792-470A-8C8B-5164178DB96E}"/>
    <dgm:cxn modelId="{66518DA3-581A-42BA-BB16-9DAA25BF2656}" type="presParOf" srcId="{6A63A048-63E5-464C-8E7B-30A351DBB8E6}" destId="{5D834D29-A4A5-43D7-ACD1-8A8D86F4287B}" srcOrd="0" destOrd="0" presId="urn:microsoft.com/office/officeart/2005/8/layout/list1"/>
    <dgm:cxn modelId="{5074EC99-0F83-4A51-9F99-B28EE92BC72F}" type="presParOf" srcId="{5D834D29-A4A5-43D7-ACD1-8A8D86F4287B}" destId="{99EB6B71-44F2-4238-BE4D-9A56C1DEDDDE}" srcOrd="0" destOrd="0" presId="urn:microsoft.com/office/officeart/2005/8/layout/list1"/>
    <dgm:cxn modelId="{2D5ADB7F-92D6-4DFC-A79C-52C561F21DB9}" type="presParOf" srcId="{5D834D29-A4A5-43D7-ACD1-8A8D86F4287B}" destId="{716C2A70-531E-4585-B019-79012931A60B}" srcOrd="1" destOrd="0" presId="urn:microsoft.com/office/officeart/2005/8/layout/list1"/>
    <dgm:cxn modelId="{37673BE5-2BFD-4212-A909-E2A4A436CFFA}" type="presParOf" srcId="{6A63A048-63E5-464C-8E7B-30A351DBB8E6}" destId="{7943B041-FF6D-4303-A9CC-5112D2837684}" srcOrd="1" destOrd="0" presId="urn:microsoft.com/office/officeart/2005/8/layout/list1"/>
    <dgm:cxn modelId="{5A1EBE67-09C6-40A7-A7C6-CD37104E80FB}" type="presParOf" srcId="{6A63A048-63E5-464C-8E7B-30A351DBB8E6}" destId="{77F1EFBC-C22E-4D5D-8261-FE4CC0518EA4}" srcOrd="2"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B30533-3C7D-4748-8D9F-173FE80F9998}"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US"/>
        </a:p>
      </dgm:t>
    </dgm:pt>
    <dgm:pt modelId="{7338A351-633C-4F66-9FF2-349AC855AEB4}">
      <dgm:prSet phldrT="[Text]" custT="1"/>
      <dgm:spPr/>
      <dgm:t>
        <a:bodyPr/>
        <a:lstStyle/>
        <a:p>
          <a:r>
            <a:rPr lang="en-US" sz="1800" dirty="0"/>
            <a:t>5’ 4bp Overhang</a:t>
          </a:r>
        </a:p>
      </dgm:t>
    </dgm:pt>
    <dgm:pt modelId="{BEF77F20-E9D3-4046-87A7-2AA828BA137A}" type="parTrans" cxnId="{D8C66334-942A-4375-810C-63F4AA908089}">
      <dgm:prSet/>
      <dgm:spPr/>
      <dgm:t>
        <a:bodyPr/>
        <a:lstStyle/>
        <a:p>
          <a:endParaRPr lang="en-US" sz="4000"/>
        </a:p>
      </dgm:t>
    </dgm:pt>
    <dgm:pt modelId="{63A9FE03-C6AD-4E34-BB02-54E87EE8433F}" type="sibTrans" cxnId="{D8C66334-942A-4375-810C-63F4AA908089}">
      <dgm:prSet/>
      <dgm:spPr/>
      <dgm:t>
        <a:bodyPr/>
        <a:lstStyle/>
        <a:p>
          <a:endParaRPr lang="en-US" sz="4000"/>
        </a:p>
      </dgm:t>
    </dgm:pt>
    <dgm:pt modelId="{1C60E2FD-9E49-461D-ADD3-5BD41C417905}">
      <dgm:prSet custT="1"/>
      <dgm:spPr/>
      <dgm:t>
        <a:bodyPr/>
        <a:lstStyle/>
        <a:p>
          <a:r>
            <a:rPr lang="en-US" sz="1800"/>
            <a:t>BamHI G/GATCC</a:t>
          </a:r>
        </a:p>
      </dgm:t>
    </dgm:pt>
    <dgm:pt modelId="{4AC85A01-556D-4A60-8ED0-2613CC6D4402}" type="parTrans" cxnId="{3DA1439F-C4A5-4AD7-905A-7B4910C32B9A}">
      <dgm:prSet/>
      <dgm:spPr/>
      <dgm:t>
        <a:bodyPr/>
        <a:lstStyle/>
        <a:p>
          <a:endParaRPr lang="en-US"/>
        </a:p>
      </dgm:t>
    </dgm:pt>
    <dgm:pt modelId="{4FFAC739-DB79-4E01-B29D-1FF78A266572}" type="sibTrans" cxnId="{3DA1439F-C4A5-4AD7-905A-7B4910C32B9A}">
      <dgm:prSet/>
      <dgm:spPr/>
      <dgm:t>
        <a:bodyPr/>
        <a:lstStyle/>
        <a:p>
          <a:endParaRPr lang="en-US"/>
        </a:p>
      </dgm:t>
    </dgm:pt>
    <dgm:pt modelId="{E69A92D0-8059-417C-B8EC-3B4670596911}">
      <dgm:prSet custT="1"/>
      <dgm:spPr/>
      <dgm:t>
        <a:bodyPr/>
        <a:lstStyle/>
        <a:p>
          <a:r>
            <a:rPr lang="en-US" sz="1800"/>
            <a:t>XbaI T/CTAGA</a:t>
          </a:r>
        </a:p>
      </dgm:t>
    </dgm:pt>
    <dgm:pt modelId="{9504D65A-8023-4C3F-B527-8911C0222F61}" type="parTrans" cxnId="{31C6ABC7-5E3F-4C02-AC05-77FB020BDFBE}">
      <dgm:prSet/>
      <dgm:spPr/>
      <dgm:t>
        <a:bodyPr/>
        <a:lstStyle/>
        <a:p>
          <a:endParaRPr lang="en-US"/>
        </a:p>
      </dgm:t>
    </dgm:pt>
    <dgm:pt modelId="{77814275-E792-470A-8C8B-5164178DB96E}" type="sibTrans" cxnId="{31C6ABC7-5E3F-4C02-AC05-77FB020BDFBE}">
      <dgm:prSet/>
      <dgm:spPr/>
      <dgm:t>
        <a:bodyPr/>
        <a:lstStyle/>
        <a:p>
          <a:endParaRPr lang="en-US"/>
        </a:p>
      </dgm:t>
    </dgm:pt>
    <dgm:pt modelId="{8DB94909-15B5-48D0-8811-1D552BD53E1F}">
      <dgm:prSet custT="1"/>
      <dgm:spPr/>
      <dgm:t>
        <a:bodyPr/>
        <a:lstStyle/>
        <a:p>
          <a:r>
            <a:rPr lang="en-US" sz="1800" dirty="0" err="1"/>
            <a:t>EcoRI</a:t>
          </a:r>
          <a:r>
            <a:rPr lang="en-US" sz="1800" dirty="0"/>
            <a:t> G/AATTC</a:t>
          </a:r>
        </a:p>
      </dgm:t>
    </dgm:pt>
    <dgm:pt modelId="{AFF14B85-F5B5-4165-B334-A0A1473DB15C}" type="parTrans" cxnId="{A64FC552-CF41-4AA0-86B3-36AFD97820DB}">
      <dgm:prSet/>
      <dgm:spPr/>
      <dgm:t>
        <a:bodyPr/>
        <a:lstStyle/>
        <a:p>
          <a:endParaRPr lang="en-US"/>
        </a:p>
      </dgm:t>
    </dgm:pt>
    <dgm:pt modelId="{185409CF-5B40-423B-B25D-5486E66EAA2F}" type="sibTrans" cxnId="{A64FC552-CF41-4AA0-86B3-36AFD97820DB}">
      <dgm:prSet/>
      <dgm:spPr/>
      <dgm:t>
        <a:bodyPr/>
        <a:lstStyle/>
        <a:p>
          <a:endParaRPr lang="en-US"/>
        </a:p>
      </dgm:t>
    </dgm:pt>
    <dgm:pt modelId="{B43286F3-935C-4C0D-AA72-6C5096B7F29A}">
      <dgm:prSet custT="1"/>
      <dgm:spPr/>
      <dgm:t>
        <a:bodyPr/>
        <a:lstStyle/>
        <a:p>
          <a:r>
            <a:rPr lang="en-US" sz="1800" dirty="0"/>
            <a:t>3' 4bp Overhang</a:t>
          </a:r>
        </a:p>
      </dgm:t>
    </dgm:pt>
    <dgm:pt modelId="{F3051C5B-488F-4349-9827-687BE08E7D6A}" type="parTrans" cxnId="{571B1D43-F8EB-4B11-9070-395C883E916B}">
      <dgm:prSet/>
      <dgm:spPr/>
      <dgm:t>
        <a:bodyPr/>
        <a:lstStyle/>
        <a:p>
          <a:endParaRPr lang="en-US"/>
        </a:p>
      </dgm:t>
    </dgm:pt>
    <dgm:pt modelId="{9D519534-FF70-4A9D-87F5-9A1E18EEE824}" type="sibTrans" cxnId="{571B1D43-F8EB-4B11-9070-395C883E916B}">
      <dgm:prSet/>
      <dgm:spPr/>
      <dgm:t>
        <a:bodyPr/>
        <a:lstStyle/>
        <a:p>
          <a:endParaRPr lang="en-US"/>
        </a:p>
      </dgm:t>
    </dgm:pt>
    <dgm:pt modelId="{DEC91962-651B-4666-8512-20FD3EBD32E8}">
      <dgm:prSet custT="1"/>
      <dgm:spPr/>
      <dgm:t>
        <a:bodyPr/>
        <a:lstStyle/>
        <a:p>
          <a:r>
            <a:rPr lang="en-US" sz="1800"/>
            <a:t>PstI CTGCA/G</a:t>
          </a:r>
        </a:p>
      </dgm:t>
    </dgm:pt>
    <dgm:pt modelId="{0CE1773F-9A13-4754-B140-A4C0B717B1F2}" type="parTrans" cxnId="{EA125000-5FB2-49DA-B3CA-2693F3C7634B}">
      <dgm:prSet/>
      <dgm:spPr/>
      <dgm:t>
        <a:bodyPr/>
        <a:lstStyle/>
        <a:p>
          <a:endParaRPr lang="en-US"/>
        </a:p>
      </dgm:t>
    </dgm:pt>
    <dgm:pt modelId="{47DE4CDE-4873-4C93-A335-44D4FD6D6B3A}" type="sibTrans" cxnId="{EA125000-5FB2-49DA-B3CA-2693F3C7634B}">
      <dgm:prSet/>
      <dgm:spPr/>
      <dgm:t>
        <a:bodyPr/>
        <a:lstStyle/>
        <a:p>
          <a:endParaRPr lang="en-US"/>
        </a:p>
      </dgm:t>
    </dgm:pt>
    <dgm:pt modelId="{2B648578-F269-424D-8347-BB4B53610A66}">
      <dgm:prSet custT="1"/>
      <dgm:spPr/>
      <dgm:t>
        <a:bodyPr/>
        <a:lstStyle/>
        <a:p>
          <a:r>
            <a:rPr lang="en-US" sz="1800"/>
            <a:t>5' 2bp Overhang</a:t>
          </a:r>
        </a:p>
      </dgm:t>
    </dgm:pt>
    <dgm:pt modelId="{312F6913-6FB9-4EE5-8AB4-E172DFB67249}" type="parTrans" cxnId="{F58B58F1-ED32-4FE1-87D6-10BE669BEEEE}">
      <dgm:prSet/>
      <dgm:spPr/>
      <dgm:t>
        <a:bodyPr/>
        <a:lstStyle/>
        <a:p>
          <a:endParaRPr lang="en-US"/>
        </a:p>
      </dgm:t>
    </dgm:pt>
    <dgm:pt modelId="{E4A47503-2656-4630-996D-2650C7823F3B}" type="sibTrans" cxnId="{F58B58F1-ED32-4FE1-87D6-10BE669BEEEE}">
      <dgm:prSet/>
      <dgm:spPr/>
      <dgm:t>
        <a:bodyPr/>
        <a:lstStyle/>
        <a:p>
          <a:endParaRPr lang="en-US"/>
        </a:p>
      </dgm:t>
    </dgm:pt>
    <dgm:pt modelId="{ACEE88DD-56E9-4EF1-993A-E8A9038A6235}">
      <dgm:prSet custT="1"/>
      <dgm:spPr/>
      <dgm:t>
        <a:bodyPr/>
        <a:lstStyle/>
        <a:p>
          <a:r>
            <a:rPr lang="en-US" sz="1800" dirty="0" err="1"/>
            <a:t>NdeI</a:t>
          </a:r>
          <a:r>
            <a:rPr lang="en-US" sz="1800" dirty="0"/>
            <a:t> CA/TATG</a:t>
          </a:r>
        </a:p>
      </dgm:t>
    </dgm:pt>
    <dgm:pt modelId="{E93B0E9D-EBE8-48E5-8B2A-EE6B26B509FF}" type="parTrans" cxnId="{56B48A9D-E626-4943-8299-B41EDA77607B}">
      <dgm:prSet/>
      <dgm:spPr/>
      <dgm:t>
        <a:bodyPr/>
        <a:lstStyle/>
        <a:p>
          <a:endParaRPr lang="en-US"/>
        </a:p>
      </dgm:t>
    </dgm:pt>
    <dgm:pt modelId="{0B843667-D6E8-411D-8FD8-8B7C80FA66DB}" type="sibTrans" cxnId="{56B48A9D-E626-4943-8299-B41EDA77607B}">
      <dgm:prSet/>
      <dgm:spPr/>
      <dgm:t>
        <a:bodyPr/>
        <a:lstStyle/>
        <a:p>
          <a:endParaRPr lang="en-US"/>
        </a:p>
      </dgm:t>
    </dgm:pt>
    <dgm:pt modelId="{8F3AC8FA-C1B9-4FD4-8D8C-79C700779DEC}">
      <dgm:prSet custT="1"/>
      <dgm:spPr/>
      <dgm:t>
        <a:bodyPr/>
        <a:lstStyle/>
        <a:p>
          <a:r>
            <a:rPr lang="en-US" sz="1800"/>
            <a:t>3' 2bp Overhang</a:t>
          </a:r>
        </a:p>
      </dgm:t>
    </dgm:pt>
    <dgm:pt modelId="{18CE81A5-63C0-424D-BD0E-B1F72FB8D5B5}" type="parTrans" cxnId="{934F743C-2FB1-44B4-8E39-D9A01686CE0A}">
      <dgm:prSet/>
      <dgm:spPr/>
      <dgm:t>
        <a:bodyPr/>
        <a:lstStyle/>
        <a:p>
          <a:endParaRPr lang="en-US"/>
        </a:p>
      </dgm:t>
    </dgm:pt>
    <dgm:pt modelId="{1A2D7D96-5683-48BF-A430-478FD41ACBCD}" type="sibTrans" cxnId="{934F743C-2FB1-44B4-8E39-D9A01686CE0A}">
      <dgm:prSet/>
      <dgm:spPr/>
      <dgm:t>
        <a:bodyPr/>
        <a:lstStyle/>
        <a:p>
          <a:endParaRPr lang="en-US"/>
        </a:p>
      </dgm:t>
    </dgm:pt>
    <dgm:pt modelId="{BE03BEA7-34C6-4C28-A865-CB6B4DE9C349}">
      <dgm:prSet custT="1"/>
      <dgm:spPr/>
      <dgm:t>
        <a:bodyPr/>
        <a:lstStyle/>
        <a:p>
          <a:r>
            <a:rPr lang="en-US" sz="1800" dirty="0" err="1"/>
            <a:t>PacI</a:t>
          </a:r>
          <a:r>
            <a:rPr lang="en-US" sz="1800" dirty="0"/>
            <a:t> TTAAT/TAA</a:t>
          </a:r>
        </a:p>
      </dgm:t>
    </dgm:pt>
    <dgm:pt modelId="{83FC7287-D66A-49A7-842D-E6BC7A710E7A}" type="parTrans" cxnId="{31C829B0-501F-4B09-83E1-3961C1DA62AE}">
      <dgm:prSet/>
      <dgm:spPr/>
      <dgm:t>
        <a:bodyPr/>
        <a:lstStyle/>
        <a:p>
          <a:endParaRPr lang="en-US"/>
        </a:p>
      </dgm:t>
    </dgm:pt>
    <dgm:pt modelId="{759955C8-1641-406D-9AC9-1DB59C918EDE}" type="sibTrans" cxnId="{31C829B0-501F-4B09-83E1-3961C1DA62AE}">
      <dgm:prSet/>
      <dgm:spPr/>
      <dgm:t>
        <a:bodyPr/>
        <a:lstStyle/>
        <a:p>
          <a:endParaRPr lang="en-US"/>
        </a:p>
      </dgm:t>
    </dgm:pt>
    <dgm:pt modelId="{6A63A048-63E5-464C-8E7B-30A351DBB8E6}" type="pres">
      <dgm:prSet presAssocID="{7AB30533-3C7D-4748-8D9F-173FE80F9998}" presName="linear" presStyleCnt="0">
        <dgm:presLayoutVars>
          <dgm:dir/>
          <dgm:animLvl val="lvl"/>
          <dgm:resizeHandles val="exact"/>
        </dgm:presLayoutVars>
      </dgm:prSet>
      <dgm:spPr/>
    </dgm:pt>
    <dgm:pt modelId="{5D834D29-A4A5-43D7-ACD1-8A8D86F4287B}" type="pres">
      <dgm:prSet presAssocID="{7338A351-633C-4F66-9FF2-349AC855AEB4}" presName="parentLin" presStyleCnt="0"/>
      <dgm:spPr/>
    </dgm:pt>
    <dgm:pt modelId="{99EB6B71-44F2-4238-BE4D-9A56C1DEDDDE}" type="pres">
      <dgm:prSet presAssocID="{7338A351-633C-4F66-9FF2-349AC855AEB4}" presName="parentLeftMargin" presStyleLbl="node1" presStyleIdx="0" presStyleCnt="4"/>
      <dgm:spPr/>
    </dgm:pt>
    <dgm:pt modelId="{716C2A70-531E-4585-B019-79012931A60B}" type="pres">
      <dgm:prSet presAssocID="{7338A351-633C-4F66-9FF2-349AC855AEB4}" presName="parentText" presStyleLbl="node1" presStyleIdx="0" presStyleCnt="4">
        <dgm:presLayoutVars>
          <dgm:chMax val="0"/>
          <dgm:bulletEnabled val="1"/>
        </dgm:presLayoutVars>
      </dgm:prSet>
      <dgm:spPr/>
    </dgm:pt>
    <dgm:pt modelId="{7943B041-FF6D-4303-A9CC-5112D2837684}" type="pres">
      <dgm:prSet presAssocID="{7338A351-633C-4F66-9FF2-349AC855AEB4}" presName="negativeSpace" presStyleCnt="0"/>
      <dgm:spPr/>
    </dgm:pt>
    <dgm:pt modelId="{77F1EFBC-C22E-4D5D-8261-FE4CC0518EA4}" type="pres">
      <dgm:prSet presAssocID="{7338A351-633C-4F66-9FF2-349AC855AEB4}" presName="childText" presStyleLbl="conFgAcc1" presStyleIdx="0" presStyleCnt="4">
        <dgm:presLayoutVars>
          <dgm:bulletEnabled val="1"/>
        </dgm:presLayoutVars>
      </dgm:prSet>
      <dgm:spPr/>
    </dgm:pt>
    <dgm:pt modelId="{B84ABC31-82D4-4B08-B436-FAE68CF0D831}" type="pres">
      <dgm:prSet presAssocID="{63A9FE03-C6AD-4E34-BB02-54E87EE8433F}" presName="spaceBetweenRectangles" presStyleCnt="0"/>
      <dgm:spPr/>
    </dgm:pt>
    <dgm:pt modelId="{B93B6332-87A7-4ECC-B787-52CAB00080E6}" type="pres">
      <dgm:prSet presAssocID="{B43286F3-935C-4C0D-AA72-6C5096B7F29A}" presName="parentLin" presStyleCnt="0"/>
      <dgm:spPr/>
    </dgm:pt>
    <dgm:pt modelId="{5A0A48AD-F8D8-4767-AEDE-643F0418C9B6}" type="pres">
      <dgm:prSet presAssocID="{B43286F3-935C-4C0D-AA72-6C5096B7F29A}" presName="parentLeftMargin" presStyleLbl="node1" presStyleIdx="0" presStyleCnt="4"/>
      <dgm:spPr/>
    </dgm:pt>
    <dgm:pt modelId="{EA40FEE0-94FD-4A88-B348-7CF0C2AF333F}" type="pres">
      <dgm:prSet presAssocID="{B43286F3-935C-4C0D-AA72-6C5096B7F29A}" presName="parentText" presStyleLbl="node1" presStyleIdx="1" presStyleCnt="4">
        <dgm:presLayoutVars>
          <dgm:chMax val="0"/>
          <dgm:bulletEnabled val="1"/>
        </dgm:presLayoutVars>
      </dgm:prSet>
      <dgm:spPr/>
    </dgm:pt>
    <dgm:pt modelId="{30B1BD1F-A3B9-4AFE-AE00-89BD4A54C939}" type="pres">
      <dgm:prSet presAssocID="{B43286F3-935C-4C0D-AA72-6C5096B7F29A}" presName="negativeSpace" presStyleCnt="0"/>
      <dgm:spPr/>
    </dgm:pt>
    <dgm:pt modelId="{0B6A7E96-4D68-4FF2-BB66-47E72246E9B5}" type="pres">
      <dgm:prSet presAssocID="{B43286F3-935C-4C0D-AA72-6C5096B7F29A}" presName="childText" presStyleLbl="conFgAcc1" presStyleIdx="1" presStyleCnt="4">
        <dgm:presLayoutVars>
          <dgm:bulletEnabled val="1"/>
        </dgm:presLayoutVars>
      </dgm:prSet>
      <dgm:spPr/>
    </dgm:pt>
    <dgm:pt modelId="{7E854158-F854-4022-BD9D-D247A0FBE8B1}" type="pres">
      <dgm:prSet presAssocID="{9D519534-FF70-4A9D-87F5-9A1E18EEE824}" presName="spaceBetweenRectangles" presStyleCnt="0"/>
      <dgm:spPr/>
    </dgm:pt>
    <dgm:pt modelId="{481B7DF6-495A-44AB-B90D-1DD2FB38DD82}" type="pres">
      <dgm:prSet presAssocID="{2B648578-F269-424D-8347-BB4B53610A66}" presName="parentLin" presStyleCnt="0"/>
      <dgm:spPr/>
    </dgm:pt>
    <dgm:pt modelId="{98A1C568-9FA1-4376-BF0A-ADC804DDB5B9}" type="pres">
      <dgm:prSet presAssocID="{2B648578-F269-424D-8347-BB4B53610A66}" presName="parentLeftMargin" presStyleLbl="node1" presStyleIdx="1" presStyleCnt="4"/>
      <dgm:spPr/>
    </dgm:pt>
    <dgm:pt modelId="{E1B17D41-D56C-43C1-8437-4F01A5ABEACB}" type="pres">
      <dgm:prSet presAssocID="{2B648578-F269-424D-8347-BB4B53610A66}" presName="parentText" presStyleLbl="node1" presStyleIdx="2" presStyleCnt="4">
        <dgm:presLayoutVars>
          <dgm:chMax val="0"/>
          <dgm:bulletEnabled val="1"/>
        </dgm:presLayoutVars>
      </dgm:prSet>
      <dgm:spPr/>
    </dgm:pt>
    <dgm:pt modelId="{41A99BDE-BB7D-4EAA-83E5-DCF5C1396F93}" type="pres">
      <dgm:prSet presAssocID="{2B648578-F269-424D-8347-BB4B53610A66}" presName="negativeSpace" presStyleCnt="0"/>
      <dgm:spPr/>
    </dgm:pt>
    <dgm:pt modelId="{15DC2452-AF7F-4C92-870E-AB8F573B5737}" type="pres">
      <dgm:prSet presAssocID="{2B648578-F269-424D-8347-BB4B53610A66}" presName="childText" presStyleLbl="conFgAcc1" presStyleIdx="2" presStyleCnt="4">
        <dgm:presLayoutVars>
          <dgm:bulletEnabled val="1"/>
        </dgm:presLayoutVars>
      </dgm:prSet>
      <dgm:spPr/>
    </dgm:pt>
    <dgm:pt modelId="{127E68FD-6D1E-4220-858A-A90AEFE197B9}" type="pres">
      <dgm:prSet presAssocID="{E4A47503-2656-4630-996D-2650C7823F3B}" presName="spaceBetweenRectangles" presStyleCnt="0"/>
      <dgm:spPr/>
    </dgm:pt>
    <dgm:pt modelId="{AF0BEC7A-0077-4FCB-88FE-24C056EA3E54}" type="pres">
      <dgm:prSet presAssocID="{8F3AC8FA-C1B9-4FD4-8D8C-79C700779DEC}" presName="parentLin" presStyleCnt="0"/>
      <dgm:spPr/>
    </dgm:pt>
    <dgm:pt modelId="{B67E99C6-EAE3-476F-BDB9-C0FBBD7E7F74}" type="pres">
      <dgm:prSet presAssocID="{8F3AC8FA-C1B9-4FD4-8D8C-79C700779DEC}" presName="parentLeftMargin" presStyleLbl="node1" presStyleIdx="2" presStyleCnt="4"/>
      <dgm:spPr/>
    </dgm:pt>
    <dgm:pt modelId="{93C86E5E-E2C7-4471-AAFE-BB6CF2682854}" type="pres">
      <dgm:prSet presAssocID="{8F3AC8FA-C1B9-4FD4-8D8C-79C700779DEC}" presName="parentText" presStyleLbl="node1" presStyleIdx="3" presStyleCnt="4">
        <dgm:presLayoutVars>
          <dgm:chMax val="0"/>
          <dgm:bulletEnabled val="1"/>
        </dgm:presLayoutVars>
      </dgm:prSet>
      <dgm:spPr/>
    </dgm:pt>
    <dgm:pt modelId="{23CABA97-3732-4B92-9DC7-ACEC2353CE9D}" type="pres">
      <dgm:prSet presAssocID="{8F3AC8FA-C1B9-4FD4-8D8C-79C700779DEC}" presName="negativeSpace" presStyleCnt="0"/>
      <dgm:spPr/>
    </dgm:pt>
    <dgm:pt modelId="{13A836B9-D991-431E-9F43-A47C466DD93F}" type="pres">
      <dgm:prSet presAssocID="{8F3AC8FA-C1B9-4FD4-8D8C-79C700779DEC}" presName="childText" presStyleLbl="conFgAcc1" presStyleIdx="3" presStyleCnt="4">
        <dgm:presLayoutVars>
          <dgm:bulletEnabled val="1"/>
        </dgm:presLayoutVars>
      </dgm:prSet>
      <dgm:spPr/>
    </dgm:pt>
  </dgm:ptLst>
  <dgm:cxnLst>
    <dgm:cxn modelId="{A4314500-74E9-FE46-AA63-0F224D91E3BA}" type="presOf" srcId="{ACEE88DD-56E9-4EF1-993A-E8A9038A6235}" destId="{15DC2452-AF7F-4C92-870E-AB8F573B5737}" srcOrd="0" destOrd="0" presId="urn:microsoft.com/office/officeart/2005/8/layout/list1"/>
    <dgm:cxn modelId="{EA125000-5FB2-49DA-B3CA-2693F3C7634B}" srcId="{B43286F3-935C-4C0D-AA72-6C5096B7F29A}" destId="{DEC91962-651B-4666-8512-20FD3EBD32E8}" srcOrd="0" destOrd="0" parTransId="{0CE1773F-9A13-4754-B140-A4C0B717B1F2}" sibTransId="{47DE4CDE-4873-4C93-A335-44D4FD6D6B3A}"/>
    <dgm:cxn modelId="{EC687C24-3E4E-274B-964A-D318AE863529}" type="presOf" srcId="{BE03BEA7-34C6-4C28-A865-CB6B4DE9C349}" destId="{13A836B9-D991-431E-9F43-A47C466DD93F}" srcOrd="0" destOrd="0" presId="urn:microsoft.com/office/officeart/2005/8/layout/list1"/>
    <dgm:cxn modelId="{BD8DAD27-93D0-C84F-8CDD-7F968692067F}" type="presOf" srcId="{2B648578-F269-424D-8347-BB4B53610A66}" destId="{98A1C568-9FA1-4376-BF0A-ADC804DDB5B9}" srcOrd="0" destOrd="0" presId="urn:microsoft.com/office/officeart/2005/8/layout/list1"/>
    <dgm:cxn modelId="{D8C66334-942A-4375-810C-63F4AA908089}" srcId="{7AB30533-3C7D-4748-8D9F-173FE80F9998}" destId="{7338A351-633C-4F66-9FF2-349AC855AEB4}" srcOrd="0" destOrd="0" parTransId="{BEF77F20-E9D3-4046-87A7-2AA828BA137A}" sibTransId="{63A9FE03-C6AD-4E34-BB02-54E87EE8433F}"/>
    <dgm:cxn modelId="{5C42F735-56ED-2A4A-9234-47B74294072D}" type="presOf" srcId="{E69A92D0-8059-417C-B8EC-3B4670596911}" destId="{77F1EFBC-C22E-4D5D-8261-FE4CC0518EA4}" srcOrd="0" destOrd="1" presId="urn:microsoft.com/office/officeart/2005/8/layout/list1"/>
    <dgm:cxn modelId="{934F743C-2FB1-44B4-8E39-D9A01686CE0A}" srcId="{7AB30533-3C7D-4748-8D9F-173FE80F9998}" destId="{8F3AC8FA-C1B9-4FD4-8D8C-79C700779DEC}" srcOrd="3" destOrd="0" parTransId="{18CE81A5-63C0-424D-BD0E-B1F72FB8D5B5}" sibTransId="{1A2D7D96-5683-48BF-A430-478FD41ACBCD}"/>
    <dgm:cxn modelId="{571B1D43-F8EB-4B11-9070-395C883E916B}" srcId="{7AB30533-3C7D-4748-8D9F-173FE80F9998}" destId="{B43286F3-935C-4C0D-AA72-6C5096B7F29A}" srcOrd="1" destOrd="0" parTransId="{F3051C5B-488F-4349-9827-687BE08E7D6A}" sibTransId="{9D519534-FF70-4A9D-87F5-9A1E18EEE824}"/>
    <dgm:cxn modelId="{5C544F4A-DEFD-A447-A66C-25029F599D12}" type="presOf" srcId="{DEC91962-651B-4666-8512-20FD3EBD32E8}" destId="{0B6A7E96-4D68-4FF2-BB66-47E72246E9B5}" srcOrd="0" destOrd="0" presId="urn:microsoft.com/office/officeart/2005/8/layout/list1"/>
    <dgm:cxn modelId="{1BB6D84D-0C0A-8046-A489-C00B26252310}" type="presOf" srcId="{2B648578-F269-424D-8347-BB4B53610A66}" destId="{E1B17D41-D56C-43C1-8437-4F01A5ABEACB}" srcOrd="1" destOrd="0" presId="urn:microsoft.com/office/officeart/2005/8/layout/list1"/>
    <dgm:cxn modelId="{A64FC552-CF41-4AA0-86B3-36AFD97820DB}" srcId="{7338A351-633C-4F66-9FF2-349AC855AEB4}" destId="{8DB94909-15B5-48D0-8811-1D552BD53E1F}" srcOrd="2" destOrd="0" parTransId="{AFF14B85-F5B5-4165-B334-A0A1473DB15C}" sibTransId="{185409CF-5B40-423B-B25D-5486E66EAA2F}"/>
    <dgm:cxn modelId="{45018B58-C8F0-4D4D-833B-C76A1FA4ABF7}" type="presOf" srcId="{7AB30533-3C7D-4748-8D9F-173FE80F9998}" destId="{6A63A048-63E5-464C-8E7B-30A351DBB8E6}" srcOrd="0" destOrd="0" presId="urn:microsoft.com/office/officeart/2005/8/layout/list1"/>
    <dgm:cxn modelId="{8AA8E961-0751-3E42-9709-93BA2353A1C9}" type="presOf" srcId="{1C60E2FD-9E49-461D-ADD3-5BD41C417905}" destId="{77F1EFBC-C22E-4D5D-8261-FE4CC0518EA4}" srcOrd="0" destOrd="0" presId="urn:microsoft.com/office/officeart/2005/8/layout/list1"/>
    <dgm:cxn modelId="{DFD0EA84-A4B0-8A43-AE8E-92D2D735025C}" type="presOf" srcId="{7338A351-633C-4F66-9FF2-349AC855AEB4}" destId="{99EB6B71-44F2-4238-BE4D-9A56C1DEDDDE}" srcOrd="0" destOrd="0" presId="urn:microsoft.com/office/officeart/2005/8/layout/list1"/>
    <dgm:cxn modelId="{0FE7328A-8F1F-E84C-96D0-1F7C63E36664}" type="presOf" srcId="{B43286F3-935C-4C0D-AA72-6C5096B7F29A}" destId="{EA40FEE0-94FD-4A88-B348-7CF0C2AF333F}" srcOrd="1" destOrd="0" presId="urn:microsoft.com/office/officeart/2005/8/layout/list1"/>
    <dgm:cxn modelId="{AECEE795-F817-3A4A-862C-3F3D188CA004}" type="presOf" srcId="{8F3AC8FA-C1B9-4FD4-8D8C-79C700779DEC}" destId="{93C86E5E-E2C7-4471-AAFE-BB6CF2682854}" srcOrd="1" destOrd="0" presId="urn:microsoft.com/office/officeart/2005/8/layout/list1"/>
    <dgm:cxn modelId="{56B48A9D-E626-4943-8299-B41EDA77607B}" srcId="{2B648578-F269-424D-8347-BB4B53610A66}" destId="{ACEE88DD-56E9-4EF1-993A-E8A9038A6235}" srcOrd="0" destOrd="0" parTransId="{E93B0E9D-EBE8-48E5-8B2A-EE6B26B509FF}" sibTransId="{0B843667-D6E8-411D-8FD8-8B7C80FA66DB}"/>
    <dgm:cxn modelId="{3DA1439F-C4A5-4AD7-905A-7B4910C32B9A}" srcId="{7338A351-633C-4F66-9FF2-349AC855AEB4}" destId="{1C60E2FD-9E49-461D-ADD3-5BD41C417905}" srcOrd="0" destOrd="0" parTransId="{4AC85A01-556D-4A60-8ED0-2613CC6D4402}" sibTransId="{4FFAC739-DB79-4E01-B29D-1FF78A266572}"/>
    <dgm:cxn modelId="{97F444A4-A905-A440-9AFB-039A29C9F971}" type="presOf" srcId="{8DB94909-15B5-48D0-8811-1D552BD53E1F}" destId="{77F1EFBC-C22E-4D5D-8261-FE4CC0518EA4}" srcOrd="0" destOrd="2" presId="urn:microsoft.com/office/officeart/2005/8/layout/list1"/>
    <dgm:cxn modelId="{CAA604AD-45DE-E446-9CB5-1320CB1844A6}" type="presOf" srcId="{8F3AC8FA-C1B9-4FD4-8D8C-79C700779DEC}" destId="{B67E99C6-EAE3-476F-BDB9-C0FBBD7E7F74}" srcOrd="0" destOrd="0" presId="urn:microsoft.com/office/officeart/2005/8/layout/list1"/>
    <dgm:cxn modelId="{31C829B0-501F-4B09-83E1-3961C1DA62AE}" srcId="{8F3AC8FA-C1B9-4FD4-8D8C-79C700779DEC}" destId="{BE03BEA7-34C6-4C28-A865-CB6B4DE9C349}" srcOrd="0" destOrd="0" parTransId="{83FC7287-D66A-49A7-842D-E6BC7A710E7A}" sibTransId="{759955C8-1641-406D-9AC9-1DB59C918EDE}"/>
    <dgm:cxn modelId="{213D80B9-B8AD-FE4B-86CB-5202A469750F}" type="presOf" srcId="{B43286F3-935C-4C0D-AA72-6C5096B7F29A}" destId="{5A0A48AD-F8D8-4767-AEDE-643F0418C9B6}" srcOrd="0" destOrd="0" presId="urn:microsoft.com/office/officeart/2005/8/layout/list1"/>
    <dgm:cxn modelId="{31C6ABC7-5E3F-4C02-AC05-77FB020BDFBE}" srcId="{7338A351-633C-4F66-9FF2-349AC855AEB4}" destId="{E69A92D0-8059-417C-B8EC-3B4670596911}" srcOrd="1" destOrd="0" parTransId="{9504D65A-8023-4C3F-B527-8911C0222F61}" sibTransId="{77814275-E792-470A-8C8B-5164178DB96E}"/>
    <dgm:cxn modelId="{4062E1E1-324B-9840-8AD9-3D5EFB81546D}" type="presOf" srcId="{7338A351-633C-4F66-9FF2-349AC855AEB4}" destId="{716C2A70-531E-4585-B019-79012931A60B}" srcOrd="1" destOrd="0" presId="urn:microsoft.com/office/officeart/2005/8/layout/list1"/>
    <dgm:cxn modelId="{F58B58F1-ED32-4FE1-87D6-10BE669BEEEE}" srcId="{7AB30533-3C7D-4748-8D9F-173FE80F9998}" destId="{2B648578-F269-424D-8347-BB4B53610A66}" srcOrd="2" destOrd="0" parTransId="{312F6913-6FB9-4EE5-8AB4-E172DFB67249}" sibTransId="{E4A47503-2656-4630-996D-2650C7823F3B}"/>
    <dgm:cxn modelId="{849B5A71-2411-934D-AB96-D117CE2FFBA0}" type="presParOf" srcId="{6A63A048-63E5-464C-8E7B-30A351DBB8E6}" destId="{5D834D29-A4A5-43D7-ACD1-8A8D86F4287B}" srcOrd="0" destOrd="0" presId="urn:microsoft.com/office/officeart/2005/8/layout/list1"/>
    <dgm:cxn modelId="{A78777F4-F962-5249-9546-BD0DE4CB1943}" type="presParOf" srcId="{5D834D29-A4A5-43D7-ACD1-8A8D86F4287B}" destId="{99EB6B71-44F2-4238-BE4D-9A56C1DEDDDE}" srcOrd="0" destOrd="0" presId="urn:microsoft.com/office/officeart/2005/8/layout/list1"/>
    <dgm:cxn modelId="{20FB22E9-DDDD-4241-A42C-ACD2FEA7E9F0}" type="presParOf" srcId="{5D834D29-A4A5-43D7-ACD1-8A8D86F4287B}" destId="{716C2A70-531E-4585-B019-79012931A60B}" srcOrd="1" destOrd="0" presId="urn:microsoft.com/office/officeart/2005/8/layout/list1"/>
    <dgm:cxn modelId="{746A1121-E586-B043-A0D2-2FD6CE906811}" type="presParOf" srcId="{6A63A048-63E5-464C-8E7B-30A351DBB8E6}" destId="{7943B041-FF6D-4303-A9CC-5112D2837684}" srcOrd="1" destOrd="0" presId="urn:microsoft.com/office/officeart/2005/8/layout/list1"/>
    <dgm:cxn modelId="{8B2C5370-3A1A-B943-B2FC-E28C06F80DD1}" type="presParOf" srcId="{6A63A048-63E5-464C-8E7B-30A351DBB8E6}" destId="{77F1EFBC-C22E-4D5D-8261-FE4CC0518EA4}" srcOrd="2" destOrd="0" presId="urn:microsoft.com/office/officeart/2005/8/layout/list1"/>
    <dgm:cxn modelId="{1440D96E-7C8F-4B43-8012-1156A9584A62}" type="presParOf" srcId="{6A63A048-63E5-464C-8E7B-30A351DBB8E6}" destId="{B84ABC31-82D4-4B08-B436-FAE68CF0D831}" srcOrd="3" destOrd="0" presId="urn:microsoft.com/office/officeart/2005/8/layout/list1"/>
    <dgm:cxn modelId="{915D25A9-5793-0145-84B5-5F29A4FA923E}" type="presParOf" srcId="{6A63A048-63E5-464C-8E7B-30A351DBB8E6}" destId="{B93B6332-87A7-4ECC-B787-52CAB00080E6}" srcOrd="4" destOrd="0" presId="urn:microsoft.com/office/officeart/2005/8/layout/list1"/>
    <dgm:cxn modelId="{7DA4D60B-DAA7-F44E-A660-F96069A3632C}" type="presParOf" srcId="{B93B6332-87A7-4ECC-B787-52CAB00080E6}" destId="{5A0A48AD-F8D8-4767-AEDE-643F0418C9B6}" srcOrd="0" destOrd="0" presId="urn:microsoft.com/office/officeart/2005/8/layout/list1"/>
    <dgm:cxn modelId="{05A7A107-C653-B648-BA1F-B206CD170720}" type="presParOf" srcId="{B93B6332-87A7-4ECC-B787-52CAB00080E6}" destId="{EA40FEE0-94FD-4A88-B348-7CF0C2AF333F}" srcOrd="1" destOrd="0" presId="urn:microsoft.com/office/officeart/2005/8/layout/list1"/>
    <dgm:cxn modelId="{DD029E63-6A24-8D4B-8786-659882B4F4BD}" type="presParOf" srcId="{6A63A048-63E5-464C-8E7B-30A351DBB8E6}" destId="{30B1BD1F-A3B9-4AFE-AE00-89BD4A54C939}" srcOrd="5" destOrd="0" presId="urn:microsoft.com/office/officeart/2005/8/layout/list1"/>
    <dgm:cxn modelId="{733DE169-4767-4148-96BE-26101FA889E2}" type="presParOf" srcId="{6A63A048-63E5-464C-8E7B-30A351DBB8E6}" destId="{0B6A7E96-4D68-4FF2-BB66-47E72246E9B5}" srcOrd="6" destOrd="0" presId="urn:microsoft.com/office/officeart/2005/8/layout/list1"/>
    <dgm:cxn modelId="{7B6D1BE4-F8D3-9F42-8FD1-08A382FB5A15}" type="presParOf" srcId="{6A63A048-63E5-464C-8E7B-30A351DBB8E6}" destId="{7E854158-F854-4022-BD9D-D247A0FBE8B1}" srcOrd="7" destOrd="0" presId="urn:microsoft.com/office/officeart/2005/8/layout/list1"/>
    <dgm:cxn modelId="{B9C3E1EC-915A-244F-8C8C-37F6388AA923}" type="presParOf" srcId="{6A63A048-63E5-464C-8E7B-30A351DBB8E6}" destId="{481B7DF6-495A-44AB-B90D-1DD2FB38DD82}" srcOrd="8" destOrd="0" presId="urn:microsoft.com/office/officeart/2005/8/layout/list1"/>
    <dgm:cxn modelId="{4DE25C80-E9BA-7D45-81D6-E772FA410DFC}" type="presParOf" srcId="{481B7DF6-495A-44AB-B90D-1DD2FB38DD82}" destId="{98A1C568-9FA1-4376-BF0A-ADC804DDB5B9}" srcOrd="0" destOrd="0" presId="urn:microsoft.com/office/officeart/2005/8/layout/list1"/>
    <dgm:cxn modelId="{195A7E2D-518A-BF41-B7ED-B4FA33A73452}" type="presParOf" srcId="{481B7DF6-495A-44AB-B90D-1DD2FB38DD82}" destId="{E1B17D41-D56C-43C1-8437-4F01A5ABEACB}" srcOrd="1" destOrd="0" presId="urn:microsoft.com/office/officeart/2005/8/layout/list1"/>
    <dgm:cxn modelId="{1B93B8D1-02DF-614B-9F76-5277E9982241}" type="presParOf" srcId="{6A63A048-63E5-464C-8E7B-30A351DBB8E6}" destId="{41A99BDE-BB7D-4EAA-83E5-DCF5C1396F93}" srcOrd="9" destOrd="0" presId="urn:microsoft.com/office/officeart/2005/8/layout/list1"/>
    <dgm:cxn modelId="{A4154B6E-EE22-7E4A-942B-20694EE61389}" type="presParOf" srcId="{6A63A048-63E5-464C-8E7B-30A351DBB8E6}" destId="{15DC2452-AF7F-4C92-870E-AB8F573B5737}" srcOrd="10" destOrd="0" presId="urn:microsoft.com/office/officeart/2005/8/layout/list1"/>
    <dgm:cxn modelId="{1CD51193-6696-1346-9B58-5428E3345A87}" type="presParOf" srcId="{6A63A048-63E5-464C-8E7B-30A351DBB8E6}" destId="{127E68FD-6D1E-4220-858A-A90AEFE197B9}" srcOrd="11" destOrd="0" presId="urn:microsoft.com/office/officeart/2005/8/layout/list1"/>
    <dgm:cxn modelId="{83039F97-D6FA-DF41-9CF7-961329ACC94E}" type="presParOf" srcId="{6A63A048-63E5-464C-8E7B-30A351DBB8E6}" destId="{AF0BEC7A-0077-4FCB-88FE-24C056EA3E54}" srcOrd="12" destOrd="0" presId="urn:microsoft.com/office/officeart/2005/8/layout/list1"/>
    <dgm:cxn modelId="{CB943A59-85A8-7544-81D9-D5F59B684811}" type="presParOf" srcId="{AF0BEC7A-0077-4FCB-88FE-24C056EA3E54}" destId="{B67E99C6-EAE3-476F-BDB9-C0FBBD7E7F74}" srcOrd="0" destOrd="0" presId="urn:microsoft.com/office/officeart/2005/8/layout/list1"/>
    <dgm:cxn modelId="{2C31911C-8772-FE47-92D8-3B90E53047CD}" type="presParOf" srcId="{AF0BEC7A-0077-4FCB-88FE-24C056EA3E54}" destId="{93C86E5E-E2C7-4471-AAFE-BB6CF2682854}" srcOrd="1" destOrd="0" presId="urn:microsoft.com/office/officeart/2005/8/layout/list1"/>
    <dgm:cxn modelId="{BABE505F-8E1D-FF49-8ED0-D9A92B7E842F}" type="presParOf" srcId="{6A63A048-63E5-464C-8E7B-30A351DBB8E6}" destId="{23CABA97-3732-4B92-9DC7-ACEC2353CE9D}" srcOrd="13" destOrd="0" presId="urn:microsoft.com/office/officeart/2005/8/layout/list1"/>
    <dgm:cxn modelId="{14421BB7-DF4A-EB4F-A915-197A72DEC71B}" type="presParOf" srcId="{6A63A048-63E5-464C-8E7B-30A351DBB8E6}" destId="{13A836B9-D991-431E-9F43-A47C466DD93F}" srcOrd="14"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AB30533-3C7D-4748-8D9F-173FE80F9998}"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US"/>
        </a:p>
      </dgm:t>
    </dgm:pt>
    <dgm:pt modelId="{7338A351-633C-4F66-9FF2-349AC855AEB4}">
      <dgm:prSet phldrT="[Text]" custT="1"/>
      <dgm:spPr/>
      <dgm:t>
        <a:bodyPr/>
        <a:lstStyle/>
        <a:p>
          <a:r>
            <a:rPr lang="en-US" sz="1800" dirty="0"/>
            <a:t>Blunt cutters</a:t>
          </a:r>
        </a:p>
      </dgm:t>
    </dgm:pt>
    <dgm:pt modelId="{BEF77F20-E9D3-4046-87A7-2AA828BA137A}" type="parTrans" cxnId="{D8C66334-942A-4375-810C-63F4AA908089}">
      <dgm:prSet/>
      <dgm:spPr/>
      <dgm:t>
        <a:bodyPr/>
        <a:lstStyle/>
        <a:p>
          <a:endParaRPr lang="en-US" sz="4000"/>
        </a:p>
      </dgm:t>
    </dgm:pt>
    <dgm:pt modelId="{63A9FE03-C6AD-4E34-BB02-54E87EE8433F}" type="sibTrans" cxnId="{D8C66334-942A-4375-810C-63F4AA908089}">
      <dgm:prSet/>
      <dgm:spPr/>
      <dgm:t>
        <a:bodyPr/>
        <a:lstStyle/>
        <a:p>
          <a:endParaRPr lang="en-US" sz="4000"/>
        </a:p>
      </dgm:t>
    </dgm:pt>
    <dgm:pt modelId="{1C60E2FD-9E49-461D-ADD3-5BD41C417905}">
      <dgm:prSet custT="1"/>
      <dgm:spPr/>
      <dgm:t>
        <a:bodyPr/>
        <a:lstStyle/>
        <a:p>
          <a:r>
            <a:rPr lang="en-US" sz="1800" dirty="0" err="1"/>
            <a:t>EcoRV</a:t>
          </a:r>
          <a:r>
            <a:rPr lang="en-US" sz="1800" dirty="0"/>
            <a:t> GAT/ATC</a:t>
          </a:r>
        </a:p>
      </dgm:t>
    </dgm:pt>
    <dgm:pt modelId="{4AC85A01-556D-4A60-8ED0-2613CC6D4402}" type="parTrans" cxnId="{3DA1439F-C4A5-4AD7-905A-7B4910C32B9A}">
      <dgm:prSet/>
      <dgm:spPr/>
      <dgm:t>
        <a:bodyPr/>
        <a:lstStyle/>
        <a:p>
          <a:endParaRPr lang="en-US"/>
        </a:p>
      </dgm:t>
    </dgm:pt>
    <dgm:pt modelId="{4FFAC739-DB79-4E01-B29D-1FF78A266572}" type="sibTrans" cxnId="{3DA1439F-C4A5-4AD7-905A-7B4910C32B9A}">
      <dgm:prSet/>
      <dgm:spPr/>
      <dgm:t>
        <a:bodyPr/>
        <a:lstStyle/>
        <a:p>
          <a:endParaRPr lang="en-US"/>
        </a:p>
      </dgm:t>
    </dgm:pt>
    <dgm:pt modelId="{B43286F3-935C-4C0D-AA72-6C5096B7F29A}">
      <dgm:prSet custT="1"/>
      <dgm:spPr/>
      <dgm:t>
        <a:bodyPr/>
        <a:lstStyle/>
        <a:p>
          <a:r>
            <a:rPr lang="en-US" sz="1800" dirty="0"/>
            <a:t>Others</a:t>
          </a:r>
        </a:p>
      </dgm:t>
    </dgm:pt>
    <dgm:pt modelId="{F3051C5B-488F-4349-9827-687BE08E7D6A}" type="parTrans" cxnId="{571B1D43-F8EB-4B11-9070-395C883E916B}">
      <dgm:prSet/>
      <dgm:spPr/>
      <dgm:t>
        <a:bodyPr/>
        <a:lstStyle/>
        <a:p>
          <a:endParaRPr lang="en-US"/>
        </a:p>
      </dgm:t>
    </dgm:pt>
    <dgm:pt modelId="{9D519534-FF70-4A9D-87F5-9A1E18EEE824}" type="sibTrans" cxnId="{571B1D43-F8EB-4B11-9070-395C883E916B}">
      <dgm:prSet/>
      <dgm:spPr/>
      <dgm:t>
        <a:bodyPr/>
        <a:lstStyle/>
        <a:p>
          <a:endParaRPr lang="en-US"/>
        </a:p>
      </dgm:t>
    </dgm:pt>
    <dgm:pt modelId="{DEC91962-651B-4666-8512-20FD3EBD32E8}">
      <dgm:prSet custT="1"/>
      <dgm:spPr/>
      <dgm:t>
        <a:bodyPr/>
        <a:lstStyle/>
        <a:p>
          <a:r>
            <a:rPr lang="en-US" sz="1800" dirty="0"/>
            <a:t>5bp, 3bp, and 1bp overhangs</a:t>
          </a:r>
        </a:p>
      </dgm:t>
    </dgm:pt>
    <dgm:pt modelId="{0CE1773F-9A13-4754-B140-A4C0B717B1F2}" type="parTrans" cxnId="{EA125000-5FB2-49DA-B3CA-2693F3C7634B}">
      <dgm:prSet/>
      <dgm:spPr/>
      <dgm:t>
        <a:bodyPr/>
        <a:lstStyle/>
        <a:p>
          <a:endParaRPr lang="en-US"/>
        </a:p>
      </dgm:t>
    </dgm:pt>
    <dgm:pt modelId="{47DE4CDE-4873-4C93-A335-44D4FD6D6B3A}" type="sibTrans" cxnId="{EA125000-5FB2-49DA-B3CA-2693F3C7634B}">
      <dgm:prSet/>
      <dgm:spPr/>
      <dgm:t>
        <a:bodyPr/>
        <a:lstStyle/>
        <a:p>
          <a:endParaRPr lang="en-US"/>
        </a:p>
      </dgm:t>
    </dgm:pt>
    <dgm:pt modelId="{2B648578-F269-424D-8347-BB4B53610A66}">
      <dgm:prSet custT="1"/>
      <dgm:spPr/>
      <dgm:t>
        <a:bodyPr/>
        <a:lstStyle/>
        <a:p>
          <a:r>
            <a:rPr lang="en-US" sz="1800" dirty="0"/>
            <a:t>Degenerate cutters</a:t>
          </a:r>
        </a:p>
      </dgm:t>
    </dgm:pt>
    <dgm:pt modelId="{312F6913-6FB9-4EE5-8AB4-E172DFB67249}" type="parTrans" cxnId="{F58B58F1-ED32-4FE1-87D6-10BE669BEEEE}">
      <dgm:prSet/>
      <dgm:spPr/>
      <dgm:t>
        <a:bodyPr/>
        <a:lstStyle/>
        <a:p>
          <a:endParaRPr lang="en-US"/>
        </a:p>
      </dgm:t>
    </dgm:pt>
    <dgm:pt modelId="{E4A47503-2656-4630-996D-2650C7823F3B}" type="sibTrans" cxnId="{F58B58F1-ED32-4FE1-87D6-10BE669BEEEE}">
      <dgm:prSet/>
      <dgm:spPr/>
      <dgm:t>
        <a:bodyPr/>
        <a:lstStyle/>
        <a:p>
          <a:endParaRPr lang="en-US"/>
        </a:p>
      </dgm:t>
    </dgm:pt>
    <dgm:pt modelId="{ACEE88DD-56E9-4EF1-993A-E8A9038A6235}">
      <dgm:prSet custT="1"/>
      <dgm:spPr/>
      <dgm:t>
        <a:bodyPr/>
        <a:lstStyle/>
        <a:p>
          <a:r>
            <a:rPr lang="en-US" sz="1800" dirty="0" err="1"/>
            <a:t>XcmI</a:t>
          </a:r>
          <a:r>
            <a:rPr lang="en-US" sz="1800" dirty="0"/>
            <a:t> CCANNNNN/NNNNTGG</a:t>
          </a:r>
        </a:p>
      </dgm:t>
    </dgm:pt>
    <dgm:pt modelId="{E93B0E9D-EBE8-48E5-8B2A-EE6B26B509FF}" type="parTrans" cxnId="{56B48A9D-E626-4943-8299-B41EDA77607B}">
      <dgm:prSet/>
      <dgm:spPr/>
      <dgm:t>
        <a:bodyPr/>
        <a:lstStyle/>
        <a:p>
          <a:endParaRPr lang="en-US"/>
        </a:p>
      </dgm:t>
    </dgm:pt>
    <dgm:pt modelId="{0B843667-D6E8-411D-8FD8-8B7C80FA66DB}" type="sibTrans" cxnId="{56B48A9D-E626-4943-8299-B41EDA77607B}">
      <dgm:prSet/>
      <dgm:spPr/>
      <dgm:t>
        <a:bodyPr/>
        <a:lstStyle/>
        <a:p>
          <a:endParaRPr lang="en-US"/>
        </a:p>
      </dgm:t>
    </dgm:pt>
    <dgm:pt modelId="{B0B5D93A-AEAC-4830-A70D-AB91CD51FE0E}">
      <dgm:prSet custT="1"/>
      <dgm:spPr/>
      <dgm:t>
        <a:bodyPr/>
        <a:lstStyle/>
        <a:p>
          <a:r>
            <a:rPr lang="en-US" sz="1800" dirty="0" err="1"/>
            <a:t>PvuII CAG/CTG</a:t>
          </a:r>
        </a:p>
      </dgm:t>
    </dgm:pt>
    <dgm:pt modelId="{72348511-956C-47F9-BDA6-941767FA4FB3}" type="parTrans" cxnId="{5D8BF421-EC58-43C4-A688-674D8E6F7096}">
      <dgm:prSet/>
      <dgm:spPr/>
      <dgm:t>
        <a:bodyPr/>
        <a:lstStyle/>
        <a:p>
          <a:endParaRPr lang="en-US"/>
        </a:p>
      </dgm:t>
    </dgm:pt>
    <dgm:pt modelId="{9AD7511F-EC9C-4FE1-B9BB-55C6C580F7A1}" type="sibTrans" cxnId="{5D8BF421-EC58-43C4-A688-674D8E6F7096}">
      <dgm:prSet/>
      <dgm:spPr/>
      <dgm:t>
        <a:bodyPr/>
        <a:lstStyle/>
        <a:p>
          <a:endParaRPr lang="en-US"/>
        </a:p>
      </dgm:t>
    </dgm:pt>
    <dgm:pt modelId="{126B1853-2648-4509-8685-2DBEBAD96908}">
      <dgm:prSet custT="1"/>
      <dgm:spPr/>
      <dgm:t>
        <a:bodyPr/>
        <a:lstStyle/>
        <a:p>
          <a:r>
            <a:rPr lang="en-US" sz="1800" dirty="0" err="1"/>
            <a:t>AlwNI CAGNNN/CTG</a:t>
          </a:r>
        </a:p>
      </dgm:t>
    </dgm:pt>
    <dgm:pt modelId="{AC4A4D6C-D76B-4935-988D-3C2B402EE4B2}" type="parTrans" cxnId="{D6B3E2E8-82A0-45C6-B4C8-5039AA5E3F5B}">
      <dgm:prSet/>
      <dgm:spPr/>
      <dgm:t>
        <a:bodyPr/>
        <a:lstStyle/>
        <a:p>
          <a:endParaRPr lang="en-US"/>
        </a:p>
      </dgm:t>
    </dgm:pt>
    <dgm:pt modelId="{313A632B-641C-4B4E-89F1-0F11C527C639}" type="sibTrans" cxnId="{D6B3E2E8-82A0-45C6-B4C8-5039AA5E3F5B}">
      <dgm:prSet/>
      <dgm:spPr/>
      <dgm:t>
        <a:bodyPr/>
        <a:lstStyle/>
        <a:p>
          <a:endParaRPr lang="en-US"/>
        </a:p>
      </dgm:t>
    </dgm:pt>
    <dgm:pt modelId="{FE6651F0-CD6E-4AE5-AC72-D3689988CCC8}">
      <dgm:prSet custT="1"/>
      <dgm:spPr/>
      <dgm:t>
        <a:bodyPr/>
        <a:lstStyle/>
        <a:p>
          <a:r>
            <a:rPr lang="en-US" sz="1800" dirty="0" err="1"/>
            <a:t>SfiI GGCCNNNN/NGGCC</a:t>
          </a:r>
        </a:p>
      </dgm:t>
    </dgm:pt>
    <dgm:pt modelId="{18510727-69C5-488F-8454-59213A0A7E3D}" type="parTrans" cxnId="{B39CF123-C52A-4312-A249-A5B79C13CA33}">
      <dgm:prSet/>
      <dgm:spPr/>
      <dgm:t>
        <a:bodyPr/>
        <a:lstStyle/>
        <a:p>
          <a:endParaRPr lang="en-US"/>
        </a:p>
      </dgm:t>
    </dgm:pt>
    <dgm:pt modelId="{12B2F391-51E7-430C-B33D-A75F994F37A4}" type="sibTrans" cxnId="{B39CF123-C52A-4312-A249-A5B79C13CA33}">
      <dgm:prSet/>
      <dgm:spPr/>
      <dgm:t>
        <a:bodyPr/>
        <a:lstStyle/>
        <a:p>
          <a:endParaRPr lang="en-US"/>
        </a:p>
      </dgm:t>
    </dgm:pt>
    <dgm:pt modelId="{9B9A8BB8-4847-4AE7-8CA4-E39A5AD9D13F}">
      <dgm:prSet custT="1"/>
      <dgm:spPr/>
      <dgm:t>
        <a:bodyPr/>
        <a:lstStyle/>
        <a:p>
          <a:r>
            <a:rPr lang="en-US" sz="1800" dirty="0" err="1"/>
            <a:t>FalI (8/13) AAGNNNNNCTT (13/8)</a:t>
          </a:r>
        </a:p>
      </dgm:t>
    </dgm:pt>
    <dgm:pt modelId="{EBF638B2-D597-4BAA-A6A9-4F08C6D6802B}" type="parTrans" cxnId="{7D805DAC-6EAB-432C-91B9-6AB6C69B7733}">
      <dgm:prSet/>
      <dgm:spPr/>
      <dgm:t>
        <a:bodyPr/>
        <a:lstStyle/>
        <a:p>
          <a:endParaRPr lang="en-US"/>
        </a:p>
      </dgm:t>
    </dgm:pt>
    <dgm:pt modelId="{90E44050-C6B9-475E-8FA7-0450D8B78465}" type="sibTrans" cxnId="{7D805DAC-6EAB-432C-91B9-6AB6C69B7733}">
      <dgm:prSet/>
      <dgm:spPr/>
      <dgm:t>
        <a:bodyPr/>
        <a:lstStyle/>
        <a:p>
          <a:endParaRPr lang="en-US"/>
        </a:p>
      </dgm:t>
    </dgm:pt>
    <dgm:pt modelId="{6A63A048-63E5-464C-8E7B-30A351DBB8E6}" type="pres">
      <dgm:prSet presAssocID="{7AB30533-3C7D-4748-8D9F-173FE80F9998}" presName="linear" presStyleCnt="0">
        <dgm:presLayoutVars>
          <dgm:dir/>
          <dgm:animLvl val="lvl"/>
          <dgm:resizeHandles val="exact"/>
        </dgm:presLayoutVars>
      </dgm:prSet>
      <dgm:spPr/>
    </dgm:pt>
    <dgm:pt modelId="{5D834D29-A4A5-43D7-ACD1-8A8D86F4287B}" type="pres">
      <dgm:prSet presAssocID="{7338A351-633C-4F66-9FF2-349AC855AEB4}" presName="parentLin" presStyleCnt="0"/>
      <dgm:spPr/>
    </dgm:pt>
    <dgm:pt modelId="{99EB6B71-44F2-4238-BE4D-9A56C1DEDDDE}" type="pres">
      <dgm:prSet presAssocID="{7338A351-633C-4F66-9FF2-349AC855AEB4}" presName="parentLeftMargin" presStyleLbl="node1" presStyleIdx="0" presStyleCnt="3"/>
      <dgm:spPr/>
    </dgm:pt>
    <dgm:pt modelId="{716C2A70-531E-4585-B019-79012931A60B}" type="pres">
      <dgm:prSet presAssocID="{7338A351-633C-4F66-9FF2-349AC855AEB4}" presName="parentText" presStyleLbl="node1" presStyleIdx="0" presStyleCnt="3">
        <dgm:presLayoutVars>
          <dgm:chMax val="0"/>
          <dgm:bulletEnabled val="1"/>
        </dgm:presLayoutVars>
      </dgm:prSet>
      <dgm:spPr/>
    </dgm:pt>
    <dgm:pt modelId="{7943B041-FF6D-4303-A9CC-5112D2837684}" type="pres">
      <dgm:prSet presAssocID="{7338A351-633C-4F66-9FF2-349AC855AEB4}" presName="negativeSpace" presStyleCnt="0"/>
      <dgm:spPr/>
    </dgm:pt>
    <dgm:pt modelId="{77F1EFBC-C22E-4D5D-8261-FE4CC0518EA4}" type="pres">
      <dgm:prSet presAssocID="{7338A351-633C-4F66-9FF2-349AC855AEB4}" presName="childText" presStyleLbl="conFgAcc1" presStyleIdx="0" presStyleCnt="3">
        <dgm:presLayoutVars>
          <dgm:bulletEnabled val="1"/>
        </dgm:presLayoutVars>
      </dgm:prSet>
      <dgm:spPr/>
    </dgm:pt>
    <dgm:pt modelId="{B84ABC31-82D4-4B08-B436-FAE68CF0D831}" type="pres">
      <dgm:prSet presAssocID="{63A9FE03-C6AD-4E34-BB02-54E87EE8433F}" presName="spaceBetweenRectangles" presStyleCnt="0"/>
      <dgm:spPr/>
    </dgm:pt>
    <dgm:pt modelId="{B93B6332-87A7-4ECC-B787-52CAB00080E6}" type="pres">
      <dgm:prSet presAssocID="{B43286F3-935C-4C0D-AA72-6C5096B7F29A}" presName="parentLin" presStyleCnt="0"/>
      <dgm:spPr/>
    </dgm:pt>
    <dgm:pt modelId="{5A0A48AD-F8D8-4767-AEDE-643F0418C9B6}" type="pres">
      <dgm:prSet presAssocID="{B43286F3-935C-4C0D-AA72-6C5096B7F29A}" presName="parentLeftMargin" presStyleLbl="node1" presStyleIdx="0" presStyleCnt="3"/>
      <dgm:spPr/>
    </dgm:pt>
    <dgm:pt modelId="{EA40FEE0-94FD-4A88-B348-7CF0C2AF333F}" type="pres">
      <dgm:prSet presAssocID="{B43286F3-935C-4C0D-AA72-6C5096B7F29A}" presName="parentText" presStyleLbl="node1" presStyleIdx="1" presStyleCnt="3">
        <dgm:presLayoutVars>
          <dgm:chMax val="0"/>
          <dgm:bulletEnabled val="1"/>
        </dgm:presLayoutVars>
      </dgm:prSet>
      <dgm:spPr/>
    </dgm:pt>
    <dgm:pt modelId="{30B1BD1F-A3B9-4AFE-AE00-89BD4A54C939}" type="pres">
      <dgm:prSet presAssocID="{B43286F3-935C-4C0D-AA72-6C5096B7F29A}" presName="negativeSpace" presStyleCnt="0"/>
      <dgm:spPr/>
    </dgm:pt>
    <dgm:pt modelId="{0B6A7E96-4D68-4FF2-BB66-47E72246E9B5}" type="pres">
      <dgm:prSet presAssocID="{B43286F3-935C-4C0D-AA72-6C5096B7F29A}" presName="childText" presStyleLbl="conFgAcc1" presStyleIdx="1" presStyleCnt="3">
        <dgm:presLayoutVars>
          <dgm:bulletEnabled val="1"/>
        </dgm:presLayoutVars>
      </dgm:prSet>
      <dgm:spPr/>
    </dgm:pt>
    <dgm:pt modelId="{7E854158-F854-4022-BD9D-D247A0FBE8B1}" type="pres">
      <dgm:prSet presAssocID="{9D519534-FF70-4A9D-87F5-9A1E18EEE824}" presName="spaceBetweenRectangles" presStyleCnt="0"/>
      <dgm:spPr/>
    </dgm:pt>
    <dgm:pt modelId="{481B7DF6-495A-44AB-B90D-1DD2FB38DD82}" type="pres">
      <dgm:prSet presAssocID="{2B648578-F269-424D-8347-BB4B53610A66}" presName="parentLin" presStyleCnt="0"/>
      <dgm:spPr/>
    </dgm:pt>
    <dgm:pt modelId="{98A1C568-9FA1-4376-BF0A-ADC804DDB5B9}" type="pres">
      <dgm:prSet presAssocID="{2B648578-F269-424D-8347-BB4B53610A66}" presName="parentLeftMargin" presStyleLbl="node1" presStyleIdx="1" presStyleCnt="3"/>
      <dgm:spPr/>
    </dgm:pt>
    <dgm:pt modelId="{E1B17D41-D56C-43C1-8437-4F01A5ABEACB}" type="pres">
      <dgm:prSet presAssocID="{2B648578-F269-424D-8347-BB4B53610A66}" presName="parentText" presStyleLbl="node1" presStyleIdx="2" presStyleCnt="3">
        <dgm:presLayoutVars>
          <dgm:chMax val="0"/>
          <dgm:bulletEnabled val="1"/>
        </dgm:presLayoutVars>
      </dgm:prSet>
      <dgm:spPr/>
    </dgm:pt>
    <dgm:pt modelId="{41A99BDE-BB7D-4EAA-83E5-DCF5C1396F93}" type="pres">
      <dgm:prSet presAssocID="{2B648578-F269-424D-8347-BB4B53610A66}" presName="negativeSpace" presStyleCnt="0"/>
      <dgm:spPr/>
    </dgm:pt>
    <dgm:pt modelId="{15DC2452-AF7F-4C92-870E-AB8F573B5737}" type="pres">
      <dgm:prSet presAssocID="{2B648578-F269-424D-8347-BB4B53610A66}" presName="childText" presStyleLbl="conFgAcc1" presStyleIdx="2" presStyleCnt="3">
        <dgm:presLayoutVars>
          <dgm:bulletEnabled val="1"/>
        </dgm:presLayoutVars>
      </dgm:prSet>
      <dgm:spPr/>
    </dgm:pt>
  </dgm:ptLst>
  <dgm:cxnLst>
    <dgm:cxn modelId="{EA125000-5FB2-49DA-B3CA-2693F3C7634B}" srcId="{B43286F3-935C-4C0D-AA72-6C5096B7F29A}" destId="{DEC91962-651B-4666-8512-20FD3EBD32E8}" srcOrd="0" destOrd="0" parTransId="{0CE1773F-9A13-4754-B140-A4C0B717B1F2}" sibTransId="{47DE4CDE-4873-4C93-A335-44D4FD6D6B3A}"/>
    <dgm:cxn modelId="{D7879004-6B26-5848-B559-D4D605191A24}" type="presOf" srcId="{B43286F3-935C-4C0D-AA72-6C5096B7F29A}" destId="{EA40FEE0-94FD-4A88-B348-7CF0C2AF333F}" srcOrd="1" destOrd="0" presId="urn:microsoft.com/office/officeart/2005/8/layout/list1"/>
    <dgm:cxn modelId="{7F950606-0A58-EF4E-A55D-7D502C8A7B38}" type="presOf" srcId="{9B9A8BB8-4847-4AE7-8CA4-E39A5AD9D13F}" destId="{15DC2452-AF7F-4C92-870E-AB8F573B5737}" srcOrd="0" destOrd="3" presId="urn:microsoft.com/office/officeart/2005/8/layout/list1"/>
    <dgm:cxn modelId="{BE4AC707-9C9E-FF43-B660-CAE8870C0EFE}" type="presOf" srcId="{B43286F3-935C-4C0D-AA72-6C5096B7F29A}" destId="{5A0A48AD-F8D8-4767-AEDE-643F0418C9B6}" srcOrd="0" destOrd="0" presId="urn:microsoft.com/office/officeart/2005/8/layout/list1"/>
    <dgm:cxn modelId="{5D8BF421-EC58-43C4-A688-674D8E6F7096}" srcId="{7338A351-633C-4F66-9FF2-349AC855AEB4}" destId="{B0B5D93A-AEAC-4830-A70D-AB91CD51FE0E}" srcOrd="1" destOrd="0" parTransId="{72348511-956C-47F9-BDA6-941767FA4FB3}" sibTransId="{9AD7511F-EC9C-4FE1-B9BB-55C6C580F7A1}"/>
    <dgm:cxn modelId="{B39CF123-C52A-4312-A249-A5B79C13CA33}" srcId="{2B648578-F269-424D-8347-BB4B53610A66}" destId="{FE6651F0-CD6E-4AE5-AC72-D3689988CCC8}" srcOrd="2" destOrd="0" parTransId="{18510727-69C5-488F-8454-59213A0A7E3D}" sibTransId="{12B2F391-51E7-430C-B33D-A75F994F37A4}"/>
    <dgm:cxn modelId="{D8C66334-942A-4375-810C-63F4AA908089}" srcId="{7AB30533-3C7D-4748-8D9F-173FE80F9998}" destId="{7338A351-633C-4F66-9FF2-349AC855AEB4}" srcOrd="0" destOrd="0" parTransId="{BEF77F20-E9D3-4046-87A7-2AA828BA137A}" sibTransId="{63A9FE03-C6AD-4E34-BB02-54E87EE8433F}"/>
    <dgm:cxn modelId="{571B1D43-F8EB-4B11-9070-395C883E916B}" srcId="{7AB30533-3C7D-4748-8D9F-173FE80F9998}" destId="{B43286F3-935C-4C0D-AA72-6C5096B7F29A}" srcOrd="1" destOrd="0" parTransId="{F3051C5B-488F-4349-9827-687BE08E7D6A}" sibTransId="{9D519534-FF70-4A9D-87F5-9A1E18EEE824}"/>
    <dgm:cxn modelId="{CFE04379-BCAE-2B4C-B33F-2305594A7935}" type="presOf" srcId="{2B648578-F269-424D-8347-BB4B53610A66}" destId="{98A1C568-9FA1-4376-BF0A-ADC804DDB5B9}" srcOrd="0" destOrd="0" presId="urn:microsoft.com/office/officeart/2005/8/layout/list1"/>
    <dgm:cxn modelId="{19C87D89-B007-A842-82BB-E39138A9FD56}" type="presOf" srcId="{126B1853-2648-4509-8685-2DBEBAD96908}" destId="{15DC2452-AF7F-4C92-870E-AB8F573B5737}" srcOrd="0" destOrd="1" presId="urn:microsoft.com/office/officeart/2005/8/layout/list1"/>
    <dgm:cxn modelId="{2D436F8A-3C7F-784E-924E-51AA82195B32}" type="presOf" srcId="{ACEE88DD-56E9-4EF1-993A-E8A9038A6235}" destId="{15DC2452-AF7F-4C92-870E-AB8F573B5737}" srcOrd="0" destOrd="0" presId="urn:microsoft.com/office/officeart/2005/8/layout/list1"/>
    <dgm:cxn modelId="{FA98408D-A719-ED4D-827A-7D7B698015A6}" type="presOf" srcId="{FE6651F0-CD6E-4AE5-AC72-D3689988CCC8}" destId="{15DC2452-AF7F-4C92-870E-AB8F573B5737}" srcOrd="0" destOrd="2" presId="urn:microsoft.com/office/officeart/2005/8/layout/list1"/>
    <dgm:cxn modelId="{56B48A9D-E626-4943-8299-B41EDA77607B}" srcId="{2B648578-F269-424D-8347-BB4B53610A66}" destId="{ACEE88DD-56E9-4EF1-993A-E8A9038A6235}" srcOrd="0" destOrd="0" parTransId="{E93B0E9D-EBE8-48E5-8B2A-EE6B26B509FF}" sibTransId="{0B843667-D6E8-411D-8FD8-8B7C80FA66DB}"/>
    <dgm:cxn modelId="{3DA1439F-C4A5-4AD7-905A-7B4910C32B9A}" srcId="{7338A351-633C-4F66-9FF2-349AC855AEB4}" destId="{1C60E2FD-9E49-461D-ADD3-5BD41C417905}" srcOrd="0" destOrd="0" parTransId="{4AC85A01-556D-4A60-8ED0-2613CC6D4402}" sibTransId="{4FFAC739-DB79-4E01-B29D-1FF78A266572}"/>
    <dgm:cxn modelId="{75635FAB-F942-C24B-AA4F-BA431B9FCF0E}" type="presOf" srcId="{DEC91962-651B-4666-8512-20FD3EBD32E8}" destId="{0B6A7E96-4D68-4FF2-BB66-47E72246E9B5}" srcOrd="0" destOrd="0" presId="urn:microsoft.com/office/officeart/2005/8/layout/list1"/>
    <dgm:cxn modelId="{7D805DAC-6EAB-432C-91B9-6AB6C69B7733}" srcId="{2B648578-F269-424D-8347-BB4B53610A66}" destId="{9B9A8BB8-4847-4AE7-8CA4-E39A5AD9D13F}" srcOrd="3" destOrd="0" parTransId="{EBF638B2-D597-4BAA-A6A9-4F08C6D6802B}" sibTransId="{90E44050-C6B9-475E-8FA7-0450D8B78465}"/>
    <dgm:cxn modelId="{E1705DAD-F635-B448-A4EC-F97AEA0BDD11}" type="presOf" srcId="{7338A351-633C-4F66-9FF2-349AC855AEB4}" destId="{99EB6B71-44F2-4238-BE4D-9A56C1DEDDDE}" srcOrd="0" destOrd="0" presId="urn:microsoft.com/office/officeart/2005/8/layout/list1"/>
    <dgm:cxn modelId="{16A95DB1-8B18-4D4D-8213-B91E79DD77D2}" type="presOf" srcId="{1C60E2FD-9E49-461D-ADD3-5BD41C417905}" destId="{77F1EFBC-C22E-4D5D-8261-FE4CC0518EA4}" srcOrd="0" destOrd="0" presId="urn:microsoft.com/office/officeart/2005/8/layout/list1"/>
    <dgm:cxn modelId="{E34AAAC7-F4F3-2344-9F26-88BD3EECEAE3}" type="presOf" srcId="{7AB30533-3C7D-4748-8D9F-173FE80F9998}" destId="{6A63A048-63E5-464C-8E7B-30A351DBB8E6}" srcOrd="0" destOrd="0" presId="urn:microsoft.com/office/officeart/2005/8/layout/list1"/>
    <dgm:cxn modelId="{8BC0EBD9-D532-A14D-88FD-BDD338CD7EF0}" type="presOf" srcId="{7338A351-633C-4F66-9FF2-349AC855AEB4}" destId="{716C2A70-531E-4585-B019-79012931A60B}" srcOrd="1" destOrd="0" presId="urn:microsoft.com/office/officeart/2005/8/layout/list1"/>
    <dgm:cxn modelId="{FF018EE2-0E63-434F-813A-5FD77705D9AF}" type="presOf" srcId="{2B648578-F269-424D-8347-BB4B53610A66}" destId="{E1B17D41-D56C-43C1-8437-4F01A5ABEACB}" srcOrd="1" destOrd="0" presId="urn:microsoft.com/office/officeart/2005/8/layout/list1"/>
    <dgm:cxn modelId="{104771E6-BB9D-3D4D-BB46-7FE1D67E3B3C}" type="presOf" srcId="{B0B5D93A-AEAC-4830-A70D-AB91CD51FE0E}" destId="{77F1EFBC-C22E-4D5D-8261-FE4CC0518EA4}" srcOrd="0" destOrd="1" presId="urn:microsoft.com/office/officeart/2005/8/layout/list1"/>
    <dgm:cxn modelId="{D6B3E2E8-82A0-45C6-B4C8-5039AA5E3F5B}" srcId="{2B648578-F269-424D-8347-BB4B53610A66}" destId="{126B1853-2648-4509-8685-2DBEBAD96908}" srcOrd="1" destOrd="0" parTransId="{AC4A4D6C-D76B-4935-988D-3C2B402EE4B2}" sibTransId="{313A632B-641C-4B4E-89F1-0F11C527C639}"/>
    <dgm:cxn modelId="{F58B58F1-ED32-4FE1-87D6-10BE669BEEEE}" srcId="{7AB30533-3C7D-4748-8D9F-173FE80F9998}" destId="{2B648578-F269-424D-8347-BB4B53610A66}" srcOrd="2" destOrd="0" parTransId="{312F6913-6FB9-4EE5-8AB4-E172DFB67249}" sibTransId="{E4A47503-2656-4630-996D-2650C7823F3B}"/>
    <dgm:cxn modelId="{3887C244-FE33-9347-A15D-A0B936866308}" type="presParOf" srcId="{6A63A048-63E5-464C-8E7B-30A351DBB8E6}" destId="{5D834D29-A4A5-43D7-ACD1-8A8D86F4287B}" srcOrd="0" destOrd="0" presId="urn:microsoft.com/office/officeart/2005/8/layout/list1"/>
    <dgm:cxn modelId="{EE616C12-D480-8F4D-A752-D931DC459B58}" type="presParOf" srcId="{5D834D29-A4A5-43D7-ACD1-8A8D86F4287B}" destId="{99EB6B71-44F2-4238-BE4D-9A56C1DEDDDE}" srcOrd="0" destOrd="0" presId="urn:microsoft.com/office/officeart/2005/8/layout/list1"/>
    <dgm:cxn modelId="{0D311C36-9519-AB48-BF6D-7709B2C41F48}" type="presParOf" srcId="{5D834D29-A4A5-43D7-ACD1-8A8D86F4287B}" destId="{716C2A70-531E-4585-B019-79012931A60B}" srcOrd="1" destOrd="0" presId="urn:microsoft.com/office/officeart/2005/8/layout/list1"/>
    <dgm:cxn modelId="{00A808B9-712E-214D-9EB1-1ED748F34C94}" type="presParOf" srcId="{6A63A048-63E5-464C-8E7B-30A351DBB8E6}" destId="{7943B041-FF6D-4303-A9CC-5112D2837684}" srcOrd="1" destOrd="0" presId="urn:microsoft.com/office/officeart/2005/8/layout/list1"/>
    <dgm:cxn modelId="{D3896A34-D20E-1447-B07B-3E6597C00FBC}" type="presParOf" srcId="{6A63A048-63E5-464C-8E7B-30A351DBB8E6}" destId="{77F1EFBC-C22E-4D5D-8261-FE4CC0518EA4}" srcOrd="2" destOrd="0" presId="urn:microsoft.com/office/officeart/2005/8/layout/list1"/>
    <dgm:cxn modelId="{7EEC603D-106B-3644-B332-831BB9328DC5}" type="presParOf" srcId="{6A63A048-63E5-464C-8E7B-30A351DBB8E6}" destId="{B84ABC31-82D4-4B08-B436-FAE68CF0D831}" srcOrd="3" destOrd="0" presId="urn:microsoft.com/office/officeart/2005/8/layout/list1"/>
    <dgm:cxn modelId="{359FE668-0621-AF47-A82C-4A669879432E}" type="presParOf" srcId="{6A63A048-63E5-464C-8E7B-30A351DBB8E6}" destId="{B93B6332-87A7-4ECC-B787-52CAB00080E6}" srcOrd="4" destOrd="0" presId="urn:microsoft.com/office/officeart/2005/8/layout/list1"/>
    <dgm:cxn modelId="{FCC812A8-D93C-F74D-83AD-84BED688FB12}" type="presParOf" srcId="{B93B6332-87A7-4ECC-B787-52CAB00080E6}" destId="{5A0A48AD-F8D8-4767-AEDE-643F0418C9B6}" srcOrd="0" destOrd="0" presId="urn:microsoft.com/office/officeart/2005/8/layout/list1"/>
    <dgm:cxn modelId="{9DA88D16-8147-5440-AE7B-2085F43DDF7B}" type="presParOf" srcId="{B93B6332-87A7-4ECC-B787-52CAB00080E6}" destId="{EA40FEE0-94FD-4A88-B348-7CF0C2AF333F}" srcOrd="1" destOrd="0" presId="urn:microsoft.com/office/officeart/2005/8/layout/list1"/>
    <dgm:cxn modelId="{C5C86EC6-6FB7-D148-86F4-1074AD725072}" type="presParOf" srcId="{6A63A048-63E5-464C-8E7B-30A351DBB8E6}" destId="{30B1BD1F-A3B9-4AFE-AE00-89BD4A54C939}" srcOrd="5" destOrd="0" presId="urn:microsoft.com/office/officeart/2005/8/layout/list1"/>
    <dgm:cxn modelId="{5DCE8331-0CA5-0644-8E84-88C687056E94}" type="presParOf" srcId="{6A63A048-63E5-464C-8E7B-30A351DBB8E6}" destId="{0B6A7E96-4D68-4FF2-BB66-47E72246E9B5}" srcOrd="6" destOrd="0" presId="urn:microsoft.com/office/officeart/2005/8/layout/list1"/>
    <dgm:cxn modelId="{A8450920-18BE-2649-B2C1-E682C51C378C}" type="presParOf" srcId="{6A63A048-63E5-464C-8E7B-30A351DBB8E6}" destId="{7E854158-F854-4022-BD9D-D247A0FBE8B1}" srcOrd="7" destOrd="0" presId="urn:microsoft.com/office/officeart/2005/8/layout/list1"/>
    <dgm:cxn modelId="{0546DB15-D4FE-9940-8A13-6304AEAA7E24}" type="presParOf" srcId="{6A63A048-63E5-464C-8E7B-30A351DBB8E6}" destId="{481B7DF6-495A-44AB-B90D-1DD2FB38DD82}" srcOrd="8" destOrd="0" presId="urn:microsoft.com/office/officeart/2005/8/layout/list1"/>
    <dgm:cxn modelId="{058F466B-2A4F-3140-84A3-C76B850192C3}" type="presParOf" srcId="{481B7DF6-495A-44AB-B90D-1DD2FB38DD82}" destId="{98A1C568-9FA1-4376-BF0A-ADC804DDB5B9}" srcOrd="0" destOrd="0" presId="urn:microsoft.com/office/officeart/2005/8/layout/list1"/>
    <dgm:cxn modelId="{EDA4C146-8FD6-4342-AA1C-353F5ADDA20D}" type="presParOf" srcId="{481B7DF6-495A-44AB-B90D-1DD2FB38DD82}" destId="{E1B17D41-D56C-43C1-8437-4F01A5ABEACB}" srcOrd="1" destOrd="0" presId="urn:microsoft.com/office/officeart/2005/8/layout/list1"/>
    <dgm:cxn modelId="{C29ECD2E-6955-9B48-B394-38C5BD12CBD6}" type="presParOf" srcId="{6A63A048-63E5-464C-8E7B-30A351DBB8E6}" destId="{41A99BDE-BB7D-4EAA-83E5-DCF5C1396F93}" srcOrd="9" destOrd="0" presId="urn:microsoft.com/office/officeart/2005/8/layout/list1"/>
    <dgm:cxn modelId="{6B99A6A9-805E-D440-BFA8-31382A0ACF6B}" type="presParOf" srcId="{6A63A048-63E5-464C-8E7B-30A351DBB8E6}" destId="{15DC2452-AF7F-4C92-870E-AB8F573B5737}" srcOrd="10" destOrd="0" presId="urn:microsoft.com/office/officeart/2005/8/layout/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F1EFBC-C22E-4D5D-8261-FE4CC0518EA4}">
      <dsp:nvSpPr>
        <dsp:cNvPr id="0" name=""/>
        <dsp:cNvSpPr/>
      </dsp:nvSpPr>
      <dsp:spPr>
        <a:xfrm>
          <a:off x="0" y="208365"/>
          <a:ext cx="6553200" cy="1801799"/>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08601" tIns="229108" rIns="508601"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RMS systems (3 subunit proteins)</a:t>
          </a:r>
        </a:p>
        <a:p>
          <a:pPr marL="171450" lvl="1" indent="-171450" algn="l" defTabSz="800100">
            <a:lnSpc>
              <a:spcPct val="90000"/>
            </a:lnSpc>
            <a:spcBef>
              <a:spcPct val="0"/>
            </a:spcBef>
            <a:spcAft>
              <a:spcPct val="15000"/>
            </a:spcAft>
            <a:buChar char="•"/>
          </a:pPr>
          <a:r>
            <a:rPr lang="en-US" sz="1800" kern="1200" dirty="0"/>
            <a:t>Typically named </a:t>
          </a:r>
          <a:r>
            <a:rPr lang="en-US" sz="1800" kern="1200" dirty="0" err="1"/>
            <a:t>HsdR</a:t>
          </a:r>
          <a:r>
            <a:rPr lang="en-US" sz="1800" kern="1200" dirty="0"/>
            <a:t>, </a:t>
          </a:r>
          <a:r>
            <a:rPr lang="en-US" sz="1800" kern="1200" dirty="0" err="1"/>
            <a:t>HsdM</a:t>
          </a:r>
          <a:r>
            <a:rPr lang="en-US" sz="1800" kern="1200" dirty="0"/>
            <a:t>, and </a:t>
          </a:r>
          <a:r>
            <a:rPr lang="en-US" sz="1800" kern="1200" dirty="0" err="1"/>
            <a:t>HsdS</a:t>
          </a:r>
          <a:endParaRPr lang="en-US" sz="1800" kern="1200" dirty="0"/>
        </a:p>
        <a:p>
          <a:pPr marL="171450" lvl="1" indent="-171450" algn="l" defTabSz="800100">
            <a:lnSpc>
              <a:spcPct val="90000"/>
            </a:lnSpc>
            <a:spcBef>
              <a:spcPct val="0"/>
            </a:spcBef>
            <a:spcAft>
              <a:spcPct val="15000"/>
            </a:spcAft>
            <a:buChar char="•"/>
          </a:pPr>
          <a:r>
            <a:rPr lang="en-US" sz="1800" kern="1200" dirty="0"/>
            <a:t>Generally not sequence specific</a:t>
          </a:r>
        </a:p>
        <a:p>
          <a:pPr marL="171450" lvl="1" indent="-171450" algn="l" defTabSz="800100">
            <a:lnSpc>
              <a:spcPct val="90000"/>
            </a:lnSpc>
            <a:spcBef>
              <a:spcPct val="0"/>
            </a:spcBef>
            <a:spcAft>
              <a:spcPct val="15000"/>
            </a:spcAft>
            <a:buChar char="•"/>
          </a:pPr>
          <a:r>
            <a:rPr lang="en-US" sz="1800" kern="1200" dirty="0"/>
            <a:t>Not used in vitro</a:t>
          </a:r>
        </a:p>
        <a:p>
          <a:pPr marL="171450" lvl="1" indent="-171450" algn="l" defTabSz="800100">
            <a:lnSpc>
              <a:spcPct val="90000"/>
            </a:lnSpc>
            <a:spcBef>
              <a:spcPct val="0"/>
            </a:spcBef>
            <a:spcAft>
              <a:spcPct val="15000"/>
            </a:spcAft>
            <a:buChar char="•"/>
          </a:pPr>
          <a:r>
            <a:rPr lang="en-US" sz="1800" kern="1200" dirty="0"/>
            <a:t>Usually knocked out</a:t>
          </a:r>
        </a:p>
      </dsp:txBody>
      <dsp:txXfrm>
        <a:off x="0" y="208365"/>
        <a:ext cx="6553200" cy="1801799"/>
      </dsp:txXfrm>
    </dsp:sp>
    <dsp:sp modelId="{716C2A70-531E-4585-B019-79012931A60B}">
      <dsp:nvSpPr>
        <dsp:cNvPr id="0" name=""/>
        <dsp:cNvSpPr/>
      </dsp:nvSpPr>
      <dsp:spPr>
        <a:xfrm>
          <a:off x="327660" y="46005"/>
          <a:ext cx="4587239" cy="32472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3387" tIns="0" rIns="173387" bIns="0" numCol="1" spcCol="1270" anchor="ctr" anchorCtr="0">
          <a:noAutofit/>
        </a:bodyPr>
        <a:lstStyle/>
        <a:p>
          <a:pPr marL="0" lvl="0" indent="0" algn="l" defTabSz="800100">
            <a:lnSpc>
              <a:spcPct val="90000"/>
            </a:lnSpc>
            <a:spcBef>
              <a:spcPct val="0"/>
            </a:spcBef>
            <a:spcAft>
              <a:spcPct val="35000"/>
            </a:spcAft>
            <a:buNone/>
          </a:pPr>
          <a:r>
            <a:rPr lang="en-US" sz="1800" kern="1200" dirty="0"/>
            <a:t>Type I</a:t>
          </a:r>
        </a:p>
      </dsp:txBody>
      <dsp:txXfrm>
        <a:off x="343512" y="61857"/>
        <a:ext cx="4555535" cy="293016"/>
      </dsp:txXfrm>
    </dsp:sp>
    <dsp:sp modelId="{766F42E4-5029-448B-8723-417371CE0B17}">
      <dsp:nvSpPr>
        <dsp:cNvPr id="0" name=""/>
        <dsp:cNvSpPr/>
      </dsp:nvSpPr>
      <dsp:spPr>
        <a:xfrm>
          <a:off x="0" y="2231924"/>
          <a:ext cx="6553200" cy="918224"/>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08601" tIns="229108" rIns="508601"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Cleave at specific DNA sequences</a:t>
          </a:r>
        </a:p>
        <a:p>
          <a:pPr marL="171450" lvl="1" indent="-171450" algn="l" defTabSz="800100">
            <a:lnSpc>
              <a:spcPct val="90000"/>
            </a:lnSpc>
            <a:spcBef>
              <a:spcPct val="0"/>
            </a:spcBef>
            <a:spcAft>
              <a:spcPct val="15000"/>
            </a:spcAft>
            <a:buChar char="•"/>
          </a:pPr>
          <a:r>
            <a:rPr lang="en-US" sz="1800" kern="1200" dirty="0"/>
            <a:t>We’ll go through these in detail</a:t>
          </a:r>
        </a:p>
      </dsp:txBody>
      <dsp:txXfrm>
        <a:off x="0" y="2231924"/>
        <a:ext cx="6553200" cy="918224"/>
      </dsp:txXfrm>
    </dsp:sp>
    <dsp:sp modelId="{D967E2D1-43D6-4499-ADD6-6E45DFA129AC}">
      <dsp:nvSpPr>
        <dsp:cNvPr id="0" name=""/>
        <dsp:cNvSpPr/>
      </dsp:nvSpPr>
      <dsp:spPr>
        <a:xfrm>
          <a:off x="327660" y="2069564"/>
          <a:ext cx="4587239" cy="32472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3387" tIns="0" rIns="173387" bIns="0" numCol="1" spcCol="1270" anchor="ctr" anchorCtr="0">
          <a:noAutofit/>
        </a:bodyPr>
        <a:lstStyle/>
        <a:p>
          <a:pPr marL="0" lvl="0" indent="0" algn="l" defTabSz="800100">
            <a:lnSpc>
              <a:spcPct val="90000"/>
            </a:lnSpc>
            <a:spcBef>
              <a:spcPct val="0"/>
            </a:spcBef>
            <a:spcAft>
              <a:spcPct val="35000"/>
            </a:spcAft>
            <a:buNone/>
          </a:pPr>
          <a:r>
            <a:rPr lang="en-US" sz="1800" kern="1200" dirty="0"/>
            <a:t>Type II</a:t>
          </a:r>
        </a:p>
      </dsp:txBody>
      <dsp:txXfrm>
        <a:off x="343512" y="2085416"/>
        <a:ext cx="4555535" cy="293016"/>
      </dsp:txXfrm>
    </dsp:sp>
    <dsp:sp modelId="{93A25796-833B-4B27-9F27-37188C4F03DE}">
      <dsp:nvSpPr>
        <dsp:cNvPr id="0" name=""/>
        <dsp:cNvSpPr/>
      </dsp:nvSpPr>
      <dsp:spPr>
        <a:xfrm>
          <a:off x="0" y="3371910"/>
          <a:ext cx="6553200" cy="623700"/>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08601" tIns="229108" rIns="508601"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Sequence-specific, but not in common use</a:t>
          </a:r>
        </a:p>
      </dsp:txBody>
      <dsp:txXfrm>
        <a:off x="0" y="3371910"/>
        <a:ext cx="6553200" cy="623700"/>
      </dsp:txXfrm>
    </dsp:sp>
    <dsp:sp modelId="{9C369214-7A6F-4277-B303-E695E9ACFC1F}">
      <dsp:nvSpPr>
        <dsp:cNvPr id="0" name=""/>
        <dsp:cNvSpPr/>
      </dsp:nvSpPr>
      <dsp:spPr>
        <a:xfrm>
          <a:off x="327660" y="3209550"/>
          <a:ext cx="4587239" cy="32472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3387" tIns="0" rIns="173387" bIns="0" numCol="1" spcCol="1270" anchor="ctr" anchorCtr="0">
          <a:noAutofit/>
        </a:bodyPr>
        <a:lstStyle/>
        <a:p>
          <a:pPr marL="0" lvl="0" indent="0" algn="l" defTabSz="800100">
            <a:lnSpc>
              <a:spcPct val="90000"/>
            </a:lnSpc>
            <a:spcBef>
              <a:spcPct val="0"/>
            </a:spcBef>
            <a:spcAft>
              <a:spcPct val="35000"/>
            </a:spcAft>
            <a:buNone/>
          </a:pPr>
          <a:r>
            <a:rPr lang="en-US" sz="1800" kern="1200" dirty="0"/>
            <a:t>Type III</a:t>
          </a:r>
        </a:p>
      </dsp:txBody>
      <dsp:txXfrm>
        <a:off x="343512" y="3225402"/>
        <a:ext cx="4555535" cy="293016"/>
      </dsp:txXfrm>
    </dsp:sp>
    <dsp:sp modelId="{2DA49B06-80E0-4BFD-BE5D-9A92784C7F1C}">
      <dsp:nvSpPr>
        <dsp:cNvPr id="0" name=""/>
        <dsp:cNvSpPr/>
      </dsp:nvSpPr>
      <dsp:spPr>
        <a:xfrm>
          <a:off x="0" y="4217370"/>
          <a:ext cx="6553200" cy="918224"/>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08601" tIns="229108" rIns="508601"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Cleave modified (</a:t>
          </a:r>
          <a:r>
            <a:rPr lang="en-US" sz="1800" kern="1200" dirty="0" err="1"/>
            <a:t>methylated</a:t>
          </a:r>
          <a:r>
            <a:rPr lang="en-US" sz="1800" kern="1200" dirty="0"/>
            <a:t>, etc.) DNA</a:t>
          </a:r>
        </a:p>
        <a:p>
          <a:pPr marL="171450" lvl="1" indent="-171450" algn="l" defTabSz="800100">
            <a:lnSpc>
              <a:spcPct val="90000"/>
            </a:lnSpc>
            <a:spcBef>
              <a:spcPct val="0"/>
            </a:spcBef>
            <a:spcAft>
              <a:spcPct val="15000"/>
            </a:spcAft>
            <a:buChar char="•"/>
          </a:pPr>
          <a:r>
            <a:rPr lang="en-US" sz="1800" kern="1200" dirty="0" err="1"/>
            <a:t>McrA</a:t>
          </a:r>
          <a:r>
            <a:rPr lang="en-US" sz="1800" kern="1200" dirty="0"/>
            <a:t>, </a:t>
          </a:r>
          <a:r>
            <a:rPr lang="en-US" sz="1800" kern="1200" dirty="0" err="1"/>
            <a:t>McrBC</a:t>
          </a:r>
          <a:r>
            <a:rPr lang="en-US" sz="1800" kern="1200" dirty="0"/>
            <a:t> and </a:t>
          </a:r>
          <a:r>
            <a:rPr lang="en-US" sz="1800" kern="1200" dirty="0" err="1"/>
            <a:t>Mrr</a:t>
          </a:r>
          <a:r>
            <a:rPr lang="en-US" sz="1800" kern="1200" dirty="0"/>
            <a:t>, usually knocked out</a:t>
          </a:r>
        </a:p>
      </dsp:txBody>
      <dsp:txXfrm>
        <a:off x="0" y="4217370"/>
        <a:ext cx="6553200" cy="918224"/>
      </dsp:txXfrm>
    </dsp:sp>
    <dsp:sp modelId="{E887998A-8EFB-43F8-A3AE-5F6EE9119DEC}">
      <dsp:nvSpPr>
        <dsp:cNvPr id="0" name=""/>
        <dsp:cNvSpPr/>
      </dsp:nvSpPr>
      <dsp:spPr>
        <a:xfrm>
          <a:off x="327660" y="4055010"/>
          <a:ext cx="4587239" cy="32472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3387" tIns="0" rIns="173387" bIns="0" numCol="1" spcCol="1270" anchor="ctr" anchorCtr="0">
          <a:noAutofit/>
        </a:bodyPr>
        <a:lstStyle/>
        <a:p>
          <a:pPr marL="0" lvl="0" indent="0" algn="l" defTabSz="800100">
            <a:lnSpc>
              <a:spcPct val="90000"/>
            </a:lnSpc>
            <a:spcBef>
              <a:spcPct val="0"/>
            </a:spcBef>
            <a:spcAft>
              <a:spcPct val="35000"/>
            </a:spcAft>
            <a:buNone/>
          </a:pPr>
          <a:r>
            <a:rPr lang="en-US" sz="1800" kern="1200" dirty="0"/>
            <a:t>Type IV</a:t>
          </a:r>
        </a:p>
      </dsp:txBody>
      <dsp:txXfrm>
        <a:off x="343512" y="4070862"/>
        <a:ext cx="4555535" cy="2930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F1EFBC-C22E-4D5D-8261-FE4CC0518EA4}">
      <dsp:nvSpPr>
        <dsp:cNvPr id="0" name=""/>
        <dsp:cNvSpPr/>
      </dsp:nvSpPr>
      <dsp:spPr>
        <a:xfrm>
          <a:off x="0" y="223012"/>
          <a:ext cx="2667000" cy="1299375"/>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6989" tIns="312420" rIns="206989"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BamHI G/GATCC</a:t>
          </a:r>
        </a:p>
        <a:p>
          <a:pPr marL="171450" lvl="1" indent="-171450" algn="l" defTabSz="800100">
            <a:lnSpc>
              <a:spcPct val="90000"/>
            </a:lnSpc>
            <a:spcBef>
              <a:spcPct val="0"/>
            </a:spcBef>
            <a:spcAft>
              <a:spcPct val="15000"/>
            </a:spcAft>
            <a:buChar char="•"/>
          </a:pPr>
          <a:r>
            <a:rPr lang="en-US" sz="1800" kern="1200"/>
            <a:t>XbaI T/CTAGA</a:t>
          </a:r>
        </a:p>
        <a:p>
          <a:pPr marL="171450" lvl="1" indent="-171450" algn="l" defTabSz="800100">
            <a:lnSpc>
              <a:spcPct val="90000"/>
            </a:lnSpc>
            <a:spcBef>
              <a:spcPct val="0"/>
            </a:spcBef>
            <a:spcAft>
              <a:spcPct val="15000"/>
            </a:spcAft>
            <a:buChar char="•"/>
          </a:pPr>
          <a:r>
            <a:rPr lang="en-US" sz="1800" kern="1200" dirty="0" err="1"/>
            <a:t>EcoRI</a:t>
          </a:r>
          <a:r>
            <a:rPr lang="en-US" sz="1800" kern="1200" dirty="0"/>
            <a:t> G/AATTC</a:t>
          </a:r>
        </a:p>
      </dsp:txBody>
      <dsp:txXfrm>
        <a:off x="0" y="223012"/>
        <a:ext cx="2667000" cy="1299375"/>
      </dsp:txXfrm>
    </dsp:sp>
    <dsp:sp modelId="{716C2A70-531E-4585-B019-79012931A60B}">
      <dsp:nvSpPr>
        <dsp:cNvPr id="0" name=""/>
        <dsp:cNvSpPr/>
      </dsp:nvSpPr>
      <dsp:spPr>
        <a:xfrm>
          <a:off x="133350" y="1612"/>
          <a:ext cx="1866899" cy="44280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0564" tIns="0" rIns="70564" bIns="0" numCol="1" spcCol="1270" anchor="ctr" anchorCtr="0">
          <a:noAutofit/>
        </a:bodyPr>
        <a:lstStyle/>
        <a:p>
          <a:pPr marL="0" lvl="0" indent="0" algn="l" defTabSz="800100">
            <a:lnSpc>
              <a:spcPct val="90000"/>
            </a:lnSpc>
            <a:spcBef>
              <a:spcPct val="0"/>
            </a:spcBef>
            <a:spcAft>
              <a:spcPct val="35000"/>
            </a:spcAft>
            <a:buNone/>
          </a:pPr>
          <a:r>
            <a:rPr lang="en-US" sz="1800" kern="1200" dirty="0"/>
            <a:t>5’ 4bp Overhang</a:t>
          </a:r>
        </a:p>
      </dsp:txBody>
      <dsp:txXfrm>
        <a:off x="154966" y="23228"/>
        <a:ext cx="1823667" cy="3995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F1EFBC-C22E-4D5D-8261-FE4CC0518EA4}">
      <dsp:nvSpPr>
        <dsp:cNvPr id="0" name=""/>
        <dsp:cNvSpPr/>
      </dsp:nvSpPr>
      <dsp:spPr>
        <a:xfrm>
          <a:off x="0" y="301110"/>
          <a:ext cx="2667000" cy="1376550"/>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6989" tIns="395732" rIns="206989"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BamHI G/GATCC</a:t>
          </a:r>
        </a:p>
        <a:p>
          <a:pPr marL="171450" lvl="1" indent="-171450" algn="l" defTabSz="800100">
            <a:lnSpc>
              <a:spcPct val="90000"/>
            </a:lnSpc>
            <a:spcBef>
              <a:spcPct val="0"/>
            </a:spcBef>
            <a:spcAft>
              <a:spcPct val="15000"/>
            </a:spcAft>
            <a:buChar char="•"/>
          </a:pPr>
          <a:r>
            <a:rPr lang="en-US" sz="1800" kern="1200"/>
            <a:t>XbaI T/CTAGA</a:t>
          </a:r>
        </a:p>
        <a:p>
          <a:pPr marL="171450" lvl="1" indent="-171450" algn="l" defTabSz="800100">
            <a:lnSpc>
              <a:spcPct val="90000"/>
            </a:lnSpc>
            <a:spcBef>
              <a:spcPct val="0"/>
            </a:spcBef>
            <a:spcAft>
              <a:spcPct val="15000"/>
            </a:spcAft>
            <a:buChar char="•"/>
          </a:pPr>
          <a:r>
            <a:rPr lang="en-US" sz="1800" kern="1200" dirty="0" err="1"/>
            <a:t>EcoRI</a:t>
          </a:r>
          <a:r>
            <a:rPr lang="en-US" sz="1800" kern="1200" dirty="0"/>
            <a:t> G/AATTC</a:t>
          </a:r>
        </a:p>
      </dsp:txBody>
      <dsp:txXfrm>
        <a:off x="0" y="301110"/>
        <a:ext cx="2667000" cy="1376550"/>
      </dsp:txXfrm>
    </dsp:sp>
    <dsp:sp modelId="{716C2A70-531E-4585-B019-79012931A60B}">
      <dsp:nvSpPr>
        <dsp:cNvPr id="0" name=""/>
        <dsp:cNvSpPr/>
      </dsp:nvSpPr>
      <dsp:spPr>
        <a:xfrm>
          <a:off x="133350" y="20670"/>
          <a:ext cx="1866899" cy="560879"/>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0564" tIns="0" rIns="70564" bIns="0" numCol="1" spcCol="1270" anchor="ctr" anchorCtr="0">
          <a:noAutofit/>
        </a:bodyPr>
        <a:lstStyle/>
        <a:p>
          <a:pPr marL="0" lvl="0" indent="0" algn="l" defTabSz="800100">
            <a:lnSpc>
              <a:spcPct val="90000"/>
            </a:lnSpc>
            <a:spcBef>
              <a:spcPct val="0"/>
            </a:spcBef>
            <a:spcAft>
              <a:spcPct val="35000"/>
            </a:spcAft>
            <a:buNone/>
          </a:pPr>
          <a:r>
            <a:rPr lang="en-US" sz="1800" kern="1200" dirty="0"/>
            <a:t>5’ 4bp Overhang</a:t>
          </a:r>
        </a:p>
      </dsp:txBody>
      <dsp:txXfrm>
        <a:off x="160730" y="48050"/>
        <a:ext cx="1812139" cy="506119"/>
      </dsp:txXfrm>
    </dsp:sp>
    <dsp:sp modelId="{0B6A7E96-4D68-4FF2-BB66-47E72246E9B5}">
      <dsp:nvSpPr>
        <dsp:cNvPr id="0" name=""/>
        <dsp:cNvSpPr/>
      </dsp:nvSpPr>
      <dsp:spPr>
        <a:xfrm>
          <a:off x="0" y="2060700"/>
          <a:ext cx="2667000" cy="778049"/>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6989" tIns="395732" rIns="206989"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PstI CTGCA/G</a:t>
          </a:r>
        </a:p>
      </dsp:txBody>
      <dsp:txXfrm>
        <a:off x="0" y="2060700"/>
        <a:ext cx="2667000" cy="778049"/>
      </dsp:txXfrm>
    </dsp:sp>
    <dsp:sp modelId="{EA40FEE0-94FD-4A88-B348-7CF0C2AF333F}">
      <dsp:nvSpPr>
        <dsp:cNvPr id="0" name=""/>
        <dsp:cNvSpPr/>
      </dsp:nvSpPr>
      <dsp:spPr>
        <a:xfrm>
          <a:off x="133350" y="1780260"/>
          <a:ext cx="1866899" cy="560879"/>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0564" tIns="0" rIns="70564" bIns="0" numCol="1" spcCol="1270" anchor="ctr" anchorCtr="0">
          <a:noAutofit/>
        </a:bodyPr>
        <a:lstStyle/>
        <a:p>
          <a:pPr marL="0" lvl="0" indent="0" algn="l" defTabSz="800100">
            <a:lnSpc>
              <a:spcPct val="90000"/>
            </a:lnSpc>
            <a:spcBef>
              <a:spcPct val="0"/>
            </a:spcBef>
            <a:spcAft>
              <a:spcPct val="35000"/>
            </a:spcAft>
            <a:buNone/>
          </a:pPr>
          <a:r>
            <a:rPr lang="en-US" sz="1800" kern="1200" dirty="0"/>
            <a:t>3' 4bp Overhang</a:t>
          </a:r>
        </a:p>
      </dsp:txBody>
      <dsp:txXfrm>
        <a:off x="160730" y="1807640"/>
        <a:ext cx="1812139" cy="506119"/>
      </dsp:txXfrm>
    </dsp:sp>
    <dsp:sp modelId="{15DC2452-AF7F-4C92-870E-AB8F573B5737}">
      <dsp:nvSpPr>
        <dsp:cNvPr id="0" name=""/>
        <dsp:cNvSpPr/>
      </dsp:nvSpPr>
      <dsp:spPr>
        <a:xfrm>
          <a:off x="0" y="3221790"/>
          <a:ext cx="2667000" cy="778049"/>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6989" tIns="395732" rIns="206989"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err="1"/>
            <a:t>NdeI</a:t>
          </a:r>
          <a:r>
            <a:rPr lang="en-US" sz="1800" kern="1200" dirty="0"/>
            <a:t> CA/TATG</a:t>
          </a:r>
        </a:p>
      </dsp:txBody>
      <dsp:txXfrm>
        <a:off x="0" y="3221790"/>
        <a:ext cx="2667000" cy="778049"/>
      </dsp:txXfrm>
    </dsp:sp>
    <dsp:sp modelId="{E1B17D41-D56C-43C1-8437-4F01A5ABEACB}">
      <dsp:nvSpPr>
        <dsp:cNvPr id="0" name=""/>
        <dsp:cNvSpPr/>
      </dsp:nvSpPr>
      <dsp:spPr>
        <a:xfrm>
          <a:off x="133350" y="2941350"/>
          <a:ext cx="1866899" cy="560879"/>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0564" tIns="0" rIns="70564" bIns="0" numCol="1" spcCol="1270" anchor="ctr" anchorCtr="0">
          <a:noAutofit/>
        </a:bodyPr>
        <a:lstStyle/>
        <a:p>
          <a:pPr marL="0" lvl="0" indent="0" algn="l" defTabSz="800100">
            <a:lnSpc>
              <a:spcPct val="90000"/>
            </a:lnSpc>
            <a:spcBef>
              <a:spcPct val="0"/>
            </a:spcBef>
            <a:spcAft>
              <a:spcPct val="35000"/>
            </a:spcAft>
            <a:buNone/>
          </a:pPr>
          <a:r>
            <a:rPr lang="en-US" sz="1800" kern="1200"/>
            <a:t>5' 2bp Overhang</a:t>
          </a:r>
        </a:p>
      </dsp:txBody>
      <dsp:txXfrm>
        <a:off x="160730" y="2968730"/>
        <a:ext cx="1812139" cy="506119"/>
      </dsp:txXfrm>
    </dsp:sp>
    <dsp:sp modelId="{13A836B9-D991-431E-9F43-A47C466DD93F}">
      <dsp:nvSpPr>
        <dsp:cNvPr id="0" name=""/>
        <dsp:cNvSpPr/>
      </dsp:nvSpPr>
      <dsp:spPr>
        <a:xfrm>
          <a:off x="0" y="4382880"/>
          <a:ext cx="2667000" cy="778049"/>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6989" tIns="395732" rIns="206989"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err="1"/>
            <a:t>PacI</a:t>
          </a:r>
          <a:r>
            <a:rPr lang="en-US" sz="1800" kern="1200" dirty="0"/>
            <a:t> TTAAT/TAA</a:t>
          </a:r>
        </a:p>
      </dsp:txBody>
      <dsp:txXfrm>
        <a:off x="0" y="4382880"/>
        <a:ext cx="2667000" cy="778049"/>
      </dsp:txXfrm>
    </dsp:sp>
    <dsp:sp modelId="{93C86E5E-E2C7-4471-AAFE-BB6CF2682854}">
      <dsp:nvSpPr>
        <dsp:cNvPr id="0" name=""/>
        <dsp:cNvSpPr/>
      </dsp:nvSpPr>
      <dsp:spPr>
        <a:xfrm>
          <a:off x="133350" y="4102440"/>
          <a:ext cx="1866899" cy="560879"/>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0564" tIns="0" rIns="70564" bIns="0" numCol="1" spcCol="1270" anchor="ctr" anchorCtr="0">
          <a:noAutofit/>
        </a:bodyPr>
        <a:lstStyle/>
        <a:p>
          <a:pPr marL="0" lvl="0" indent="0" algn="l" defTabSz="800100">
            <a:lnSpc>
              <a:spcPct val="90000"/>
            </a:lnSpc>
            <a:spcBef>
              <a:spcPct val="0"/>
            </a:spcBef>
            <a:spcAft>
              <a:spcPct val="35000"/>
            </a:spcAft>
            <a:buNone/>
          </a:pPr>
          <a:r>
            <a:rPr lang="en-US" sz="1800" kern="1200"/>
            <a:t>3' 2bp Overhang</a:t>
          </a:r>
        </a:p>
      </dsp:txBody>
      <dsp:txXfrm>
        <a:off x="160730" y="4129820"/>
        <a:ext cx="1812139" cy="5061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F1EFBC-C22E-4D5D-8261-FE4CC0518EA4}">
      <dsp:nvSpPr>
        <dsp:cNvPr id="0" name=""/>
        <dsp:cNvSpPr/>
      </dsp:nvSpPr>
      <dsp:spPr>
        <a:xfrm>
          <a:off x="0" y="259620"/>
          <a:ext cx="4419600" cy="1007999"/>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3010" tIns="333248" rIns="343010"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err="1"/>
            <a:t>EcoRV</a:t>
          </a:r>
          <a:r>
            <a:rPr lang="en-US" sz="1800" kern="1200" dirty="0"/>
            <a:t> GAT/ATC</a:t>
          </a:r>
        </a:p>
        <a:p>
          <a:pPr marL="171450" lvl="1" indent="-171450" algn="l" defTabSz="800100">
            <a:lnSpc>
              <a:spcPct val="90000"/>
            </a:lnSpc>
            <a:spcBef>
              <a:spcPct val="0"/>
            </a:spcBef>
            <a:spcAft>
              <a:spcPct val="15000"/>
            </a:spcAft>
            <a:buChar char="•"/>
          </a:pPr>
          <a:r>
            <a:rPr lang="en-US" sz="1800" kern="1200" dirty="0" err="1"/>
            <a:t>PvuII CAG/CTG</a:t>
          </a:r>
        </a:p>
      </dsp:txBody>
      <dsp:txXfrm>
        <a:off x="0" y="259620"/>
        <a:ext cx="4419600" cy="1007999"/>
      </dsp:txXfrm>
    </dsp:sp>
    <dsp:sp modelId="{716C2A70-531E-4585-B019-79012931A60B}">
      <dsp:nvSpPr>
        <dsp:cNvPr id="0" name=""/>
        <dsp:cNvSpPr/>
      </dsp:nvSpPr>
      <dsp:spPr>
        <a:xfrm>
          <a:off x="220980" y="23460"/>
          <a:ext cx="3093720" cy="47232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6935" tIns="0" rIns="116935" bIns="0" numCol="1" spcCol="1270" anchor="ctr" anchorCtr="0">
          <a:noAutofit/>
        </a:bodyPr>
        <a:lstStyle/>
        <a:p>
          <a:pPr marL="0" lvl="0" indent="0" algn="l" defTabSz="800100">
            <a:lnSpc>
              <a:spcPct val="90000"/>
            </a:lnSpc>
            <a:spcBef>
              <a:spcPct val="0"/>
            </a:spcBef>
            <a:spcAft>
              <a:spcPct val="35000"/>
            </a:spcAft>
            <a:buNone/>
          </a:pPr>
          <a:r>
            <a:rPr lang="en-US" sz="1800" kern="1200" dirty="0"/>
            <a:t>Blunt cutters</a:t>
          </a:r>
        </a:p>
      </dsp:txBody>
      <dsp:txXfrm>
        <a:off x="244037" y="46517"/>
        <a:ext cx="3047606" cy="426206"/>
      </dsp:txXfrm>
    </dsp:sp>
    <dsp:sp modelId="{0B6A7E96-4D68-4FF2-BB66-47E72246E9B5}">
      <dsp:nvSpPr>
        <dsp:cNvPr id="0" name=""/>
        <dsp:cNvSpPr/>
      </dsp:nvSpPr>
      <dsp:spPr>
        <a:xfrm>
          <a:off x="0" y="1590179"/>
          <a:ext cx="4419600" cy="718199"/>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3010" tIns="333248" rIns="343010"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5bp, 3bp, and 1bp overhangs</a:t>
          </a:r>
        </a:p>
      </dsp:txBody>
      <dsp:txXfrm>
        <a:off x="0" y="1590179"/>
        <a:ext cx="4419600" cy="718199"/>
      </dsp:txXfrm>
    </dsp:sp>
    <dsp:sp modelId="{EA40FEE0-94FD-4A88-B348-7CF0C2AF333F}">
      <dsp:nvSpPr>
        <dsp:cNvPr id="0" name=""/>
        <dsp:cNvSpPr/>
      </dsp:nvSpPr>
      <dsp:spPr>
        <a:xfrm>
          <a:off x="220980" y="1354020"/>
          <a:ext cx="3093720" cy="47232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6935" tIns="0" rIns="116935" bIns="0" numCol="1" spcCol="1270" anchor="ctr" anchorCtr="0">
          <a:noAutofit/>
        </a:bodyPr>
        <a:lstStyle/>
        <a:p>
          <a:pPr marL="0" lvl="0" indent="0" algn="l" defTabSz="800100">
            <a:lnSpc>
              <a:spcPct val="90000"/>
            </a:lnSpc>
            <a:spcBef>
              <a:spcPct val="0"/>
            </a:spcBef>
            <a:spcAft>
              <a:spcPct val="35000"/>
            </a:spcAft>
            <a:buNone/>
          </a:pPr>
          <a:r>
            <a:rPr lang="en-US" sz="1800" kern="1200" dirty="0"/>
            <a:t>Others</a:t>
          </a:r>
        </a:p>
      </dsp:txBody>
      <dsp:txXfrm>
        <a:off x="244037" y="1377077"/>
        <a:ext cx="3047606" cy="426206"/>
      </dsp:txXfrm>
    </dsp:sp>
    <dsp:sp modelId="{15DC2452-AF7F-4C92-870E-AB8F573B5737}">
      <dsp:nvSpPr>
        <dsp:cNvPr id="0" name=""/>
        <dsp:cNvSpPr/>
      </dsp:nvSpPr>
      <dsp:spPr>
        <a:xfrm>
          <a:off x="0" y="2630940"/>
          <a:ext cx="4419600" cy="1612799"/>
        </a:xfrm>
        <a:prstGeom prst="rect">
          <a:avLst/>
        </a:prstGeom>
        <a:solidFill>
          <a:schemeClr val="accent1">
            <a:alpha val="90000"/>
            <a:tint val="4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3010" tIns="333248" rIns="343010"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err="1"/>
            <a:t>XcmI</a:t>
          </a:r>
          <a:r>
            <a:rPr lang="en-US" sz="1800" kern="1200" dirty="0"/>
            <a:t> CCANNNNN/NNNNTGG</a:t>
          </a:r>
        </a:p>
        <a:p>
          <a:pPr marL="171450" lvl="1" indent="-171450" algn="l" defTabSz="800100">
            <a:lnSpc>
              <a:spcPct val="90000"/>
            </a:lnSpc>
            <a:spcBef>
              <a:spcPct val="0"/>
            </a:spcBef>
            <a:spcAft>
              <a:spcPct val="15000"/>
            </a:spcAft>
            <a:buChar char="•"/>
          </a:pPr>
          <a:r>
            <a:rPr lang="en-US" sz="1800" kern="1200" dirty="0" err="1"/>
            <a:t>AlwNI CAGNNN/CTG</a:t>
          </a:r>
        </a:p>
        <a:p>
          <a:pPr marL="171450" lvl="1" indent="-171450" algn="l" defTabSz="800100">
            <a:lnSpc>
              <a:spcPct val="90000"/>
            </a:lnSpc>
            <a:spcBef>
              <a:spcPct val="0"/>
            </a:spcBef>
            <a:spcAft>
              <a:spcPct val="15000"/>
            </a:spcAft>
            <a:buChar char="•"/>
          </a:pPr>
          <a:r>
            <a:rPr lang="en-US" sz="1800" kern="1200" dirty="0" err="1"/>
            <a:t>SfiI GGCCNNNN/NGGCC</a:t>
          </a:r>
        </a:p>
        <a:p>
          <a:pPr marL="171450" lvl="1" indent="-171450" algn="l" defTabSz="800100">
            <a:lnSpc>
              <a:spcPct val="90000"/>
            </a:lnSpc>
            <a:spcBef>
              <a:spcPct val="0"/>
            </a:spcBef>
            <a:spcAft>
              <a:spcPct val="15000"/>
            </a:spcAft>
            <a:buChar char="•"/>
          </a:pPr>
          <a:r>
            <a:rPr lang="en-US" sz="1800" kern="1200" dirty="0" err="1"/>
            <a:t>FalI (8/13) AAGNNNNNCTT (13/8)</a:t>
          </a:r>
        </a:p>
      </dsp:txBody>
      <dsp:txXfrm>
        <a:off x="0" y="2630940"/>
        <a:ext cx="4419600" cy="1612799"/>
      </dsp:txXfrm>
    </dsp:sp>
    <dsp:sp modelId="{E1B17D41-D56C-43C1-8437-4F01A5ABEACB}">
      <dsp:nvSpPr>
        <dsp:cNvPr id="0" name=""/>
        <dsp:cNvSpPr/>
      </dsp:nvSpPr>
      <dsp:spPr>
        <a:xfrm>
          <a:off x="220980" y="2394779"/>
          <a:ext cx="3093720" cy="472320"/>
        </a:xfrm>
        <a:prstGeom prst="round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6935" tIns="0" rIns="116935" bIns="0" numCol="1" spcCol="1270" anchor="ctr" anchorCtr="0">
          <a:noAutofit/>
        </a:bodyPr>
        <a:lstStyle/>
        <a:p>
          <a:pPr marL="0" lvl="0" indent="0" algn="l" defTabSz="800100">
            <a:lnSpc>
              <a:spcPct val="90000"/>
            </a:lnSpc>
            <a:spcBef>
              <a:spcPct val="0"/>
            </a:spcBef>
            <a:spcAft>
              <a:spcPct val="35000"/>
            </a:spcAft>
            <a:buNone/>
          </a:pPr>
          <a:r>
            <a:rPr lang="en-US" sz="1800" kern="1200" dirty="0"/>
            <a:t>Degenerate cutters</a:t>
          </a:r>
        </a:p>
      </dsp:txBody>
      <dsp:txXfrm>
        <a:off x="244037" y="2417836"/>
        <a:ext cx="3047606"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smtClean="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6836A080-D5F7-4145-B462-425F0842CBD2}" type="datetimeFigureOut">
              <a:rPr lang="en-US"/>
              <a:pPr>
                <a:defRPr/>
              </a:pPr>
              <a:t>9/3/25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smtClean="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AFB49C71-4717-48F2-B8AC-E38C6AA4B444}" type="slidenum">
              <a:rPr lang="en-US"/>
              <a:pPr>
                <a:defRPr/>
              </a:pPr>
              <a:t>‹#›</a:t>
            </a:fld>
            <a:endParaRPr lang="en-US"/>
          </a:p>
        </p:txBody>
      </p:sp>
    </p:spTree>
    <p:extLst>
      <p:ext uri="{BB962C8B-B14F-4D97-AF65-F5344CB8AC3E}">
        <p14:creationId xmlns:p14="http://schemas.microsoft.com/office/powerpoint/2010/main" val="168691444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a:t>This series of lectures will introduce you to the chemistry and utility of DNA manipulation enzymes.  This class of catalysts</a:t>
            </a:r>
            <a:r>
              <a:rPr lang="en-US" baseline="0" dirty="0"/>
              <a:t> perform chemical reactions on DNA molecules and forms the basis for most methods of DNA fabrication. These lectures describe most of the DNA modification reactions that exist, but focuses on those used in synthetic biology research, particularly for DNA fabrication and installation into genomes.</a:t>
            </a:r>
            <a:endParaRPr lang="en-US" dirty="0"/>
          </a:p>
          <a:p>
            <a:endParaRPr lang="en-US" dirty="0"/>
          </a:p>
        </p:txBody>
      </p:sp>
      <p:sp>
        <p:nvSpPr>
          <p:cNvPr id="4" name="Slide Number Placeholder 3"/>
          <p:cNvSpPr>
            <a:spLocks noGrp="1"/>
          </p:cNvSpPr>
          <p:nvPr>
            <p:ph type="sldNum" sz="quarter" idx="10"/>
          </p:nvPr>
        </p:nvSpPr>
        <p:spPr/>
        <p:txBody>
          <a:bodyPr/>
          <a:lstStyle/>
          <a:p>
            <a:fld id="{2827C9E7-D82F-2B4E-9972-1F4C16D6AC08}" type="slidenum">
              <a:rPr lang="en-US" smtClean="0">
                <a:solidFill>
                  <a:prstClr val="black"/>
                </a:solidFill>
                <a:latin typeface="Calibri"/>
              </a:rPr>
              <a:pPr/>
              <a:t>1</a:t>
            </a:fld>
            <a:endParaRPr lang="en-US">
              <a:solidFill>
                <a:prstClr val="black"/>
              </a:solidFill>
              <a:latin typeface="Calibri"/>
            </a:endParaRPr>
          </a:p>
        </p:txBody>
      </p:sp>
    </p:spTree>
    <p:extLst>
      <p:ext uri="{BB962C8B-B14F-4D97-AF65-F5344CB8AC3E}">
        <p14:creationId xmlns:p14="http://schemas.microsoft.com/office/powerpoint/2010/main" val="2501930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2</a:t>
            </a:fld>
            <a:endParaRPr lang="en-US"/>
          </a:p>
        </p:txBody>
      </p:sp>
    </p:spTree>
    <p:extLst>
      <p:ext uri="{BB962C8B-B14F-4D97-AF65-F5344CB8AC3E}">
        <p14:creationId xmlns:p14="http://schemas.microsoft.com/office/powerpoint/2010/main" val="3349573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27C9E7-D82F-2B4E-9972-1F4C16D6AC08}" type="slidenum">
              <a:rPr lang="en-US">
                <a:solidFill>
                  <a:prstClr val="black"/>
                </a:solidFill>
                <a:latin typeface="Calibri"/>
              </a:rPr>
              <a:pPr/>
              <a:t>3</a:t>
            </a:fld>
            <a:endParaRPr lang="en-US">
              <a:solidFill>
                <a:prstClr val="black"/>
              </a:solidFill>
              <a:latin typeface="Calibri"/>
            </a:endParaRPr>
          </a:p>
        </p:txBody>
      </p:sp>
    </p:spTree>
    <p:extLst>
      <p:ext uri="{BB962C8B-B14F-4D97-AF65-F5344CB8AC3E}">
        <p14:creationId xmlns:p14="http://schemas.microsoft.com/office/powerpoint/2010/main" val="188082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Red background slides describe enzymes that won’t be encountered</a:t>
            </a:r>
            <a:r>
              <a:rPr lang="en-US" baseline="0" dirty="0"/>
              <a:t> again in the course.  These slides are omitted for lecture.  The entire ensemble of slides is a fairly complete description of the known DNA manipulation enzymes, with the clear omission of Cas9/CRISPR, which we’ll deal with later in the course.</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There are several classes of enzymes that we’ll go through.  The nucleases</a:t>
            </a:r>
            <a:r>
              <a:rPr lang="en-US" baseline="0" dirty="0"/>
              <a:t> are enzymes that degrade DNAs by acting on the ends of linear molecules or by cleaving internal to the DNA.  Polymerases employ a template nucleic acid to construct a complementary copy of the molecule.  Ligases join two polynucleotides into a single molecule.  </a:t>
            </a:r>
            <a:r>
              <a:rPr lang="en-US" baseline="0" dirty="0" err="1"/>
              <a:t>Methyltransferases</a:t>
            </a:r>
            <a:r>
              <a:rPr lang="en-US" baseline="0" dirty="0"/>
              <a:t> transfer a methyl group to a DNA base.  DNA repair enzymes perform a variety of functions primarily associated with common spontaneous damage to DNAs. Phosphatases and kinases affect the phosphorylation state of polynucleotides, and </a:t>
            </a:r>
            <a:r>
              <a:rPr lang="en-US" baseline="0" dirty="0" err="1"/>
              <a:t>recombinases</a:t>
            </a:r>
            <a:r>
              <a:rPr lang="en-US" baseline="0" dirty="0"/>
              <a:t> rearrange DNAs over similar sequences.</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Endonucleases are enzymes that cleave a DNA internal</a:t>
            </a:r>
            <a:r>
              <a:rPr lang="en-US" baseline="0" dirty="0"/>
              <a:t> to its sequence.  Because they operate on the internal sequence of a DNA, they operate equally on linear and circular DNAs. *  This class includes restriction endonucleases, homing endonucleases, </a:t>
            </a:r>
            <a:r>
              <a:rPr lang="en-US" baseline="0" dirty="0" err="1"/>
              <a:t>DNAses</a:t>
            </a:r>
            <a:r>
              <a:rPr lang="en-US" baseline="0" dirty="0"/>
              <a:t>, and </a:t>
            </a:r>
            <a:r>
              <a:rPr lang="en-US" baseline="0" dirty="0" err="1"/>
              <a:t>RNAses</a:t>
            </a:r>
            <a:r>
              <a:rPr lang="en-US" baseline="0" dirty="0"/>
              <a:t>.</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Restriction endonucleases</a:t>
            </a:r>
            <a:r>
              <a:rPr lang="en-US" baseline="0" dirty="0"/>
              <a:t> are classified into 4 types.  Type I endonucleases are typified by the RMS systems that are present in most prokaryotic genomes.  In E. coli, they are named </a:t>
            </a:r>
            <a:r>
              <a:rPr lang="en-US" baseline="0" dirty="0" err="1"/>
              <a:t>hsdR</a:t>
            </a:r>
            <a:r>
              <a:rPr lang="en-US" baseline="0" dirty="0"/>
              <a:t>, M, and S. These endonucleases play the native immunological role of preventing infection with foreign DNAs. They undoubtedly recognize some molecular pattern, but this pattern is poorly defined and cannot be reduced to a simple sequence like other classes we’ll see.  These enzymes are not used in any in vitro DNA manipulation protocols, but they are </a:t>
            </a:r>
            <a:r>
              <a:rPr lang="en-US" baseline="0" dirty="0" err="1"/>
              <a:t>relevent</a:t>
            </a:r>
            <a:r>
              <a:rPr lang="en-US" baseline="0" dirty="0"/>
              <a:t> because knocking them out is necessary for efficient transformation of E. coli.</a:t>
            </a:r>
          </a:p>
          <a:p>
            <a:endParaRPr lang="en-US" baseline="0" dirty="0"/>
          </a:p>
          <a:p>
            <a:r>
              <a:rPr lang="en-US" baseline="0" dirty="0"/>
              <a:t>Type II endonucleases are the one’s you’re likely most familiar with.  This class include </a:t>
            </a:r>
            <a:r>
              <a:rPr lang="en-US" baseline="0" dirty="0" err="1"/>
              <a:t>EcoRI</a:t>
            </a:r>
            <a:r>
              <a:rPr lang="en-US" baseline="0" dirty="0"/>
              <a:t> and other </a:t>
            </a:r>
            <a:r>
              <a:rPr lang="en-US" baseline="0" dirty="0" err="1"/>
              <a:t>seuqence</a:t>
            </a:r>
            <a:r>
              <a:rPr lang="en-US" baseline="0" dirty="0"/>
              <a:t>-specific endonucleases.  We’ll go through this class in more detail next.</a:t>
            </a:r>
          </a:p>
          <a:p>
            <a:endParaRPr lang="en-US" baseline="0" dirty="0"/>
          </a:p>
          <a:p>
            <a:r>
              <a:rPr lang="en-US" baseline="0" dirty="0"/>
              <a:t>Type III endonucleases are sequence specific, but they are not in common use for in vitro DNA manipulations.</a:t>
            </a:r>
          </a:p>
          <a:p>
            <a:endParaRPr lang="en-US" baseline="0" dirty="0"/>
          </a:p>
          <a:p>
            <a:r>
              <a:rPr lang="en-US" baseline="0" dirty="0"/>
              <a:t>Type Iv are similar to type I in the sense that they are most relevant as common low-specificity enzymes present in prokaryotic genomes.  They cleave methylated or otherwise modified DNAs and are typically encoded by 3 proteins.  In E. coli, the </a:t>
            </a:r>
            <a:r>
              <a:rPr lang="en-US" baseline="0" dirty="0" err="1"/>
              <a:t>McrA</a:t>
            </a:r>
            <a:r>
              <a:rPr lang="en-US" baseline="0" dirty="0"/>
              <a:t>, </a:t>
            </a:r>
            <a:r>
              <a:rPr lang="en-US" baseline="0" dirty="0" err="1"/>
              <a:t>McrBC</a:t>
            </a:r>
            <a:r>
              <a:rPr lang="en-US" baseline="0" dirty="0"/>
              <a:t>, and </a:t>
            </a:r>
            <a:r>
              <a:rPr lang="en-US" baseline="0" dirty="0" err="1"/>
              <a:t>Mrr</a:t>
            </a:r>
            <a:r>
              <a:rPr lang="en-US" baseline="0" dirty="0"/>
              <a:t> genes are an endogenous type IV system typically knocked out to achieve high transformation efficiency.</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type II endonucleases vary in terms of the overhangs they generate</a:t>
            </a:r>
            <a:r>
              <a:rPr lang="en-US" baseline="0" dirty="0"/>
              <a:t> and the sequences they recognize.  They are defined by being sequence-specific enzymes.  There are many enzymes that generate 5’ four-base pair overhangs including </a:t>
            </a:r>
            <a:r>
              <a:rPr lang="en-US" baseline="0" dirty="0" err="1"/>
              <a:t>BamHI</a:t>
            </a:r>
            <a:r>
              <a:rPr lang="en-US" baseline="0" dirty="0"/>
              <a:t> </a:t>
            </a:r>
            <a:r>
              <a:rPr lang="en-US" baseline="0" dirty="0" err="1"/>
              <a:t>XbaI</a:t>
            </a:r>
            <a:r>
              <a:rPr lang="en-US" baseline="0" dirty="0"/>
              <a:t>, and </a:t>
            </a:r>
            <a:r>
              <a:rPr lang="en-US" baseline="0" dirty="0" err="1"/>
              <a:t>EcoRI</a:t>
            </a:r>
            <a:r>
              <a:rPr lang="en-US" baseline="0" dirty="0"/>
              <a:t>.  There are also commonly-used enzymes that generate 3’ 4 </a:t>
            </a:r>
            <a:r>
              <a:rPr lang="en-US" baseline="0" dirty="0" err="1"/>
              <a:t>bp</a:t>
            </a:r>
            <a:r>
              <a:rPr lang="en-US" baseline="0" dirty="0"/>
              <a:t> overhangs.  There are also many that generate 2bp overhangs either as 3’ or 5’ extensions.</a:t>
            </a:r>
          </a:p>
          <a:p>
            <a:r>
              <a:rPr lang="en-US" baseline="0" dirty="0"/>
              <a:t>*</a:t>
            </a:r>
          </a:p>
          <a:p>
            <a:r>
              <a:rPr lang="en-US" baseline="0" dirty="0"/>
              <a:t>Some Type II’s generate blunt ends while there are examples of Type II’s that generate 5bp, 3bp, or even 1bp sticky ends.  All the enzymes I have mentioned cleave a specific DNA sequence internal to it.  Often these enzymes are palindromic meaning that the reverse complement of the </a:t>
            </a:r>
            <a:r>
              <a:rPr lang="en-US" baseline="0" dirty="0" err="1"/>
              <a:t>recongized</a:t>
            </a:r>
            <a:r>
              <a:rPr lang="en-US" baseline="0" dirty="0"/>
              <a:t> sequence is the same as the original sequence.  However, there are also non-palindromic cutters.  Additionally, there are enzymes that </a:t>
            </a:r>
            <a:r>
              <a:rPr lang="en-US" baseline="0" dirty="0" err="1"/>
              <a:t>recongized</a:t>
            </a:r>
            <a:r>
              <a:rPr lang="en-US" baseline="0" dirty="0"/>
              <a:t> degenerate sequences.  For example, the </a:t>
            </a:r>
            <a:r>
              <a:rPr lang="en-US" baseline="0" dirty="0" err="1"/>
              <a:t>AlwNI</a:t>
            </a:r>
            <a:r>
              <a:rPr lang="en-US" baseline="0" dirty="0"/>
              <a:t> enzyme recognizes the sequence CAGNNNCTG.  The first and last portions of that sequence are palindromic, but the internal N’s can be any sequence and thus the sticky ends generated by this enzyme can be any sequence.</a:t>
            </a:r>
          </a:p>
        </p:txBody>
      </p:sp>
      <p:sp>
        <p:nvSpPr>
          <p:cNvPr id="4" name="Slide Number Placeholder 3"/>
          <p:cNvSpPr>
            <a:spLocks noGrp="1"/>
          </p:cNvSpPr>
          <p:nvPr>
            <p:ph type="sldNum" sz="quarter" idx="10"/>
          </p:nvPr>
        </p:nvSpPr>
        <p:spPr/>
        <p:txBody>
          <a:bodyPr/>
          <a:lstStyle/>
          <a:p>
            <a:fld id="{D453BF83-14DB-435B-A2F6-2F18B1BE4526}"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Type </a:t>
            </a:r>
            <a:r>
              <a:rPr lang="en-US" dirty="0" err="1"/>
              <a:t>Iis</a:t>
            </a:r>
            <a:r>
              <a:rPr lang="en-US" baseline="0" dirty="0"/>
              <a:t> enzymes recognize a specific sequence but then cleave the DNA external sequence.  </a:t>
            </a:r>
            <a:r>
              <a:rPr lang="en-US" baseline="0" dirty="0" err="1"/>
              <a:t>BsaI</a:t>
            </a:r>
            <a:r>
              <a:rPr lang="en-US" baseline="0" dirty="0"/>
              <a:t> and </a:t>
            </a:r>
            <a:r>
              <a:rPr lang="en-US" baseline="0" dirty="0" err="1"/>
              <a:t>BsmBI</a:t>
            </a:r>
            <a:r>
              <a:rPr lang="en-US" baseline="0" dirty="0"/>
              <a:t> are the most commonly-used enzymes in this class.  </a:t>
            </a:r>
            <a:r>
              <a:rPr lang="en-US" baseline="0" dirty="0" err="1"/>
              <a:t>BsaI</a:t>
            </a:r>
            <a:r>
              <a:rPr lang="en-US" baseline="0" dirty="0"/>
              <a:t> recognizes the sequence GGTCTC, reaches over one base, and then generates a sticky end composed of the next four bases.</a:t>
            </a:r>
          </a:p>
          <a:p>
            <a:r>
              <a:rPr lang="en-US" baseline="0" dirty="0"/>
              <a:t>*</a:t>
            </a:r>
          </a:p>
          <a:p>
            <a:r>
              <a:rPr lang="en-US" baseline="0" dirty="0"/>
              <a:t>The products of </a:t>
            </a:r>
            <a:r>
              <a:rPr lang="en-US" baseline="0" dirty="0" err="1"/>
              <a:t>BsaI</a:t>
            </a:r>
            <a:r>
              <a:rPr lang="en-US" baseline="0" dirty="0"/>
              <a:t> digestion can be joined (by ligation) to the overhangs generated form 4bp 5’ overhang-generating enzymes such as </a:t>
            </a:r>
            <a:r>
              <a:rPr lang="en-US" baseline="0" dirty="0" err="1"/>
              <a:t>BamHI</a:t>
            </a:r>
            <a:r>
              <a:rPr lang="en-US" baseline="0" dirty="0"/>
              <a:t> and </a:t>
            </a:r>
            <a:r>
              <a:rPr lang="en-US" baseline="0" dirty="0" err="1"/>
              <a:t>EcoRI</a:t>
            </a:r>
            <a:r>
              <a:rPr lang="en-US" baseline="0" dirty="0"/>
              <a:t>. These enzymes are particularly usefu8l because the restriction site can be removed during the course of digestion.  In the example shown here, the 5’ end of the DNA containing the GGTCTC sequence is removed from the larger DNA leaving no trace of the sequence.  Thus, upon ligation, there is no </a:t>
            </a:r>
            <a:r>
              <a:rPr lang="en-US" baseline="0" dirty="0" err="1"/>
              <a:t>remnent</a:t>
            </a:r>
            <a:r>
              <a:rPr lang="en-US" baseline="0" dirty="0"/>
              <a:t> of the restriction site, and this can be used to generate ‘</a:t>
            </a:r>
            <a:r>
              <a:rPr lang="en-US" baseline="0" dirty="0" err="1"/>
              <a:t>scarless</a:t>
            </a:r>
            <a:r>
              <a:rPr lang="en-US" baseline="0" dirty="0"/>
              <a:t>’ junctions between two DNAs.</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type II restriction enzymes are usually components of methylation</a:t>
            </a:r>
            <a:r>
              <a:rPr lang="en-US" baseline="0" dirty="0"/>
              <a:t>/restriction systems from various microbes. In these systems, the restriction enzyme is expressed in the cytoplasm.  The genomic DNA is protected from cleavage because it is methylated at cognate sequences.  Thus, these systems all have a partner </a:t>
            </a:r>
            <a:r>
              <a:rPr lang="en-US" baseline="0" dirty="0" err="1"/>
              <a:t>methyltransferase</a:t>
            </a:r>
            <a:r>
              <a:rPr lang="en-US" baseline="0" dirty="0"/>
              <a:t>.  When cloning DNAs from genomic DNAs, there may be methylation at sites of common restriction enzymes.</a:t>
            </a:r>
          </a:p>
          <a:p>
            <a:r>
              <a:rPr lang="en-US" baseline="0" dirty="0"/>
              <a:t>*</a:t>
            </a:r>
          </a:p>
          <a:p>
            <a:r>
              <a:rPr lang="en-US" dirty="0"/>
              <a:t>Not all</a:t>
            </a:r>
            <a:r>
              <a:rPr lang="en-US" baseline="0" dirty="0"/>
              <a:t> restriction enzymes are equally good. There is a great deal of heterogeneity amongst these enzymes in terms of how specific they are for their recognition sequence.  Additionally, some enzymes remain active in in vitro longer than others.  Also, some commercial products have higher specific activity than others and are sold in a more concentrated form.</a:t>
            </a:r>
          </a:p>
          <a:p>
            <a:r>
              <a:rPr lang="en-US" baseline="0" dirty="0"/>
              <a:t>*</a:t>
            </a:r>
          </a:p>
          <a:p>
            <a:r>
              <a:rPr lang="en-US" sz="1200" b="0" i="0" kern="1200" dirty="0">
                <a:solidFill>
                  <a:schemeClr val="tx1"/>
                </a:solidFill>
                <a:effectLst/>
                <a:latin typeface="+mn-lt"/>
                <a:ea typeface="+mn-ea"/>
                <a:cs typeface="+mn-cs"/>
              </a:rPr>
              <a:t>Under non-standard reaction conditions, some restriction enzymes are capable of cleaving sequences which are similar, but not identical, to their defined recognition sequence. This altered specificity is called “star activity“.</a:t>
            </a: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453BF83-14DB-435B-A2F6-2F18B1BE4526}"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0" i="0" kern="1200" dirty="0">
                <a:solidFill>
                  <a:schemeClr val="tx1"/>
                </a:solidFill>
                <a:effectLst/>
                <a:latin typeface="+mn-lt"/>
                <a:ea typeface="+mn-ea"/>
                <a:cs typeface="+mn-cs"/>
              </a:rPr>
              <a:t>Star</a:t>
            </a:r>
            <a:r>
              <a:rPr lang="en-US" sz="1200" b="0" i="0" kern="1200" baseline="0" dirty="0">
                <a:solidFill>
                  <a:schemeClr val="tx1"/>
                </a:solidFill>
                <a:effectLst/>
                <a:latin typeface="+mn-lt"/>
                <a:ea typeface="+mn-ea"/>
                <a:cs typeface="+mn-cs"/>
              </a:rPr>
              <a:t> activity or loss of functionality due to denaturation can happen in vitro due to the presence of solvents and contaminants. These toxicants to the reaction can result in incomplete cutting. Also, some restriction enzymes are more prone to incomplete cutting than others.</a:t>
            </a:r>
          </a:p>
          <a:p>
            <a:r>
              <a:rPr lang="en-US" sz="1200" b="0" i="0" kern="1200" baseline="0" dirty="0">
                <a:solidFill>
                  <a:schemeClr val="tx1"/>
                </a:solidFill>
                <a:effectLst/>
                <a:latin typeface="+mn-lt"/>
                <a:ea typeface="+mn-ea"/>
                <a:cs typeface="+mn-cs"/>
              </a:rPr>
              <a:t>*</a:t>
            </a:r>
          </a:p>
          <a:p>
            <a:r>
              <a:rPr lang="en-US" sz="1200" b="0" i="0" kern="1200" baseline="0" dirty="0">
                <a:solidFill>
                  <a:schemeClr val="tx1"/>
                </a:solidFill>
                <a:effectLst/>
                <a:latin typeface="+mn-lt"/>
                <a:ea typeface="+mn-ea"/>
                <a:cs typeface="+mn-cs"/>
              </a:rPr>
              <a:t>There is also heterogeneity about the tolerance of the enzyme for cleaving near the ends of the DNA.  There is a nice table at this URL that goes through the knowledge about what enzymes do what. Some enzymes require that the DNA be supercoiled. The genomic and plasmid DNAs are twisted up like a rubber band in the cell, and some enzymes will only operate on DNAs in this state. Additionally, some require that there be 2 different sites on the same DNA molecule because they operate as a dimer.</a:t>
            </a:r>
          </a:p>
          <a:p>
            <a:r>
              <a:rPr lang="en-US" sz="1200" b="0" i="0" kern="1200" baseline="0" dirty="0">
                <a:solidFill>
                  <a:schemeClr val="tx1"/>
                </a:solidFill>
                <a:effectLst/>
                <a:latin typeface="+mn-lt"/>
                <a:ea typeface="+mn-ea"/>
                <a:cs typeface="+mn-cs"/>
              </a:rPr>
              <a:t>*</a:t>
            </a:r>
          </a:p>
          <a:p>
            <a:r>
              <a:rPr lang="en-US" sz="1200" b="0" i="0" kern="1200" baseline="0" dirty="0">
                <a:solidFill>
                  <a:schemeClr val="tx1"/>
                </a:solidFill>
                <a:effectLst/>
                <a:latin typeface="+mn-lt"/>
                <a:ea typeface="+mn-ea"/>
                <a:cs typeface="+mn-cs"/>
              </a:rPr>
              <a:t>Different </a:t>
            </a:r>
            <a:r>
              <a:rPr lang="en-US" sz="1200" b="0" i="0" kern="1200" baseline="0" dirty="0" err="1">
                <a:solidFill>
                  <a:schemeClr val="tx1"/>
                </a:solidFill>
                <a:effectLst/>
                <a:latin typeface="+mn-lt"/>
                <a:ea typeface="+mn-ea"/>
                <a:cs typeface="+mn-cs"/>
              </a:rPr>
              <a:t>restricction</a:t>
            </a:r>
            <a:r>
              <a:rPr lang="en-US" sz="1200" b="0" i="0" kern="1200" baseline="0" dirty="0">
                <a:solidFill>
                  <a:schemeClr val="tx1"/>
                </a:solidFill>
                <a:effectLst/>
                <a:latin typeface="+mn-lt"/>
                <a:ea typeface="+mn-ea"/>
                <a:cs typeface="+mn-cs"/>
              </a:rPr>
              <a:t> enzymes prefer different buffers, but many if not most work in PCR buffer.  There can be total loss of function in putting an enzyme into a different buffer, and additionally use of the wrong buffer can result in star activity. All these subtle properties have been characterized by new </a:t>
            </a:r>
            <a:r>
              <a:rPr lang="en-US" sz="1200" b="0" i="0" kern="1200" baseline="0" dirty="0" err="1">
                <a:solidFill>
                  <a:schemeClr val="tx1"/>
                </a:solidFill>
                <a:effectLst/>
                <a:latin typeface="+mn-lt"/>
                <a:ea typeface="+mn-ea"/>
                <a:cs typeface="+mn-cs"/>
              </a:rPr>
              <a:t>england</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biolabs</a:t>
            </a:r>
            <a:r>
              <a:rPr lang="en-US" sz="1200" b="0" i="0" kern="1200" baseline="0" dirty="0">
                <a:solidFill>
                  <a:schemeClr val="tx1"/>
                </a:solidFill>
                <a:effectLst/>
                <a:latin typeface="+mn-lt"/>
                <a:ea typeface="+mn-ea"/>
                <a:cs typeface="+mn-cs"/>
              </a:rPr>
              <a:t>, and you can look this information up in their catalog at www.neb.com.</a:t>
            </a:r>
          </a:p>
          <a:p>
            <a:r>
              <a:rPr lang="en-US" sz="1200" b="0" i="0" kern="1200" baseline="0" dirty="0">
                <a:solidFill>
                  <a:schemeClr val="tx1"/>
                </a:solidFill>
                <a:effectLst/>
                <a:latin typeface="+mn-lt"/>
                <a:ea typeface="+mn-ea"/>
                <a:cs typeface="+mn-cs"/>
              </a:rPr>
              <a:t>*</a:t>
            </a:r>
          </a:p>
          <a:p>
            <a:r>
              <a:rPr lang="en-US" sz="1200" b="0" i="0" kern="1200" baseline="0" dirty="0">
                <a:solidFill>
                  <a:schemeClr val="tx1"/>
                </a:solidFill>
                <a:effectLst/>
                <a:latin typeface="+mn-lt"/>
                <a:ea typeface="+mn-ea"/>
                <a:cs typeface="+mn-cs"/>
              </a:rPr>
              <a:t>Though the sequences that are recognized vary, and chemical aspects of the purified protein similarly vary, the chemistry that a restriction endonuclease performs is always the same.  They always generate 3’ hydroxyl and 5’ phosphate ends. Let’s take a look at this in more detail:</a:t>
            </a:r>
          </a:p>
        </p:txBody>
      </p:sp>
      <p:sp>
        <p:nvSpPr>
          <p:cNvPr id="4" name="Slide Number Placeholder 3"/>
          <p:cNvSpPr>
            <a:spLocks noGrp="1"/>
          </p:cNvSpPr>
          <p:nvPr>
            <p:ph type="sldNum" sz="quarter" idx="10"/>
          </p:nvPr>
        </p:nvSpPr>
        <p:spPr/>
        <p:txBody>
          <a:bodyPr/>
          <a:lstStyle/>
          <a:p>
            <a:fld id="{D453BF83-14DB-435B-A2F6-2F18B1BE4526}"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Here we’ve zoomed in on the</a:t>
            </a:r>
            <a:r>
              <a:rPr lang="en-US" baseline="0" dirty="0"/>
              <a:t> DNA sequence ‘GA’.  The ribose backbone is in red.  We see a single phosphate of the backbone here, and there are bonds on either end of the phosphate that connect it to the ribose.  </a:t>
            </a:r>
          </a:p>
          <a:p>
            <a:r>
              <a:rPr lang="en-US" baseline="0" dirty="0"/>
              <a:t>*</a:t>
            </a:r>
          </a:p>
          <a:p>
            <a:r>
              <a:rPr lang="en-US" baseline="0" dirty="0"/>
              <a:t>This topmost bond is attached to the 3’ hydroxyl of a ribose, while </a:t>
            </a:r>
          </a:p>
          <a:p>
            <a:r>
              <a:rPr lang="en-US" baseline="0" dirty="0"/>
              <a:t>*</a:t>
            </a:r>
          </a:p>
          <a:p>
            <a:r>
              <a:rPr lang="en-US" baseline="0" dirty="0"/>
              <a:t>This lower bond connects the phosphate to the 5’ hydroxyl of a ribose.  When a restriction enzyme cuts a DNA, it is the one connected to the 3’ hydroxyl (in green) that is broken.</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There are other types of endonucleases</a:t>
            </a:r>
            <a:r>
              <a:rPr lang="en-US" baseline="0" dirty="0"/>
              <a:t> outside the scope of the restriction endonucleases because they have very little sequence specificity.  </a:t>
            </a:r>
            <a:r>
              <a:rPr lang="en-US" baseline="0" dirty="0" err="1"/>
              <a:t>DNAse</a:t>
            </a:r>
            <a:r>
              <a:rPr lang="en-US" baseline="0" dirty="0"/>
              <a:t> I is a non-specific endonuclease.  * It is a very potent enzyme and most protocols employing this enzyme use very little of it * Like the restriction enzymes, the products are 5’ phosphates and 3’ hydroxyls. So, the products of </a:t>
            </a:r>
            <a:r>
              <a:rPr lang="en-US" baseline="0" dirty="0" err="1"/>
              <a:t>DNAse</a:t>
            </a:r>
            <a:r>
              <a:rPr lang="en-US" baseline="0" dirty="0"/>
              <a:t> digestion are competent for other molecular biology reactions. * In most protocols, magnesium must be supplied for activity and this will primarily nick the DNA rather than form double-stranded breaks. However, using manganese instead will alter its specificity towards double-stranded breaks.</a:t>
            </a:r>
          </a:p>
          <a:p>
            <a:r>
              <a:rPr lang="en-US" baseline="0" dirty="0"/>
              <a:t>*</a:t>
            </a:r>
          </a:p>
          <a:p>
            <a:r>
              <a:rPr lang="en-US" baseline="0" dirty="0" err="1"/>
              <a:t>DNAse</a:t>
            </a:r>
            <a:r>
              <a:rPr lang="en-US" baseline="0" dirty="0"/>
              <a:t> I can be used to remove DNA from an RNA sample.  It is very specific for DNA over RNA. * it can also be used to partially degrade large DNAs into </a:t>
            </a:r>
            <a:r>
              <a:rPr lang="en-US" baseline="0" dirty="0" err="1"/>
              <a:t>oligo</a:t>
            </a:r>
            <a:r>
              <a:rPr lang="en-US" baseline="0" dirty="0"/>
              <a:t>-length fragments, and this is used in various procedures including DNA shuffling * There are a variety of tricks available from </a:t>
            </a:r>
            <a:r>
              <a:rPr lang="en-US" baseline="0" dirty="0" err="1"/>
              <a:t>DNAse</a:t>
            </a:r>
            <a:r>
              <a:rPr lang="en-US" baseline="0" dirty="0"/>
              <a:t> I.  Two of the more useful ones are nick translation and DNA </a:t>
            </a:r>
            <a:r>
              <a:rPr lang="en-US" baseline="0" dirty="0" err="1"/>
              <a:t>footprinting</a:t>
            </a:r>
            <a:r>
              <a:rPr lang="en-US" baseline="0" dirty="0"/>
              <a:t>, which have articles in </a:t>
            </a:r>
            <a:r>
              <a:rPr lang="en-US" baseline="0" dirty="0" err="1"/>
              <a:t>wikipedia</a:t>
            </a:r>
            <a:r>
              <a:rPr lang="en-US" baseline="0" dirty="0"/>
              <a:t>.</a:t>
            </a:r>
          </a:p>
        </p:txBody>
      </p:sp>
      <p:sp>
        <p:nvSpPr>
          <p:cNvPr id="4" name="Slide Number Placeholder 3"/>
          <p:cNvSpPr>
            <a:spLocks noGrp="1"/>
          </p:cNvSpPr>
          <p:nvPr>
            <p:ph type="sldNum" sz="quarter" idx="10"/>
          </p:nvPr>
        </p:nvSpPr>
        <p:spPr/>
        <p:txBody>
          <a:bodyPr/>
          <a:lstStyle/>
          <a:p>
            <a:fld id="{D453BF83-14DB-435B-A2F6-2F18B1BE4526}"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7336A-1787-35C7-D7EE-857A9BA01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06B6EC-9944-7A89-5FB5-76BF958485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B431CB-9705-FDFA-7799-1075EAD05988}"/>
              </a:ext>
            </a:extLst>
          </p:cNvPr>
          <p:cNvSpPr>
            <a:spLocks noGrp="1"/>
          </p:cNvSpPr>
          <p:nvPr>
            <p:ph type="body" idx="1"/>
          </p:nvPr>
        </p:nvSpPr>
        <p:spPr/>
        <p:txBody>
          <a:bodyPr>
            <a:normAutofit/>
          </a:bodyPr>
          <a:lstStyle/>
          <a:p>
            <a:r>
              <a:rPr lang="en-US" dirty="0"/>
              <a:t>“Bagel Two” is spelled </a:t>
            </a:r>
            <a:r>
              <a:rPr lang="en-US" dirty="0" err="1"/>
              <a:t>BglII</a:t>
            </a:r>
            <a:r>
              <a:rPr lang="en-US" dirty="0"/>
              <a:t>. </a:t>
            </a:r>
            <a:r>
              <a:rPr lang="en-US" dirty="0" err="1"/>
              <a:t>Bgl</a:t>
            </a:r>
            <a:r>
              <a:rPr lang="en-US" dirty="0"/>
              <a:t> stands for Bacillus </a:t>
            </a:r>
            <a:r>
              <a:rPr lang="en-US" dirty="0" err="1"/>
              <a:t>globigii</a:t>
            </a:r>
            <a:r>
              <a:rPr lang="en-US" dirty="0"/>
              <a:t> (the strain), and it’s the second one found, so roman-numeral 2.</a:t>
            </a:r>
          </a:p>
        </p:txBody>
      </p:sp>
      <p:sp>
        <p:nvSpPr>
          <p:cNvPr id="4" name="Slide Number Placeholder 3">
            <a:extLst>
              <a:ext uri="{FF2B5EF4-FFF2-40B4-BE49-F238E27FC236}">
                <a16:creationId xmlns:a16="http://schemas.microsoft.com/office/drawing/2014/main" id="{250817E6-56DB-928E-48CF-0139CD0A5B8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3BF83-14DB-435B-A2F6-2F18B1BE452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900674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Exonucleases</a:t>
            </a:r>
            <a:r>
              <a:rPr lang="en-US" dirty="0"/>
              <a:t> degrade</a:t>
            </a:r>
            <a:r>
              <a:rPr lang="en-US" baseline="0" dirty="0"/>
              <a:t> a DNA from its ends.  Thus a circular and undamaged DNA molecule is immune to the action of these enzymes. There are a large number of enzymes that are non-specific </a:t>
            </a:r>
            <a:r>
              <a:rPr lang="en-US" baseline="0" dirty="0" err="1"/>
              <a:t>exonucleases</a:t>
            </a:r>
            <a:r>
              <a:rPr lang="en-US" baseline="0" dirty="0"/>
              <a:t> and can be used to degrade DNA in an RNA sample.  Others will also degrade RNA.</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There is extensive diversity</a:t>
            </a:r>
            <a:r>
              <a:rPr lang="en-US" baseline="0" dirty="0"/>
              <a:t> within the </a:t>
            </a:r>
            <a:r>
              <a:rPr lang="en-US" baseline="0" dirty="0" err="1"/>
              <a:t>exonucleases</a:t>
            </a:r>
            <a:r>
              <a:rPr lang="en-US" baseline="0" dirty="0"/>
              <a:t> about what types of ends they’ll initiate on and which direction they will go.  This chart is from NEB, and you can look up these details if the need for an </a:t>
            </a:r>
            <a:r>
              <a:rPr lang="en-US" baseline="0" dirty="0" err="1"/>
              <a:t>Exo</a:t>
            </a:r>
            <a:r>
              <a:rPr lang="en-US" baseline="0" dirty="0"/>
              <a:t> ever crops up. I will describe what the different column headers mean.</a:t>
            </a:r>
            <a:endParaRPr lang="en-US" dirty="0"/>
          </a:p>
        </p:txBody>
      </p:sp>
      <p:sp>
        <p:nvSpPr>
          <p:cNvPr id="4" name="Slide Number Placeholder 3"/>
          <p:cNvSpPr>
            <a:spLocks noGrp="1"/>
          </p:cNvSpPr>
          <p:nvPr>
            <p:ph type="sldNum" sz="quarter" idx="10"/>
          </p:nvPr>
        </p:nvSpPr>
        <p:spPr/>
        <p:txBody>
          <a:bodyPr/>
          <a:lstStyle/>
          <a:p>
            <a:pPr>
              <a:defRPr/>
            </a:pPr>
            <a:fld id="{AFB49C71-4717-48F2-B8AC-E38C6AA4B444}" type="slidenum">
              <a:rPr lang="en-US" smtClean="0"/>
              <a:pPr>
                <a:defRPr/>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Nope.  The grey arrows are indicating 3’ to 5’.</a:t>
            </a:r>
          </a:p>
        </p:txBody>
      </p:sp>
      <p:sp>
        <p:nvSpPr>
          <p:cNvPr id="4" name="Slide Number Placeholder 3"/>
          <p:cNvSpPr>
            <a:spLocks noGrp="1"/>
          </p:cNvSpPr>
          <p:nvPr>
            <p:ph type="sldNum" sz="quarter" idx="10"/>
          </p:nvPr>
        </p:nvSpPr>
        <p:spPr/>
        <p:txBody>
          <a:bodyPr/>
          <a:lstStyle/>
          <a:p>
            <a:fld id="{2827C9E7-D82F-2B4E-9972-1F4C16D6AC08}" type="slidenum">
              <a:rPr lang="en-US" smtClean="0">
                <a:solidFill>
                  <a:prstClr val="black"/>
                </a:solidFill>
                <a:latin typeface="Calibri"/>
              </a:rPr>
              <a:pPr/>
              <a:t>18</a:t>
            </a:fld>
            <a:endParaRPr lang="en-US">
              <a:solidFill>
                <a:prstClr val="black"/>
              </a:solidFill>
              <a:latin typeface="Calibri"/>
            </a:endParaRPr>
          </a:p>
        </p:txBody>
      </p:sp>
    </p:spTree>
    <p:extLst>
      <p:ext uri="{BB962C8B-B14F-4D97-AF65-F5344CB8AC3E}">
        <p14:creationId xmlns:p14="http://schemas.microsoft.com/office/powerpoint/2010/main" val="7142422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When it says ‘initiates on DNA with a 5’ extension, the sort of end</a:t>
            </a:r>
            <a:r>
              <a:rPr lang="en-US" baseline="0" dirty="0"/>
              <a:t> it is referring to is the products one gets from many restriction enzymes like </a:t>
            </a:r>
            <a:r>
              <a:rPr lang="en-US" baseline="0" dirty="0" err="1"/>
              <a:t>BamHI</a:t>
            </a:r>
            <a:r>
              <a:rPr lang="en-US" baseline="0" dirty="0"/>
              <a:t>.</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Again, it is the bond in green that is broken in a nick</a:t>
            </a:r>
          </a:p>
        </p:txBody>
      </p:sp>
      <p:sp>
        <p:nvSpPr>
          <p:cNvPr id="4" name="Slide Number Placeholder 3"/>
          <p:cNvSpPr>
            <a:spLocks noGrp="1"/>
          </p:cNvSpPr>
          <p:nvPr>
            <p:ph type="sldNum" sz="quarter" idx="10"/>
          </p:nvPr>
        </p:nvSpPr>
        <p:spPr/>
        <p:txBody>
          <a:bodyPr/>
          <a:lstStyle/>
          <a:p>
            <a:fld id="{D453BF83-14DB-435B-A2F6-2F18B1BE4526}"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DNA shown is blunt on one end, and has a 3’ overhang on the other.  To</a:t>
            </a:r>
            <a:r>
              <a:rPr lang="en-US" baseline="0" dirty="0"/>
              <a:t> answer the question, you look up T5 </a:t>
            </a:r>
            <a:r>
              <a:rPr lang="en-US" baseline="0" dirty="0" err="1"/>
              <a:t>Exo</a:t>
            </a:r>
            <a:r>
              <a:rPr lang="en-US" baseline="0" dirty="0"/>
              <a:t> in the NEB catalog.  It initiates on both blunt and 3’ extensions, so this will chew back the 5’ ends of the DNA from both ends until it is gone.</a:t>
            </a:r>
            <a:endParaRPr lang="en-US" dirty="0"/>
          </a:p>
        </p:txBody>
      </p:sp>
      <p:sp>
        <p:nvSpPr>
          <p:cNvPr id="4" name="Slide Number Placeholder 3"/>
          <p:cNvSpPr>
            <a:spLocks noGrp="1"/>
          </p:cNvSpPr>
          <p:nvPr>
            <p:ph type="sldNum" sz="quarter" idx="10"/>
          </p:nvPr>
        </p:nvSpPr>
        <p:spPr/>
        <p:txBody>
          <a:bodyPr/>
          <a:lstStyle/>
          <a:p>
            <a:fld id="{2827C9E7-D82F-2B4E-9972-1F4C16D6AC08}" type="slidenum">
              <a:rPr lang="en-US" smtClean="0">
                <a:solidFill>
                  <a:prstClr val="black"/>
                </a:solidFill>
                <a:latin typeface="Calibri"/>
              </a:rPr>
              <a:pPr/>
              <a:t>21</a:t>
            </a:fld>
            <a:endParaRPr lang="en-US">
              <a:solidFill>
                <a:prstClr val="black"/>
              </a:solidFill>
              <a:latin typeface="Calibri"/>
            </a:endParaRPr>
          </a:p>
        </p:txBody>
      </p:sp>
    </p:spTree>
    <p:extLst>
      <p:ext uri="{BB962C8B-B14F-4D97-AF65-F5344CB8AC3E}">
        <p14:creationId xmlns:p14="http://schemas.microsoft.com/office/powerpoint/2010/main" val="7142422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T5 </a:t>
            </a:r>
            <a:r>
              <a:rPr lang="en-US" dirty="0" err="1"/>
              <a:t>Exonuclease</a:t>
            </a:r>
            <a:r>
              <a:rPr lang="en-US" dirty="0"/>
              <a:t> is used in Gibson cloning</a:t>
            </a:r>
          </a:p>
        </p:txBody>
      </p:sp>
      <p:sp>
        <p:nvSpPr>
          <p:cNvPr id="4" name="Slide Number Placeholder 3"/>
          <p:cNvSpPr>
            <a:spLocks noGrp="1"/>
          </p:cNvSpPr>
          <p:nvPr>
            <p:ph type="sldNum" sz="quarter" idx="10"/>
          </p:nvPr>
        </p:nvSpPr>
        <p:spPr/>
        <p:txBody>
          <a:bodyPr/>
          <a:lstStyle/>
          <a:p>
            <a:fld id="{D453BF83-14DB-435B-A2F6-2F18B1BE4526}"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Exonucleases</a:t>
            </a:r>
            <a:r>
              <a:rPr lang="en-US" dirty="0"/>
              <a:t> have many popular uses including the Gibson method of DNA assembly. Here’s a very traditional example of using an </a:t>
            </a:r>
            <a:r>
              <a:rPr lang="en-US" dirty="0" err="1"/>
              <a:t>exonuclease</a:t>
            </a:r>
            <a:r>
              <a:rPr lang="en-US" baseline="0" dirty="0"/>
              <a:t> to create a blunt sticky end.  First, the DNA is cleaved with </a:t>
            </a:r>
            <a:r>
              <a:rPr lang="en-US" baseline="0" dirty="0" err="1"/>
              <a:t>BamHI</a:t>
            </a:r>
            <a:r>
              <a:rPr lang="en-US" baseline="0" dirty="0"/>
              <a:t> which leaves behind 5’ 4bp extensions.  The fragments are then treated with </a:t>
            </a:r>
            <a:r>
              <a:rPr lang="en-US" baseline="0" dirty="0" err="1"/>
              <a:t>mung</a:t>
            </a:r>
            <a:r>
              <a:rPr lang="en-US" baseline="0" dirty="0"/>
              <a:t> Bean nuclease that cleaves single-stranded DNAs exclusively. The result is a blunt-ended DNA that can be ligated to other blunt ends such as those generated by </a:t>
            </a:r>
            <a:r>
              <a:rPr lang="en-US" baseline="0" dirty="0" err="1"/>
              <a:t>EcoRV</a:t>
            </a:r>
            <a:r>
              <a:rPr lang="en-US" baseline="0" dirty="0"/>
              <a:t>.</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DNA polymerases make copies of DNA molecules by adding </a:t>
            </a:r>
            <a:r>
              <a:rPr lang="en-US" dirty="0" err="1"/>
              <a:t>dNTPs</a:t>
            </a:r>
            <a:r>
              <a:rPr lang="en-US" dirty="0"/>
              <a:t> to recessed 3’ DNA ends.</a:t>
            </a:r>
          </a:p>
        </p:txBody>
      </p:sp>
      <p:sp>
        <p:nvSpPr>
          <p:cNvPr id="4" name="Slide Number Placeholder 3"/>
          <p:cNvSpPr>
            <a:spLocks noGrp="1"/>
          </p:cNvSpPr>
          <p:nvPr>
            <p:ph type="sldNum" sz="quarter" idx="10"/>
          </p:nvPr>
        </p:nvSpPr>
        <p:spPr/>
        <p:txBody>
          <a:bodyPr/>
          <a:lstStyle/>
          <a:p>
            <a:fld id="{D453BF83-14DB-435B-A2F6-2F18B1BE4526}"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There are multiple DNA polymerases operating in both eukaryotic and prokaryotic cells that play</a:t>
            </a:r>
            <a:r>
              <a:rPr lang="en-US" baseline="0" dirty="0"/>
              <a:t> different roles within the DNA lifecycle.  In E. coli, DNA polymerase I is involved in DNA replication and DNA repair and is encoded by a single polypeptide. The protein has multiple domains responsible for different aspects of its overall reaction including a distinct domain for proofreading.  This domain is removed in the </a:t>
            </a:r>
            <a:r>
              <a:rPr lang="en-US" baseline="0" dirty="0" err="1"/>
              <a:t>Klenow</a:t>
            </a:r>
            <a:r>
              <a:rPr lang="en-US" baseline="0" dirty="0"/>
              <a:t> Fragment of DNA polymerase I.  Most </a:t>
            </a:r>
            <a:r>
              <a:rPr lang="en-US" baseline="0" dirty="0" err="1"/>
              <a:t>theremostable</a:t>
            </a:r>
            <a:r>
              <a:rPr lang="en-US" baseline="0" dirty="0"/>
              <a:t> polymerases are homologs of full-length DNA polymerase I or of its </a:t>
            </a:r>
            <a:r>
              <a:rPr lang="en-US" baseline="0" dirty="0" err="1"/>
              <a:t>klenow</a:t>
            </a:r>
            <a:r>
              <a:rPr lang="en-US" baseline="0" dirty="0"/>
              <a:t> fragment.</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Like</a:t>
            </a:r>
            <a:r>
              <a:rPr lang="en-US" baseline="0" dirty="0"/>
              <a:t> with </a:t>
            </a:r>
            <a:r>
              <a:rPr lang="en-US" baseline="0" dirty="0" err="1"/>
              <a:t>exonucleases</a:t>
            </a:r>
            <a:r>
              <a:rPr lang="en-US" baseline="0" dirty="0"/>
              <a:t> that degrade a DNA, the different enzymes that polymerize DNA have diverse and specific subtle variations in behavior. I’ll go through what the different properties here mean.</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Many</a:t>
            </a:r>
            <a:r>
              <a:rPr lang="en-US" baseline="0" dirty="0"/>
              <a:t> of these variant behaviors of polymerases is how they respond to nicks.  Suppose we have this DNA involving 3 polynucleotides annealed together such that there remains a single 3’ recessed end.  Any DNA polymerase will extend this recessed end.</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453BF83-14DB-435B-A2F6-2F18B1BE4526}" type="slidenum">
              <a:rPr lang="en-US" smtClean="0"/>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453BF83-14DB-435B-A2F6-2F18B1BE4526}" type="slidenum">
              <a:rPr lang="en-US" smtClean="0"/>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a:t>But what will happen when it collides with the other annealed DNA?  If the polymerase has 5’ to 3’ </a:t>
            </a:r>
            <a:r>
              <a:rPr lang="en-US" baseline="0" dirty="0" err="1"/>
              <a:t>exo</a:t>
            </a:r>
            <a:r>
              <a:rPr lang="en-US" baseline="0" dirty="0"/>
              <a:t> activity, it will chew up</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453BF83-14DB-435B-A2F6-2F18B1BE4526}" type="slidenum">
              <a:rPr lang="en-US" smtClean="0"/>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DNA strand is ultimately</a:t>
            </a:r>
            <a:r>
              <a:rPr lang="en-US" baseline="0" dirty="0"/>
              <a:t> entirely replaced by new synthesis</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more common scenario is strand displacement.  The polymerase</a:t>
            </a:r>
            <a:r>
              <a:rPr lang="en-US" baseline="0" dirty="0"/>
              <a:t> synthesizes DNA until it reaches the blocking strand</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453BF83-14DB-435B-A2F6-2F18B1BE4526}" type="slidenum">
              <a:rPr lang="en-US" smtClean="0"/>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453BF83-14DB-435B-A2F6-2F18B1BE4526}" type="slidenum">
              <a:rPr lang="en-US" smtClean="0"/>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And then displaces the blocking</a:t>
            </a:r>
            <a:r>
              <a:rPr lang="en-US" baseline="0" dirty="0"/>
              <a:t> strand</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453BF83-14DB-435B-A2F6-2F18B1BE4526}" type="slidenum">
              <a:rPr lang="en-US" smtClean="0"/>
              <a:pPr/>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453BF83-14DB-435B-A2F6-2F18B1BE4526}" type="slidenum">
              <a:rPr lang="en-US" smtClean="0"/>
              <a:pPr/>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Until ultimately</a:t>
            </a:r>
            <a:r>
              <a:rPr lang="en-US" baseline="0" dirty="0"/>
              <a:t> that DNA is released as a separate complex.</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a:t>
            </a:r>
            <a:r>
              <a:rPr lang="en-US" baseline="0" dirty="0"/>
              <a:t> enzyme phi29 is the most robust strand-displacing enzymes, and one of the more useful molecular biology tricks is rolling circle amplification with phi29.</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First, the DNA is denatured</a:t>
            </a:r>
            <a:r>
              <a:rPr lang="en-US" baseline="0" dirty="0"/>
              <a:t> to separate the strands</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453BF83-14DB-435B-A2F6-2F18B1BE4526}" type="slidenum">
              <a:rPr lang="en-US" smtClean="0"/>
              <a:pPr/>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This allows the annealing</a:t>
            </a:r>
            <a:r>
              <a:rPr lang="en-US" baseline="0" dirty="0"/>
              <a:t> of oligonucleotides that then can initiate polymerization</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453BF83-14DB-435B-A2F6-2F18B1BE4526}" type="slidenum">
              <a:rPr lang="en-US" smtClean="0"/>
              <a:pPr/>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453BF83-14DB-435B-A2F6-2F18B1BE4526}" type="slidenum">
              <a:rPr lang="en-US" smtClean="0"/>
              <a:pPr/>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a:t>The new strand </a:t>
            </a:r>
            <a:r>
              <a:rPr lang="en-US" baseline="0" dirty="0"/>
              <a:t>eventually reaches its own 5’ end and will undergo strand displacement.</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453BF83-14DB-435B-A2F6-2F18B1BE4526}" type="slidenum">
              <a:rPr lang="en-US" smtClean="0"/>
              <a:pPr/>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453BF83-14DB-435B-A2F6-2F18B1BE4526}" type="slidenum">
              <a:rPr lang="en-US" smtClean="0"/>
              <a:pPr/>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newly-released strand can initiate further polymerization</a:t>
            </a:r>
            <a:r>
              <a:rPr lang="en-US" baseline="0" dirty="0"/>
              <a:t> allowing rapid isothermal amplification of DNAs.</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51</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Another example of the utility of subtly different polymerase properties is Kunkel</a:t>
            </a:r>
            <a:r>
              <a:rPr lang="en-US" baseline="0" dirty="0"/>
              <a:t> mutagenesis.  Kunkel involves the use of T4 DNA polymerase which has neither 5’-3’ </a:t>
            </a:r>
            <a:r>
              <a:rPr lang="en-US" baseline="0" dirty="0" err="1"/>
              <a:t>exo</a:t>
            </a:r>
            <a:r>
              <a:rPr lang="en-US" baseline="0" dirty="0"/>
              <a:t> nor displacement behavior.</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52</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An </a:t>
            </a:r>
            <a:r>
              <a:rPr lang="en-US" dirty="0" err="1"/>
              <a:t>oligo</a:t>
            </a:r>
            <a:r>
              <a:rPr lang="en-US" dirty="0"/>
              <a:t> that is homologous to the DNA but</a:t>
            </a:r>
            <a:r>
              <a:rPr lang="en-US" baseline="0" dirty="0"/>
              <a:t> contains a mutation designated by the red X is annealed to the DNA.  It then undergoes polymerization around the circle.</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53</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453BF83-14DB-435B-A2F6-2F18B1BE4526}" type="slidenum">
              <a:rPr lang="en-US" smtClean="0"/>
              <a:pPr/>
              <a:t>54</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This DNA is then transformed into E. coli which can repair the nick.</a:t>
            </a:r>
            <a:r>
              <a:rPr lang="en-US" baseline="0" dirty="0"/>
              <a:t>  If a different polymerase were used that did strand displacement or </a:t>
            </a:r>
            <a:r>
              <a:rPr lang="en-US" baseline="0" dirty="0" err="1"/>
              <a:t>exo</a:t>
            </a:r>
            <a:r>
              <a:rPr lang="en-US" baseline="0" dirty="0"/>
              <a:t>, the X would become dislodged or degraded, and would not be incorporated into the final sequence.</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55</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Polymerases can also have 3’ to 5’ </a:t>
            </a:r>
            <a:r>
              <a:rPr lang="en-US" dirty="0" err="1"/>
              <a:t>exonuclease</a:t>
            </a:r>
            <a:r>
              <a:rPr lang="en-US" dirty="0"/>
              <a:t> activity.  This is the property referred to by ‘proofreading’ in the context of polymerases.  It is the major component of the enzyme that determines</a:t>
            </a:r>
            <a:r>
              <a:rPr lang="en-US" baseline="0" dirty="0"/>
              <a:t> its fidelity.  It is absent in </a:t>
            </a:r>
            <a:r>
              <a:rPr lang="en-US" baseline="0" dirty="0" err="1"/>
              <a:t>Taq</a:t>
            </a:r>
            <a:r>
              <a:rPr lang="en-US" baseline="0" dirty="0"/>
              <a:t>-like enzymes which also have higher error rates.  It is present in </a:t>
            </a:r>
            <a:r>
              <a:rPr lang="en-US" baseline="0" dirty="0" err="1"/>
              <a:t>Pfu</a:t>
            </a:r>
            <a:r>
              <a:rPr lang="en-US" baseline="0" dirty="0"/>
              <a:t>-like enzymes.  Enzymes with this activity will produce blunt-ended </a:t>
            </a:r>
            <a:r>
              <a:rPr lang="en-US" baseline="0" dirty="0" err="1"/>
              <a:t>pcr</a:t>
            </a:r>
            <a:r>
              <a:rPr lang="en-US" baseline="0" dirty="0"/>
              <a:t> products, while those without this activity will typically contain a single 3’ A overhang.</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56</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RNA polymerases are enzymes that initiate a new RNA chain on a DNA template. There are also such</a:t>
            </a:r>
            <a:r>
              <a:rPr lang="en-US" baseline="0" dirty="0"/>
              <a:t> things as RNA-directed RNA polymerases.  For the purposes of understanding synthetic biology, you are likely to encounter two of these enzymes.  First is the one that produces the RNAs in the cell, and the other is T7 RNA polymerase.  Though the native enzyme is important to understand in the context of gene expression, only the phage one is commonly used in vitro.</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57</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T7 RNAP is used for both in vivo and in vitro transcription.  When people speak of T7 expression systems, the </a:t>
            </a:r>
            <a:r>
              <a:rPr lang="en-US" dirty="0" err="1"/>
              <a:t>pET</a:t>
            </a:r>
            <a:r>
              <a:rPr lang="en-US" dirty="0"/>
              <a:t> vectors, BL21</a:t>
            </a:r>
            <a:r>
              <a:rPr lang="en-US" baseline="0" dirty="0"/>
              <a:t> or DE3 strains, they are talking about systems employing the T7 RNA </a:t>
            </a:r>
            <a:r>
              <a:rPr lang="en-US" baseline="0" dirty="0" err="1"/>
              <a:t>polymase</a:t>
            </a:r>
            <a:r>
              <a:rPr lang="en-US" baseline="0" dirty="0"/>
              <a:t> to control the transcription of an engineered gene.  It produces very high protein expression levels in vivo, but it also can be used to generate </a:t>
            </a:r>
            <a:r>
              <a:rPr lang="en-US" baseline="0" dirty="0" err="1"/>
              <a:t>tRNAs</a:t>
            </a:r>
            <a:r>
              <a:rPr lang="en-US" baseline="0" dirty="0"/>
              <a:t>, mRNAs, or ribozymes and </a:t>
            </a:r>
            <a:r>
              <a:rPr lang="en-US" baseline="0" dirty="0" err="1"/>
              <a:t>aptamers</a:t>
            </a:r>
            <a:r>
              <a:rPr lang="en-US" baseline="0" dirty="0"/>
              <a:t> in vitro.</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58</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substrate for T7RNAP</a:t>
            </a:r>
            <a:r>
              <a:rPr lang="en-US" baseline="0" dirty="0"/>
              <a:t> is a double-stranded DNA with the T7 promoter sequence </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59</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polymerase binds to this sequence, displaces the sense strand,</a:t>
            </a:r>
          </a:p>
        </p:txBody>
      </p:sp>
      <p:sp>
        <p:nvSpPr>
          <p:cNvPr id="4" name="Slide Number Placeholder 3"/>
          <p:cNvSpPr>
            <a:spLocks noGrp="1"/>
          </p:cNvSpPr>
          <p:nvPr>
            <p:ph type="sldNum" sz="quarter" idx="10"/>
          </p:nvPr>
        </p:nvSpPr>
        <p:spPr/>
        <p:txBody>
          <a:bodyPr/>
          <a:lstStyle/>
          <a:p>
            <a:fld id="{D453BF83-14DB-435B-A2F6-2F18B1BE4526}" type="slidenum">
              <a:rPr lang="en-US" smtClean="0"/>
              <a:pPr/>
              <a:t>60</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And initiates a new molecule from a</a:t>
            </a:r>
            <a:r>
              <a:rPr lang="en-US" baseline="0" dirty="0"/>
              <a:t> G residue at the end of the T7 promoter sequence.</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61</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When</a:t>
            </a:r>
            <a:r>
              <a:rPr lang="en-US" baseline="0" dirty="0"/>
              <a:t> the polymerase reaches either the end of the DNA (which is called runoff transcription) or when it hits a terminator sequence, the new single-stranded RNA is released and polymerization can begin again.</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62</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Ligases join two polynucleotides</a:t>
            </a:r>
            <a:r>
              <a:rPr lang="en-US" baseline="0" dirty="0"/>
              <a:t> into one molecule by joining the 5’ phosphate to 3’ hydroxyl groups. The reaction requires coupling to an energy source, either ATP or NAD+, because the reactions itself is not thermodynamically favorable.</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63</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one you will most encounter is</a:t>
            </a:r>
            <a:r>
              <a:rPr lang="en-US" baseline="0" dirty="0"/>
              <a:t> T4 DNA Ligase.  This enzyme has no homolog in E. coli, and moreover its only homologs are in other phages.  We’ll see that there is also a native ligase, but this enzyme is quite distinct.  It requires a 5’ phosphate and 3’ hydroxyl, and there can be no mismatches or gaps near the junction to be ligated.  It operates on any length of homology including the joining of blunt ends. It is commonly used to join DNAs whose ends have been cleaved by restriction enzymes. Here we see the joining of two </a:t>
            </a:r>
            <a:r>
              <a:rPr lang="en-US" baseline="0" dirty="0" err="1"/>
              <a:t>PstI</a:t>
            </a:r>
            <a:r>
              <a:rPr lang="en-US" baseline="0" dirty="0"/>
              <a:t> sticky ends back into a double-stranded DNA with restoration of the restriction site.</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64</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this, you look up what each enzyme does,</a:t>
            </a:r>
            <a:r>
              <a:rPr lang="en-US" baseline="0" dirty="0"/>
              <a:t> either from these slides or the NEB catalog, then apply them in order.  </a:t>
            </a:r>
            <a:r>
              <a:rPr lang="en-US" baseline="0" dirty="0" err="1"/>
              <a:t>EcoRI</a:t>
            </a:r>
            <a:r>
              <a:rPr lang="en-US" baseline="0" dirty="0"/>
              <a:t> will cut GAATTC.  </a:t>
            </a:r>
            <a:r>
              <a:rPr lang="en-US" baseline="0" dirty="0" err="1"/>
              <a:t>Mung</a:t>
            </a:r>
            <a:r>
              <a:rPr lang="en-US" baseline="0" dirty="0"/>
              <a:t> Bean Nuclease will blunt the sticky end, then ligase will join the ends back together.</a:t>
            </a:r>
          </a:p>
          <a:p>
            <a:endParaRPr lang="en-US" baseline="0" dirty="0"/>
          </a:p>
          <a:p>
            <a:r>
              <a:rPr lang="en-US" baseline="0" dirty="0"/>
              <a:t>This is a technique used prior to the advent of PCR to join DNAs by unmatched sticky ends.  By treating with an </a:t>
            </a:r>
            <a:r>
              <a:rPr lang="en-US" baseline="0" dirty="0" err="1"/>
              <a:t>exonuclease</a:t>
            </a:r>
            <a:r>
              <a:rPr lang="en-US" baseline="0" dirty="0"/>
              <a:t>, all sticky ends become blunt and thus compatible with each other. So, you could, for example, cut one DNA with </a:t>
            </a:r>
            <a:r>
              <a:rPr lang="en-US" baseline="0" dirty="0" err="1"/>
              <a:t>EcoRI</a:t>
            </a:r>
            <a:r>
              <a:rPr lang="en-US" baseline="0" dirty="0"/>
              <a:t>, another with </a:t>
            </a:r>
            <a:r>
              <a:rPr lang="en-US" baseline="0" dirty="0" err="1"/>
              <a:t>BamHI</a:t>
            </a:r>
            <a:r>
              <a:rPr lang="en-US" baseline="0" dirty="0"/>
              <a:t>, blunt them, and then ligate the two unmatched </a:t>
            </a:r>
            <a:r>
              <a:rPr lang="en-US" baseline="0"/>
              <a:t>ends together.</a:t>
            </a:r>
            <a:endParaRPr lang="en-US" baseline="0" dirty="0"/>
          </a:p>
          <a:p>
            <a:endParaRPr lang="en-US" dirty="0"/>
          </a:p>
        </p:txBody>
      </p:sp>
      <p:sp>
        <p:nvSpPr>
          <p:cNvPr id="4" name="Slide Number Placeholder 3"/>
          <p:cNvSpPr>
            <a:spLocks noGrp="1"/>
          </p:cNvSpPr>
          <p:nvPr>
            <p:ph type="sldNum" sz="quarter" idx="10"/>
          </p:nvPr>
        </p:nvSpPr>
        <p:spPr/>
        <p:txBody>
          <a:bodyPr/>
          <a:lstStyle/>
          <a:p>
            <a:fld id="{2827C9E7-D82F-2B4E-9972-1F4C16D6AC08}" type="slidenum">
              <a:rPr lang="en-US" smtClean="0">
                <a:solidFill>
                  <a:prstClr val="black"/>
                </a:solidFill>
                <a:latin typeface="Calibri"/>
              </a:rPr>
              <a:pPr/>
              <a:t>65</a:t>
            </a:fld>
            <a:endParaRPr lang="en-US">
              <a:solidFill>
                <a:prstClr val="black"/>
              </a:solidFill>
              <a:latin typeface="Calibri"/>
            </a:endParaRPr>
          </a:p>
        </p:txBody>
      </p:sp>
    </p:spTree>
    <p:extLst>
      <p:ext uri="{BB962C8B-B14F-4D97-AF65-F5344CB8AC3E}">
        <p14:creationId xmlns:p14="http://schemas.microsoft.com/office/powerpoint/2010/main" val="7142422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E. coli DNA ligase is rarely used in vitro, but it is a ubiquitous</a:t>
            </a:r>
            <a:r>
              <a:rPr lang="en-US" baseline="0" dirty="0"/>
              <a:t> housekeeping function in cells used during DNA repair and replication.  It forms bonds by repairing nicks only.  It requires a 5’ phosphate be present, and it can’t be used to join non-annealed DNA.  So, it can’t be used to ligate together DNAs cleaved by restriction enzymes.</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66</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bond being generated by ligases is the same one we discussed</a:t>
            </a:r>
            <a:r>
              <a:rPr lang="en-US" baseline="0" dirty="0"/>
              <a:t> before with restriction enzymes.  The phosphate will already be present, and it just needs to be joined to the 3’ hydroxyl.</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67</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Taq</a:t>
            </a:r>
            <a:r>
              <a:rPr lang="en-US" baseline="0" dirty="0"/>
              <a:t> DNA ligase, not to be confused with </a:t>
            </a:r>
            <a:r>
              <a:rPr lang="en-US" baseline="0" dirty="0" err="1"/>
              <a:t>Taq</a:t>
            </a:r>
            <a:r>
              <a:rPr lang="en-US" baseline="0" dirty="0"/>
              <a:t> polymerase, is biochemically the same as the E. coli DNA ligase, but it comes from </a:t>
            </a:r>
            <a:r>
              <a:rPr lang="en-US" baseline="0" dirty="0" err="1"/>
              <a:t>thermus</a:t>
            </a:r>
            <a:r>
              <a:rPr lang="en-US" baseline="0" dirty="0"/>
              <a:t> </a:t>
            </a:r>
            <a:r>
              <a:rPr lang="en-US" baseline="0" dirty="0" err="1"/>
              <a:t>aquaticus</a:t>
            </a:r>
            <a:r>
              <a:rPr lang="en-US" baseline="0" dirty="0"/>
              <a:t>.  Because that organism is a thermophile, this protein is </a:t>
            </a:r>
            <a:r>
              <a:rPr lang="en-US" baseline="0" dirty="0" err="1"/>
              <a:t>thermostable</a:t>
            </a:r>
            <a:r>
              <a:rPr lang="en-US" baseline="0" dirty="0"/>
              <a:t>.  It is primarily used in the Ligase Chain Reaction, or LCR.  LCR is similar to PCR in the sense that it involves exponential amplification of a DNA product through cycles of temperature changes. It is used for detection of polymorphisms in high-density assays, or some protocols of gene synthesis.</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68</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Methyltransferases</a:t>
            </a:r>
            <a:r>
              <a:rPr lang="en-US" baseline="0" dirty="0"/>
              <a:t> add methyl groups to a DNA.  They most commonly add the methyl group to either N6 of Adenine or C5 of cytosine.</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69</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type II restriction</a:t>
            </a:r>
            <a:r>
              <a:rPr lang="en-US" baseline="0" dirty="0"/>
              <a:t> enzymes have cognate </a:t>
            </a:r>
            <a:r>
              <a:rPr lang="en-US" baseline="0" dirty="0" err="1"/>
              <a:t>methyltransferases</a:t>
            </a:r>
            <a:r>
              <a:rPr lang="en-US" baseline="0" dirty="0"/>
              <a:t>.  They are used in the native context to protect the genome from the action of the restriction enzyme and thus typically have the same specificity as the restriction enzyme.  For example, </a:t>
            </a:r>
            <a:r>
              <a:rPr lang="en-US" baseline="0" dirty="0" err="1"/>
              <a:t>BamHI</a:t>
            </a:r>
            <a:r>
              <a:rPr lang="en-US" baseline="0" dirty="0"/>
              <a:t> </a:t>
            </a:r>
            <a:r>
              <a:rPr lang="en-US" baseline="0" dirty="0" err="1"/>
              <a:t>methyltranferase</a:t>
            </a:r>
            <a:r>
              <a:rPr lang="en-US" baseline="0" dirty="0"/>
              <a:t> modifies the fourth C in the </a:t>
            </a:r>
            <a:r>
              <a:rPr lang="en-US" baseline="0" dirty="0" err="1"/>
              <a:t>BamHI</a:t>
            </a:r>
            <a:r>
              <a:rPr lang="en-US" baseline="0" dirty="0"/>
              <a:t> restriction site. Upon methylation, the activity of the cognate endonuclease is blocked at that site.</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70</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Dam and </a:t>
            </a:r>
            <a:r>
              <a:rPr lang="en-US" dirty="0" err="1"/>
              <a:t>Dcm</a:t>
            </a:r>
            <a:r>
              <a:rPr lang="en-US" dirty="0"/>
              <a:t> methylation</a:t>
            </a:r>
            <a:r>
              <a:rPr lang="en-US" baseline="0" dirty="0"/>
              <a:t> frequently block restriction endonucleases.  The lab strains of E. coli encode these two </a:t>
            </a:r>
            <a:r>
              <a:rPr lang="en-US" baseline="0" dirty="0" err="1"/>
              <a:t>mehtyltransferases</a:t>
            </a:r>
            <a:r>
              <a:rPr lang="en-US" baseline="0" dirty="0"/>
              <a:t> which modify the sequence GATC and CCWGG, where </a:t>
            </a:r>
            <a:r>
              <a:rPr lang="mr-IN" baseline="0" dirty="0"/>
              <a:t>W </a:t>
            </a:r>
            <a:r>
              <a:rPr lang="en-US" baseline="0" dirty="0"/>
              <a:t>is either A or </a:t>
            </a:r>
            <a:r>
              <a:rPr lang="mr-IN" baseline="0" dirty="0"/>
              <a:t>T;</a:t>
            </a:r>
            <a:r>
              <a:rPr lang="en-US" baseline="0" dirty="0"/>
              <a:t> .  When a restriction site overlaps these sites, the enzyme will be blocked.  There are some useful strains like JM110 that have these genes knocked out, but these genes also play regulatory roles in the cell and the bacteria aren’t healthy.  Whether an enzyme can be blocked by Dam or </a:t>
            </a:r>
            <a:r>
              <a:rPr lang="en-US" baseline="0" dirty="0" err="1"/>
              <a:t>Dcm</a:t>
            </a:r>
            <a:r>
              <a:rPr lang="en-US" baseline="0" dirty="0"/>
              <a:t> methylation is cataloged by NEB.  One of the more common ones is </a:t>
            </a:r>
            <a:r>
              <a:rPr lang="en-US" baseline="0" dirty="0" err="1"/>
              <a:t>XbaI</a:t>
            </a:r>
            <a:r>
              <a:rPr lang="en-US" baseline="0" dirty="0"/>
              <a:t>.  If the restriction site is followed by the sequence TC, it will overlap a Dam site and thus be methylated and blocked.</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71</a:t>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Kinases</a:t>
            </a:r>
            <a:r>
              <a:rPr lang="en-US" baseline="0" dirty="0"/>
              <a:t> and phosphatases add or remove the 5’ phosphate as indicated with the pink arrow.  DNAs that are the products of endonucleases have a single 5’ phosphate.  Synthetic oligonucleotides have a clean 5’ hydroxyl. Molecular biology protocols often require ligase which requires 5’ phosphates.  Sometimes it is useful to make a DNA available or not available for ligation, and this phosphorylation state can be changed with kinases and phosphatases.  Additionally, some </a:t>
            </a:r>
            <a:r>
              <a:rPr lang="en-US" baseline="0" dirty="0" err="1"/>
              <a:t>exonucleases</a:t>
            </a:r>
            <a:r>
              <a:rPr lang="en-US" baseline="0" dirty="0"/>
              <a:t> require a 5’ phosphate and thus the degradability of a DNA can be altered by these enzymes.</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72</a:t>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most commonly used class of phosphatases</a:t>
            </a:r>
            <a:r>
              <a:rPr lang="en-US" baseline="0" dirty="0"/>
              <a:t> are the alkaline phosphatases.  They </a:t>
            </a:r>
            <a:r>
              <a:rPr lang="en-US" baseline="0" dirty="0" err="1"/>
              <a:t>catalzye</a:t>
            </a:r>
            <a:r>
              <a:rPr lang="en-US" baseline="0" dirty="0"/>
              <a:t> the hydrolysis of phosphate esters non-</a:t>
            </a:r>
            <a:r>
              <a:rPr lang="en-US" baseline="0" dirty="0" err="1"/>
              <a:t>specificically</a:t>
            </a:r>
            <a:r>
              <a:rPr lang="en-US" baseline="0" dirty="0"/>
              <a:t>.  So, these enzymes are used outside the context of DNA manipulation.  For example, you can react an alkaline phosphatase with p-</a:t>
            </a:r>
            <a:r>
              <a:rPr lang="en-US" baseline="0" dirty="0" err="1"/>
              <a:t>nitrophenyl</a:t>
            </a:r>
            <a:r>
              <a:rPr lang="en-US" baseline="0" dirty="0"/>
              <a:t> phosphate and release a yellow pigment that can be detected </a:t>
            </a:r>
            <a:r>
              <a:rPr lang="en-US" baseline="0" dirty="0" err="1"/>
              <a:t>photometrically</a:t>
            </a:r>
            <a:r>
              <a:rPr lang="en-US" baseline="0" dirty="0"/>
              <a:t>. The enzyme will act on any exposed nucleic acid phosphate such as the 5’ ends of nucleotides or polynucleotides. These enzymes are very common in nature, from both prokaryotic and animal sources.</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73</a:t>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oldest, cheapest,</a:t>
            </a:r>
            <a:r>
              <a:rPr lang="en-US" baseline="0" dirty="0"/>
              <a:t> and most well-known enzyme is calf intestine alkaline phosphatase, or CIP. The name means what it implies—it is a phosphatase originally isolated from calf intestine. It is often used to prevent re-closure of ends of a vector digested with restriction enzymes.  It can also be used to destroy </a:t>
            </a:r>
            <a:r>
              <a:rPr lang="en-US" baseline="0" dirty="0" err="1"/>
              <a:t>dNTPs</a:t>
            </a:r>
            <a:r>
              <a:rPr lang="en-US" baseline="0" dirty="0"/>
              <a:t> in a reaction mixture.  * Shrimp Alkaline Phosphatase can be easily heat-killed but is otherwise the same as CIP.  One useful protocol for automating sample generation for cycle sequencing is called </a:t>
            </a:r>
            <a:r>
              <a:rPr lang="en-US" baseline="0" dirty="0" err="1"/>
              <a:t>Exo</a:t>
            </a:r>
            <a:r>
              <a:rPr lang="en-US" baseline="0" dirty="0"/>
              <a:t>-SAP, where you degrade the unreacted primers and </a:t>
            </a:r>
            <a:r>
              <a:rPr lang="en-US" baseline="0" dirty="0" err="1"/>
              <a:t>dNTPs</a:t>
            </a:r>
            <a:r>
              <a:rPr lang="en-US" baseline="0" dirty="0"/>
              <a:t> of a PCR reaction by digestion with SAP and </a:t>
            </a:r>
            <a:r>
              <a:rPr lang="en-US" baseline="0" dirty="0" err="1"/>
              <a:t>Exonuclease</a:t>
            </a:r>
            <a:r>
              <a:rPr lang="en-US" baseline="0" dirty="0"/>
              <a:t> I.  * Antarctic phosphatase is a newer version of the heat-killable alkaline phosphatase, which is claimed to be even more heat-labile.</a:t>
            </a:r>
          </a:p>
        </p:txBody>
      </p:sp>
      <p:sp>
        <p:nvSpPr>
          <p:cNvPr id="4" name="Slide Number Placeholder 3"/>
          <p:cNvSpPr>
            <a:spLocks noGrp="1"/>
          </p:cNvSpPr>
          <p:nvPr>
            <p:ph type="sldNum" sz="quarter" idx="10"/>
          </p:nvPr>
        </p:nvSpPr>
        <p:spPr/>
        <p:txBody>
          <a:bodyPr/>
          <a:lstStyle/>
          <a:p>
            <a:fld id="{D453BF83-14DB-435B-A2F6-2F18B1BE4526}" type="slidenum">
              <a:rPr lang="en-US" smtClean="0"/>
              <a:pPr/>
              <a:t>74</a:t>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T4 polynucleotide kinase Transfers a single phosphate to the 5’ hydroxyl of an RNA or DNA from ATP. It</a:t>
            </a:r>
            <a:r>
              <a:rPr lang="en-US" baseline="0" dirty="0"/>
              <a:t> is the gamma </a:t>
            </a:r>
            <a:r>
              <a:rPr lang="en-US" dirty="0"/>
              <a:t>phosphate of ATP (the terminal one) that gets transferred. The enzyme is most commonly used to phosphorylate synthetic oligonucleotides so that they can be substrates for ligase.  It works best on single stranded DNAs, and it is often used to radiolabel DNAs using [gamma-32-P] ATP </a:t>
            </a:r>
          </a:p>
          <a:p>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75</a:t>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It adds phosphates</a:t>
            </a:r>
            <a:r>
              <a:rPr lang="en-US" baseline="0" dirty="0"/>
              <a:t> to 5’ ends of a DNA.  This diagram doesn’t actually show this</a:t>
            </a:r>
            <a:r>
              <a:rPr lang="mr-IN" baseline="0" dirty="0"/>
              <a:t>…</a:t>
            </a:r>
            <a:r>
              <a:rPr lang="en-US" baseline="0" dirty="0"/>
              <a:t>it implies that this 5’ O is attached to another nucleotide.  If this was the end of the molecule, and it were an H attached, then this would be a 5’-OH and would be phosphorylated.  Note that when we cut a DNA with a nuclease, we are breaking the bond between the 3’-OH and the 5’-phosphate.  The resulting state of the newly generated 5’ end is thus a 5’-phosphate, not a 5’-OH.  Thus it is in the state that would result from treatment of a naked 5’-OH with PNK.  Often what you use PNK for is to phosphorylate </a:t>
            </a:r>
            <a:r>
              <a:rPr lang="en-US" baseline="0" dirty="0" err="1"/>
              <a:t>oligos</a:t>
            </a:r>
            <a:r>
              <a:rPr lang="en-US" baseline="0" dirty="0"/>
              <a:t> such that there end is 5’-phosphate.  It needs that to undergo ligation.</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76</a:t>
            </a:fld>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Recombination involves rearrangements in DNAs</a:t>
            </a:r>
            <a:r>
              <a:rPr lang="en-US" baseline="0" dirty="0"/>
              <a:t> over homologous sequences.  There are some </a:t>
            </a:r>
            <a:r>
              <a:rPr lang="en-US" baseline="0" dirty="0" err="1"/>
              <a:t>recombinases</a:t>
            </a:r>
            <a:r>
              <a:rPr lang="en-US" baseline="0" dirty="0"/>
              <a:t> that act on very specific sequences, while others are not specific about the sequence; they recombine similar sequences.</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77</a:t>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Cre</a:t>
            </a:r>
            <a:r>
              <a:rPr lang="en-US" dirty="0"/>
              <a:t> </a:t>
            </a:r>
            <a:r>
              <a:rPr lang="en-US" dirty="0" err="1"/>
              <a:t>recombinase</a:t>
            </a:r>
            <a:r>
              <a:rPr lang="en-US" baseline="0" dirty="0"/>
              <a:t> comes from the E. coli phage P1 and recognizes a 34bp sequence and recombines two of them. The site is not palindromic, and thus is not the same sequence on both strands and it has directionality. For a DNA containing two such sites, they can be arranged in the same orientation, called parallel, or on opposing strands called antiparallel.  Parallel site recombination, topologically speaking, results in excision of any intermediate sequence while antiparallel sites undergo inversion.  Such flipping systems are popular targets for controlling gene expression.  </a:t>
            </a:r>
            <a:r>
              <a:rPr lang="en-US" baseline="0" dirty="0" err="1"/>
              <a:t>Floxing</a:t>
            </a:r>
            <a:r>
              <a:rPr lang="en-US" baseline="0" dirty="0"/>
              <a:t> a gene means to encode a gene flanked by lox sites into the genome of a cell.  Through later expression of </a:t>
            </a:r>
            <a:r>
              <a:rPr lang="en-US" baseline="0" dirty="0" err="1"/>
              <a:t>cre</a:t>
            </a:r>
            <a:r>
              <a:rPr lang="en-US" baseline="0" dirty="0"/>
              <a:t> in the cell, that gene is excised and thereby deleted.</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78</a:t>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Another popular sequence-specific </a:t>
            </a:r>
            <a:r>
              <a:rPr lang="en-US" dirty="0" err="1"/>
              <a:t>recombinase</a:t>
            </a:r>
            <a:r>
              <a:rPr lang="en-US" dirty="0"/>
              <a:t> type are</a:t>
            </a:r>
            <a:r>
              <a:rPr lang="en-US" baseline="0" dirty="0"/>
              <a:t> phage </a:t>
            </a:r>
            <a:r>
              <a:rPr lang="en-US" baseline="0" dirty="0" err="1"/>
              <a:t>att</a:t>
            </a:r>
            <a:r>
              <a:rPr lang="en-US" baseline="0" dirty="0"/>
              <a:t> sites.  Most of these </a:t>
            </a:r>
            <a:r>
              <a:rPr lang="en-US" baseline="0" dirty="0" err="1"/>
              <a:t>recombinases</a:t>
            </a:r>
            <a:r>
              <a:rPr lang="en-US" baseline="0" dirty="0"/>
              <a:t> act on asymmetric substrates and thus the reaction has directionality.  In the most popular system, from lambda phage, a DNA with the </a:t>
            </a:r>
            <a:r>
              <a:rPr lang="en-US" baseline="0" dirty="0" err="1"/>
              <a:t>attP</a:t>
            </a:r>
            <a:r>
              <a:rPr lang="en-US" baseline="0" dirty="0"/>
              <a:t> sequence is recombined with a DNA (such as the genome) with an </a:t>
            </a:r>
            <a:r>
              <a:rPr lang="en-US" baseline="0" dirty="0" err="1"/>
              <a:t>attB</a:t>
            </a:r>
            <a:r>
              <a:rPr lang="en-US" baseline="0" dirty="0"/>
              <a:t> sequence.  The resulting sequences are named </a:t>
            </a:r>
            <a:r>
              <a:rPr lang="en-US" baseline="0" dirty="0" err="1"/>
              <a:t>attL</a:t>
            </a:r>
            <a:r>
              <a:rPr lang="en-US" baseline="0" dirty="0"/>
              <a:t> and </a:t>
            </a:r>
            <a:r>
              <a:rPr lang="en-US" baseline="0" dirty="0" err="1"/>
              <a:t>attR</a:t>
            </a:r>
            <a:r>
              <a:rPr lang="en-US" baseline="0" dirty="0"/>
              <a:t> and are different sequences than </a:t>
            </a:r>
            <a:r>
              <a:rPr lang="en-US" baseline="0" dirty="0" err="1"/>
              <a:t>attP</a:t>
            </a:r>
            <a:r>
              <a:rPr lang="en-US" baseline="0" dirty="0"/>
              <a:t> and </a:t>
            </a:r>
            <a:r>
              <a:rPr lang="en-US" baseline="0" dirty="0" err="1"/>
              <a:t>attB</a:t>
            </a:r>
            <a:r>
              <a:rPr lang="en-US" baseline="0" dirty="0"/>
              <a:t>.  Thus, the reaction is not symmetric and can be driven in one direction or the other.  One of the most useful sets are from various prokaryotic phages, mostly-but-not-all E. coli phages.  The </a:t>
            </a:r>
            <a:r>
              <a:rPr lang="en-US" baseline="0" dirty="0" err="1"/>
              <a:t>recombinase</a:t>
            </a:r>
            <a:r>
              <a:rPr lang="en-US" baseline="0" dirty="0"/>
              <a:t> component is called the </a:t>
            </a:r>
            <a:r>
              <a:rPr lang="en-US" baseline="0" dirty="0" err="1"/>
              <a:t>Int</a:t>
            </a:r>
            <a:r>
              <a:rPr lang="en-US" baseline="0" dirty="0"/>
              <a:t> </a:t>
            </a:r>
            <a:r>
              <a:rPr lang="en-US" baseline="0" dirty="0" err="1"/>
              <a:t>recombinase</a:t>
            </a:r>
            <a:r>
              <a:rPr lang="en-US" baseline="0" dirty="0"/>
              <a:t>, and then there is a second protein called </a:t>
            </a:r>
            <a:r>
              <a:rPr lang="en-US" baseline="0" dirty="0" err="1"/>
              <a:t>Xis</a:t>
            </a:r>
            <a:r>
              <a:rPr lang="en-US" baseline="0" dirty="0"/>
              <a:t> which upon expression reverses the directionality of the reaction. These enzymes are used in some methods of genome engineering, the gateway cloning method of moving DNAs from one DNA to another, and in several genetic circuits for digitally controlling gene expression.</a:t>
            </a:r>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79</a:t>
            </a:fld>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other type</a:t>
            </a:r>
            <a:r>
              <a:rPr lang="en-US" baseline="0" dirty="0"/>
              <a:t> of </a:t>
            </a:r>
            <a:r>
              <a:rPr lang="en-US" baseline="0" dirty="0" err="1"/>
              <a:t>recombinases</a:t>
            </a:r>
            <a:r>
              <a:rPr lang="en-US" baseline="0" dirty="0"/>
              <a:t> are sequence-independent and used primarily in vivo. </a:t>
            </a:r>
            <a:r>
              <a:rPr lang="en-US" dirty="0"/>
              <a:t>Yeast and B. </a:t>
            </a:r>
            <a:r>
              <a:rPr lang="en-US" dirty="0" err="1"/>
              <a:t>subtilis</a:t>
            </a:r>
            <a:r>
              <a:rPr lang="en-US" dirty="0"/>
              <a:t> readily catalyze homologous recombination between two very similar sequences.</a:t>
            </a:r>
            <a:r>
              <a:rPr lang="en-US" baseline="0" dirty="0"/>
              <a:t>  E. coli can also do it, but </a:t>
            </a:r>
            <a:r>
              <a:rPr lang="en-US" dirty="0"/>
              <a:t>requires additional genes for it to be efficient.  This is most often satisfied by introduction of the lambda Red genes (from lambda phage).</a:t>
            </a:r>
            <a:r>
              <a:rPr lang="en-US" baseline="0" dirty="0"/>
              <a:t>  This process is useful for </a:t>
            </a:r>
            <a:r>
              <a:rPr lang="en-US" dirty="0"/>
              <a:t>“</a:t>
            </a:r>
            <a:r>
              <a:rPr lang="en-US" dirty="0" err="1"/>
              <a:t>recombineering</a:t>
            </a:r>
            <a:r>
              <a:rPr lang="en-US" dirty="0"/>
              <a:t>” which is recombination-based manipulation of the genome or plasmids in E. coli using synthetic DNAs.</a:t>
            </a:r>
            <a:r>
              <a:rPr lang="en-US" baseline="0" dirty="0"/>
              <a:t> The most common example involves deleting specific genes in the genome by recombination with an antibiotic selection marker flanked by sequences homologous to the gene.</a:t>
            </a:r>
            <a:r>
              <a:rPr lang="en-US" dirty="0"/>
              <a:t> The cellular </a:t>
            </a:r>
            <a:r>
              <a:rPr lang="en-US" dirty="0" err="1"/>
              <a:t>recA</a:t>
            </a:r>
            <a:r>
              <a:rPr lang="en-US" dirty="0"/>
              <a:t> protein is also involved in the reaction.</a:t>
            </a:r>
            <a:r>
              <a:rPr lang="en-US" baseline="0" dirty="0"/>
              <a:t>  In the cell it is </a:t>
            </a:r>
            <a:r>
              <a:rPr lang="en-US" dirty="0"/>
              <a:t>involved in DNA repair pathways by stabilizing single-stranded DNAs.  </a:t>
            </a:r>
            <a:r>
              <a:rPr lang="en-US" dirty="0" err="1"/>
              <a:t>RecA</a:t>
            </a:r>
            <a:r>
              <a:rPr lang="en-US" dirty="0"/>
              <a:t> can also be used to promote homologous recombination in vitro forming the basis of some DNA fabrication</a:t>
            </a:r>
            <a:r>
              <a:rPr lang="en-US" baseline="0" dirty="0"/>
              <a:t> methods.</a:t>
            </a:r>
            <a:endParaRPr lang="en-US" dirty="0"/>
          </a:p>
          <a:p>
            <a:endParaRPr lang="en-US" dirty="0"/>
          </a:p>
        </p:txBody>
      </p:sp>
      <p:sp>
        <p:nvSpPr>
          <p:cNvPr id="4" name="Slide Number Placeholder 3"/>
          <p:cNvSpPr>
            <a:spLocks noGrp="1"/>
          </p:cNvSpPr>
          <p:nvPr>
            <p:ph type="sldNum" sz="quarter" idx="10"/>
          </p:nvPr>
        </p:nvSpPr>
        <p:spPr/>
        <p:txBody>
          <a:bodyPr/>
          <a:lstStyle/>
          <a:p>
            <a:fld id="{D453BF83-14DB-435B-A2F6-2F18B1BE4526}" type="slidenum">
              <a:rPr lang="en-US" smtClean="0"/>
              <a:pPr/>
              <a:t>80</a:t>
            </a:fld>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27C9E7-D82F-2B4E-9972-1F4C16D6AC08}" type="slidenum">
              <a:rPr lang="en-US" smtClean="0">
                <a:solidFill>
                  <a:prstClr val="black"/>
                </a:solidFill>
                <a:latin typeface="Calibri"/>
              </a:rPr>
              <a:pPr/>
              <a:t>82</a:t>
            </a:fld>
            <a:endParaRPr lang="en-US">
              <a:solidFill>
                <a:prstClr val="black"/>
              </a:solidFill>
              <a:latin typeface="Calibri"/>
            </a:endParaRPr>
          </a:p>
        </p:txBody>
      </p:sp>
    </p:spTree>
    <p:extLst>
      <p:ext uri="{BB962C8B-B14F-4D97-AF65-F5344CB8AC3E}">
        <p14:creationId xmlns:p14="http://schemas.microsoft.com/office/powerpoint/2010/main" val="250193015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3BF83-14DB-435B-A2F6-2F18B1BE4526}"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1030744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3BF83-14DB-435B-A2F6-2F18B1BE4526}"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1297273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453BF83-14DB-435B-A2F6-2F18B1BE4526}" type="slidenum">
              <a:rPr lang="en-US" smtClean="0">
                <a:solidFill>
                  <a:prstClr val="black"/>
                </a:solidFill>
                <a:latin typeface="Calibri"/>
              </a:rPr>
              <a:pPr/>
              <a:t>85</a:t>
            </a:fld>
            <a:endParaRPr lang="en-US">
              <a:solidFill>
                <a:prstClr val="black"/>
              </a:solidFill>
              <a:latin typeface="Calibri"/>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9BD5E-77AF-CE01-C618-7EF5E69BB5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16B654-4B54-B653-84BB-0BCD0318DC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D25501-4B73-7C6E-A086-CF99831FE2D2}"/>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16DFD772-AA1F-57B3-C2B6-6D6DB4F4F03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3BF83-14DB-435B-A2F6-2F18B1BE452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8567153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3BF83-14DB-435B-A2F6-2F18B1BE452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7055079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3BF83-14DB-435B-A2F6-2F18B1BE452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4402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6EC237D-7FE1-4014-95FE-98916415EECD}" type="datetimeFigureOut">
              <a:rPr lang="en-US" smtClean="0"/>
              <a:pPr/>
              <a:t>9/3/25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E8CE74-3780-4EAE-94FE-8EF26CB8154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EC237D-7FE1-4014-95FE-98916415EECD}" type="datetimeFigureOut">
              <a:rPr lang="en-US" smtClean="0"/>
              <a:pPr/>
              <a:t>9/3/25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E8CE74-3780-4EAE-94FE-8EF26CB8154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EC237D-7FE1-4014-95FE-98916415EECD}" type="datetimeFigureOut">
              <a:rPr lang="en-US" smtClean="0"/>
              <a:pPr/>
              <a:t>9/3/25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E8CE74-3780-4EAE-94FE-8EF26CB8154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6EC237D-7FE1-4014-95FE-98916415EECD}" type="datetimeFigureOut">
              <a:rPr lang="en-US" smtClean="0"/>
              <a:pPr/>
              <a:t>9/3/25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E8CE74-3780-4EAE-94FE-8EF26CB8154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6EC237D-7FE1-4014-95FE-98916415EECD}" type="datetimeFigureOut">
              <a:rPr lang="en-US" smtClean="0"/>
              <a:pPr/>
              <a:t>9/3/25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E8CE74-3780-4EAE-94FE-8EF26CB8154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6EC237D-7FE1-4014-95FE-98916415EECD}" type="datetimeFigureOut">
              <a:rPr lang="en-US" smtClean="0"/>
              <a:pPr/>
              <a:t>9/3/25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E8CE74-3780-4EAE-94FE-8EF26CB8154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EC237D-7FE1-4014-95FE-98916415EECD}" type="datetimeFigureOut">
              <a:rPr lang="en-US" smtClean="0"/>
              <a:pPr/>
              <a:t>9/3/25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E8CE74-3780-4EAE-94FE-8EF26CB8154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EC237D-7FE1-4014-95FE-98916415EECD}" type="datetimeFigureOut">
              <a:rPr lang="en-US" smtClean="0"/>
              <a:pPr/>
              <a:t>9/3/25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E8CE74-3780-4EAE-94FE-8EF26CB8154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EC237D-7FE1-4014-95FE-98916415EECD}" type="datetimeFigureOut">
              <a:rPr lang="en-US" smtClean="0"/>
              <a:pPr/>
              <a:t>9/3/25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E8CE74-3780-4EAE-94FE-8EF26CB8154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EC237D-7FE1-4014-95FE-98916415EECD}" type="datetimeFigureOut">
              <a:rPr lang="en-US" smtClean="0"/>
              <a:pPr/>
              <a:t>9/3/25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E8CE74-3780-4EAE-94FE-8EF26CB8154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EC237D-7FE1-4014-95FE-98916415EECD}" type="datetimeFigureOut">
              <a:rPr lang="en-US" smtClean="0"/>
              <a:pPr/>
              <a:t>9/3/25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E8CE74-3780-4EAE-94FE-8EF26CB81541}"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553698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7594684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98446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3200909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830819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7707834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7124940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4446853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8242682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3174178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0148106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5555180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5395220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2827935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5554004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0324325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1133614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1334001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7998926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8404977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0993586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7404878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6243804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76678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ACE14F-8643-0941-BDE5-D8D5CE9DCAE5}"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58AEAE35-3278-7B41-906C-56EA00A5DDA7}"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048284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ACE14F-8643-0941-BDE5-D8D5CE9DCAE5}"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58AEAE35-3278-7B41-906C-56EA00A5DDA7}"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4198424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ACE14F-8643-0941-BDE5-D8D5CE9DCAE5}"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58AEAE35-3278-7B41-906C-56EA00A5DDA7}"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8303473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ACE14F-8643-0941-BDE5-D8D5CE9DCAE5}"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58AEAE35-3278-7B41-906C-56EA00A5DDA7}"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88282856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ACE14F-8643-0941-BDE5-D8D5CE9DCAE5}"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58AEAE35-3278-7B41-906C-56EA00A5DDA7}"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429322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ACE14F-8643-0941-BDE5-D8D5CE9DCAE5}"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58AEAE35-3278-7B41-906C-56EA00A5DDA7}"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1013471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ACE14F-8643-0941-BDE5-D8D5CE9DCAE5}"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58AEAE35-3278-7B41-906C-56EA00A5DDA7}"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5714813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ACE14F-8643-0941-BDE5-D8D5CE9DCAE5}"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58AEAE35-3278-7B41-906C-56EA00A5DDA7}"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3016895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ACE14F-8643-0941-BDE5-D8D5CE9DCAE5}"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58AEAE35-3278-7B41-906C-56EA00A5DDA7}"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3468515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ACE14F-8643-0941-BDE5-D8D5CE9DCAE5}"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58AEAE35-3278-7B41-906C-56EA00A5DDA7}"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66484682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ACE14F-8643-0941-BDE5-D8D5CE9DCAE5}"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58AEAE35-3278-7B41-906C-56EA00A5DDA7}"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1218308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09C6F8CA-FFF9-461A-94A5-8BF5F7994BBB}" type="datetimeFigureOut">
              <a:rPr lang="en-US">
                <a:solidFill>
                  <a:prstClr val="black">
                    <a:tint val="75000"/>
                  </a:prstClr>
                </a:solidFill>
                <a:latin typeface="Calibri"/>
              </a:rPr>
              <a:pPr>
                <a:def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lvl1pPr>
              <a:defRPr/>
            </a:lvl1pPr>
          </a:lstStyle>
          <a:p>
            <a:pPr>
              <a:defRPr/>
            </a:pPr>
            <a:fld id="{B1FF3E31-205D-43A9-A67D-A3F3D85BC6A0}" type="slidenum">
              <a:rPr lang="en-US">
                <a:solidFill>
                  <a:prstClr val="black">
                    <a:tint val="75000"/>
                  </a:prstClr>
                </a:solidFill>
                <a:latin typeface="Calibri"/>
              </a:rPr>
              <a:pPr>
                <a:def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9193967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1374278-245D-4AD0-9CDB-84EFC7DFC845}" type="datetimeFigureOut">
              <a:rPr lang="en-US">
                <a:solidFill>
                  <a:prstClr val="black">
                    <a:tint val="75000"/>
                  </a:prstClr>
                </a:solidFill>
                <a:latin typeface="Calibri"/>
              </a:rPr>
              <a:pPr>
                <a:def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lvl1pPr>
              <a:defRPr/>
            </a:lvl1pPr>
          </a:lstStyle>
          <a:p>
            <a:pPr>
              <a:defRPr/>
            </a:pPr>
            <a:fld id="{6CADDAEF-D5E5-44CB-BF68-95355B483FC4}" type="slidenum">
              <a:rPr lang="en-US">
                <a:solidFill>
                  <a:prstClr val="black">
                    <a:tint val="75000"/>
                  </a:prstClr>
                </a:solidFill>
                <a:latin typeface="Calibri"/>
              </a:rPr>
              <a:pPr>
                <a:def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4011985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FC11EBB-536E-40C1-9BD9-A2C0515BF813}" type="datetimeFigureOut">
              <a:rPr lang="en-US">
                <a:solidFill>
                  <a:prstClr val="black">
                    <a:tint val="75000"/>
                  </a:prstClr>
                </a:solidFill>
                <a:latin typeface="Calibri"/>
              </a:rPr>
              <a:pPr>
                <a:def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lvl1pPr>
              <a:defRPr/>
            </a:lvl1pPr>
          </a:lstStyle>
          <a:p>
            <a:pPr>
              <a:defRPr/>
            </a:pPr>
            <a:fld id="{3DEFA225-ED13-439F-A799-93870E5AB74D}" type="slidenum">
              <a:rPr lang="en-US">
                <a:solidFill>
                  <a:prstClr val="black">
                    <a:tint val="75000"/>
                  </a:prstClr>
                </a:solidFill>
                <a:latin typeface="Calibri"/>
              </a:rPr>
              <a:pPr>
                <a:def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57474453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F6475738-ADBB-4939-80EC-54B8B5E9CD2A}" type="datetimeFigureOut">
              <a:rPr lang="en-US">
                <a:solidFill>
                  <a:prstClr val="black">
                    <a:tint val="75000"/>
                  </a:prstClr>
                </a:solidFill>
                <a:latin typeface="Calibri"/>
              </a:rPr>
              <a:pPr>
                <a:defRPr/>
              </a:pPr>
              <a:t>9/3/25</a:t>
            </a:fld>
            <a:endParaRPr lang="en-US">
              <a:solidFill>
                <a:prstClr val="black">
                  <a:tint val="75000"/>
                </a:prstClr>
              </a:solidFill>
              <a:latin typeface="Calibri"/>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latin typeface="Calibri"/>
            </a:endParaRPr>
          </a:p>
        </p:txBody>
      </p:sp>
      <p:sp>
        <p:nvSpPr>
          <p:cNvPr id="7" name="Slide Number Placeholder 5"/>
          <p:cNvSpPr>
            <a:spLocks noGrp="1"/>
          </p:cNvSpPr>
          <p:nvPr>
            <p:ph type="sldNum" sz="quarter" idx="12"/>
          </p:nvPr>
        </p:nvSpPr>
        <p:spPr/>
        <p:txBody>
          <a:bodyPr/>
          <a:lstStyle>
            <a:lvl1pPr>
              <a:defRPr/>
            </a:lvl1pPr>
          </a:lstStyle>
          <a:p>
            <a:pPr>
              <a:defRPr/>
            </a:pPr>
            <a:fld id="{AC4A4F6A-3BE0-4D5A-8735-3052D963BC1A}" type="slidenum">
              <a:rPr lang="en-US">
                <a:solidFill>
                  <a:prstClr val="black">
                    <a:tint val="75000"/>
                  </a:prstClr>
                </a:solidFill>
                <a:latin typeface="Calibri"/>
              </a:rPr>
              <a:pPr>
                <a:def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5786567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85841B0-E224-4DC5-9D94-43AA2FA4975C}" type="datetimeFigureOut">
              <a:rPr lang="en-US">
                <a:solidFill>
                  <a:prstClr val="black">
                    <a:tint val="75000"/>
                  </a:prstClr>
                </a:solidFill>
                <a:latin typeface="Calibri"/>
              </a:rPr>
              <a:pPr>
                <a:defRPr/>
              </a:pPr>
              <a:t>9/3/25</a:t>
            </a:fld>
            <a:endParaRPr lang="en-US">
              <a:solidFill>
                <a:prstClr val="black">
                  <a:tint val="75000"/>
                </a:prstClr>
              </a:solidFill>
              <a:latin typeface="Calibri"/>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latin typeface="Calibri"/>
            </a:endParaRPr>
          </a:p>
        </p:txBody>
      </p:sp>
      <p:sp>
        <p:nvSpPr>
          <p:cNvPr id="9" name="Slide Number Placeholder 5"/>
          <p:cNvSpPr>
            <a:spLocks noGrp="1"/>
          </p:cNvSpPr>
          <p:nvPr>
            <p:ph type="sldNum" sz="quarter" idx="12"/>
          </p:nvPr>
        </p:nvSpPr>
        <p:spPr/>
        <p:txBody>
          <a:bodyPr/>
          <a:lstStyle>
            <a:lvl1pPr>
              <a:defRPr/>
            </a:lvl1pPr>
          </a:lstStyle>
          <a:p>
            <a:pPr>
              <a:defRPr/>
            </a:pPr>
            <a:fld id="{BCE47DE0-9AB6-4B34-9115-9644FF7A235A}" type="slidenum">
              <a:rPr lang="en-US">
                <a:solidFill>
                  <a:prstClr val="black">
                    <a:tint val="75000"/>
                  </a:prstClr>
                </a:solidFill>
                <a:latin typeface="Calibri"/>
              </a:rPr>
              <a:pPr>
                <a:def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7219942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01B46EC-2566-438A-966F-273E09847387}" type="datetimeFigureOut">
              <a:rPr lang="en-US">
                <a:solidFill>
                  <a:prstClr val="black">
                    <a:tint val="75000"/>
                  </a:prstClr>
                </a:solidFill>
                <a:latin typeface="Calibri"/>
              </a:rPr>
              <a:pPr>
                <a:defRPr/>
              </a:pPr>
              <a:t>9/3/25</a:t>
            </a:fld>
            <a:endParaRPr lang="en-US">
              <a:solidFill>
                <a:prstClr val="black">
                  <a:tint val="75000"/>
                </a:prstClr>
              </a:solidFill>
              <a:latin typeface="Calibri"/>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latin typeface="Calibri"/>
            </a:endParaRPr>
          </a:p>
        </p:txBody>
      </p:sp>
      <p:sp>
        <p:nvSpPr>
          <p:cNvPr id="5" name="Slide Number Placeholder 5"/>
          <p:cNvSpPr>
            <a:spLocks noGrp="1"/>
          </p:cNvSpPr>
          <p:nvPr>
            <p:ph type="sldNum" sz="quarter" idx="12"/>
          </p:nvPr>
        </p:nvSpPr>
        <p:spPr/>
        <p:txBody>
          <a:bodyPr/>
          <a:lstStyle>
            <a:lvl1pPr>
              <a:defRPr/>
            </a:lvl1pPr>
          </a:lstStyle>
          <a:p>
            <a:pPr>
              <a:defRPr/>
            </a:pPr>
            <a:fld id="{BB109A58-0198-4096-95C4-F8FBD1C707E3}" type="slidenum">
              <a:rPr lang="en-US">
                <a:solidFill>
                  <a:prstClr val="black">
                    <a:tint val="75000"/>
                  </a:prstClr>
                </a:solidFill>
                <a:latin typeface="Calibri"/>
              </a:rPr>
              <a:pPr>
                <a:def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06267326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2B15960-36F9-4E1D-B1B5-14110D18E1AD}" type="datetimeFigureOut">
              <a:rPr lang="en-US">
                <a:solidFill>
                  <a:prstClr val="black">
                    <a:tint val="75000"/>
                  </a:prstClr>
                </a:solidFill>
                <a:latin typeface="Calibri"/>
              </a:rPr>
              <a:pPr>
                <a:defRPr/>
              </a:pPr>
              <a:t>9/3/25</a:t>
            </a:fld>
            <a:endParaRPr lang="en-US">
              <a:solidFill>
                <a:prstClr val="black">
                  <a:tint val="75000"/>
                </a:prstClr>
              </a:solidFill>
              <a:latin typeface="Calibri"/>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latin typeface="Calibri"/>
            </a:endParaRPr>
          </a:p>
        </p:txBody>
      </p:sp>
      <p:sp>
        <p:nvSpPr>
          <p:cNvPr id="4" name="Slide Number Placeholder 5"/>
          <p:cNvSpPr>
            <a:spLocks noGrp="1"/>
          </p:cNvSpPr>
          <p:nvPr>
            <p:ph type="sldNum" sz="quarter" idx="12"/>
          </p:nvPr>
        </p:nvSpPr>
        <p:spPr/>
        <p:txBody>
          <a:bodyPr/>
          <a:lstStyle>
            <a:lvl1pPr>
              <a:defRPr/>
            </a:lvl1pPr>
          </a:lstStyle>
          <a:p>
            <a:pPr>
              <a:defRPr/>
            </a:pPr>
            <a:fld id="{F89C2A5F-C55C-4BA3-B39C-6A5E53ABA283}" type="slidenum">
              <a:rPr lang="en-US">
                <a:solidFill>
                  <a:prstClr val="black">
                    <a:tint val="75000"/>
                  </a:prstClr>
                </a:solidFill>
                <a:latin typeface="Calibri"/>
              </a:rPr>
              <a:pPr>
                <a:def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57969007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C937B38-4A4B-46D5-B4EE-2FCB34026DC2}" type="datetimeFigureOut">
              <a:rPr lang="en-US">
                <a:solidFill>
                  <a:prstClr val="black">
                    <a:tint val="75000"/>
                  </a:prstClr>
                </a:solidFill>
                <a:latin typeface="Calibri"/>
              </a:rPr>
              <a:pPr>
                <a:defRPr/>
              </a:pPr>
              <a:t>9/3/25</a:t>
            </a:fld>
            <a:endParaRPr lang="en-US">
              <a:solidFill>
                <a:prstClr val="black">
                  <a:tint val="75000"/>
                </a:prstClr>
              </a:solidFill>
              <a:latin typeface="Calibri"/>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latin typeface="Calibri"/>
            </a:endParaRPr>
          </a:p>
        </p:txBody>
      </p:sp>
      <p:sp>
        <p:nvSpPr>
          <p:cNvPr id="7" name="Slide Number Placeholder 5"/>
          <p:cNvSpPr>
            <a:spLocks noGrp="1"/>
          </p:cNvSpPr>
          <p:nvPr>
            <p:ph type="sldNum" sz="quarter" idx="12"/>
          </p:nvPr>
        </p:nvSpPr>
        <p:spPr/>
        <p:txBody>
          <a:bodyPr/>
          <a:lstStyle>
            <a:lvl1pPr>
              <a:defRPr/>
            </a:lvl1pPr>
          </a:lstStyle>
          <a:p>
            <a:pPr>
              <a:defRPr/>
            </a:pPr>
            <a:fld id="{61232D40-94DA-4ED4-884A-9C1105A1A0B8}" type="slidenum">
              <a:rPr lang="en-US">
                <a:solidFill>
                  <a:prstClr val="black">
                    <a:tint val="75000"/>
                  </a:prstClr>
                </a:solidFill>
                <a:latin typeface="Calibri"/>
              </a:rPr>
              <a:pPr>
                <a:def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383768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07F70F4-6E03-4AF3-B11E-C841187D581C}" type="datetimeFigureOut">
              <a:rPr lang="en-US">
                <a:solidFill>
                  <a:prstClr val="black">
                    <a:tint val="75000"/>
                  </a:prstClr>
                </a:solidFill>
                <a:latin typeface="Calibri"/>
              </a:rPr>
              <a:pPr>
                <a:defRPr/>
              </a:pPr>
              <a:t>9/3/25</a:t>
            </a:fld>
            <a:endParaRPr lang="en-US">
              <a:solidFill>
                <a:prstClr val="black">
                  <a:tint val="75000"/>
                </a:prstClr>
              </a:solidFill>
              <a:latin typeface="Calibri"/>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latin typeface="Calibri"/>
            </a:endParaRPr>
          </a:p>
        </p:txBody>
      </p:sp>
      <p:sp>
        <p:nvSpPr>
          <p:cNvPr id="7" name="Slide Number Placeholder 5"/>
          <p:cNvSpPr>
            <a:spLocks noGrp="1"/>
          </p:cNvSpPr>
          <p:nvPr>
            <p:ph type="sldNum" sz="quarter" idx="12"/>
          </p:nvPr>
        </p:nvSpPr>
        <p:spPr/>
        <p:txBody>
          <a:bodyPr/>
          <a:lstStyle>
            <a:lvl1pPr>
              <a:defRPr/>
            </a:lvl1pPr>
          </a:lstStyle>
          <a:p>
            <a:pPr>
              <a:defRPr/>
            </a:pPr>
            <a:fld id="{8FB8ACAC-5759-4D37-B404-3A79BDB68435}" type="slidenum">
              <a:rPr lang="en-US">
                <a:solidFill>
                  <a:prstClr val="black">
                    <a:tint val="75000"/>
                  </a:prstClr>
                </a:solidFill>
                <a:latin typeface="Calibri"/>
              </a:rPr>
              <a:pPr>
                <a:def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95929884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F221BB7-6A23-427D-9F08-2ACE7B5E47CA}" type="datetimeFigureOut">
              <a:rPr lang="en-US">
                <a:solidFill>
                  <a:prstClr val="black">
                    <a:tint val="75000"/>
                  </a:prstClr>
                </a:solidFill>
                <a:latin typeface="Calibri"/>
              </a:rPr>
              <a:pPr>
                <a:def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lvl1pPr>
              <a:defRPr/>
            </a:lvl1pPr>
          </a:lstStyle>
          <a:p>
            <a:pPr>
              <a:defRPr/>
            </a:pPr>
            <a:fld id="{9F8E0C1F-5AF8-4DD9-85A8-5119E4FF695D}" type="slidenum">
              <a:rPr lang="en-US">
                <a:solidFill>
                  <a:prstClr val="black">
                    <a:tint val="75000"/>
                  </a:prstClr>
                </a:solidFill>
                <a:latin typeface="Calibri"/>
              </a:rPr>
              <a:pPr>
                <a:def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11157269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AAC292F-FE25-4ACB-AFAF-8FE2BAD5CC35}" type="datetimeFigureOut">
              <a:rPr lang="en-US">
                <a:solidFill>
                  <a:prstClr val="black">
                    <a:tint val="75000"/>
                  </a:prstClr>
                </a:solidFill>
                <a:latin typeface="Calibri"/>
              </a:rPr>
              <a:pPr>
                <a:def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lvl1pPr>
              <a:defRPr/>
            </a:lvl1pPr>
          </a:lstStyle>
          <a:p>
            <a:pPr>
              <a:defRPr/>
            </a:pPr>
            <a:fld id="{E5DFE768-144C-490E-9A80-08081FCD4BCF}" type="slidenum">
              <a:rPr lang="en-US">
                <a:solidFill>
                  <a:prstClr val="black">
                    <a:tint val="75000"/>
                  </a:prstClr>
                </a:solidFill>
                <a:latin typeface="Calibri"/>
              </a:rPr>
              <a:pPr>
                <a:def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66572314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8510918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90953243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28045667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07598433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08234370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02740889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5743571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23692209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19449734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15850309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460612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01859232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88450825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69119255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19910631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3608805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35212505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58348712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41571723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11239217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96614815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96929164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77739003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9167615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66316648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79620728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11829135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52350672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3652253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58372791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20677545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9048956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17570940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4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12976114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59201086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2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89311371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71654427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78133208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60284654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90147523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7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9123191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95592255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46483299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6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6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36913057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46794222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5437992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65321570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90940267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22275498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6274388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142657256"/>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590769642"/>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56590032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51104805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1B8E8-AA44-5A4B-BB99-2EC424EEC7D9}"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7BF3CC87-4A18-0D4B-9024-5310495C5F20}"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60453734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2405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5.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7.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7.xml"/><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theme" Target="../theme/theme8.xml"/><Relationship Id="rId2" Type="http://schemas.openxmlformats.org/officeDocument/2006/relationships/slideLayout" Target="../slideLayouts/slideLayout81.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8.xml"/><Relationship Id="rId3" Type="http://schemas.openxmlformats.org/officeDocument/2006/relationships/slideLayout" Target="../slideLayouts/slideLayout93.xml"/><Relationship Id="rId7" Type="http://schemas.openxmlformats.org/officeDocument/2006/relationships/slideLayout" Target="../slideLayouts/slideLayout97.xml"/><Relationship Id="rId12" Type="http://schemas.openxmlformats.org/officeDocument/2006/relationships/theme" Target="../theme/theme9.xml"/><Relationship Id="rId2" Type="http://schemas.openxmlformats.org/officeDocument/2006/relationships/slideLayout" Target="../slideLayouts/slideLayout92.xml"/><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5" Type="http://schemas.openxmlformats.org/officeDocument/2006/relationships/slideLayout" Target="../slideLayouts/slideLayout95.xml"/><Relationship Id="rId10" Type="http://schemas.openxmlformats.org/officeDocument/2006/relationships/slideLayout" Target="../slideLayouts/slideLayout100.xml"/><Relationship Id="rId4" Type="http://schemas.openxmlformats.org/officeDocument/2006/relationships/slideLayout" Target="../slideLayouts/slideLayout94.xml"/><Relationship Id="rId9" Type="http://schemas.openxmlformats.org/officeDocument/2006/relationships/slideLayout" Target="../slideLayouts/slideLayout9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10.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EC237D-7FE1-4014-95FE-98916415EECD}" type="datetimeFigureOut">
              <a:rPr lang="en-US" smtClean="0"/>
              <a:pPr/>
              <a:t>9/3/25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E8CE74-3780-4EAE-94FE-8EF26CB8154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fontAlgn="auto">
              <a:spcBef>
                <a:spcPts val="0"/>
              </a:spcBef>
              <a:spcAft>
                <a:spcPts val="0"/>
              </a:spcAft>
            </a:pPr>
            <a:fld id="{B7C1B8E8-AA44-5A4B-BB99-2EC424EEC7D9}" type="datetimeFigureOut">
              <a:rPr lang="en-US" smtClean="0">
                <a:solidFill>
                  <a:prstClr val="black">
                    <a:tint val="75000"/>
                  </a:prstClr>
                </a:solidFill>
                <a:latin typeface="Calibri"/>
                <a:cs typeface="+mn-cs"/>
              </a:rPr>
              <a:pPr defTabSz="457200" fontAlgn="auto">
                <a:spcBef>
                  <a:spcPts val="0"/>
                </a:spcBef>
                <a:spcAft>
                  <a:spcPts val="0"/>
                </a:spcAft>
              </a:pPr>
              <a:t>9/3/25</a:t>
            </a:fld>
            <a:endParaRPr lang="en-US">
              <a:solidFill>
                <a:prstClr val="black">
                  <a:tint val="75000"/>
                </a:prstClr>
              </a:solidFill>
              <a:latin typeface="Calibri"/>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fontAlgn="auto">
              <a:spcBef>
                <a:spcPts val="0"/>
              </a:spcBef>
              <a:spcAft>
                <a:spcPts val="0"/>
              </a:spcAft>
            </a:pPr>
            <a:endParaRPr lang="en-US">
              <a:solidFill>
                <a:prstClr val="black">
                  <a:tint val="75000"/>
                </a:prstClr>
              </a:solidFill>
              <a:latin typeface="Calibri"/>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fontAlgn="auto">
              <a:spcBef>
                <a:spcPts val="0"/>
              </a:spcBef>
              <a:spcAft>
                <a:spcPts val="0"/>
              </a:spcAft>
            </a:pPr>
            <a:fld id="{7BF3CC87-4A18-0D4B-9024-5310495C5F20}" type="slidenum">
              <a:rPr lang="en-US" smtClean="0">
                <a:solidFill>
                  <a:prstClr val="black">
                    <a:tint val="75000"/>
                  </a:prstClr>
                </a:solidFill>
                <a:latin typeface="Calibri"/>
                <a:cs typeface="+mn-cs"/>
              </a:rPr>
              <a:pPr defTabSz="457200" fontAlgn="auto">
                <a:spcBef>
                  <a:spcPts val="0"/>
                </a:spcBef>
                <a:spcAft>
                  <a:spcPts val="0"/>
                </a:spcAft>
              </a:pPr>
              <a:t>‹#›</a:t>
            </a:fld>
            <a:endParaRPr lang="en-US">
              <a:solidFill>
                <a:prstClr val="black">
                  <a:tint val="75000"/>
                </a:prstClr>
              </a:solidFill>
              <a:latin typeface="Calibri"/>
              <a:cs typeface="+mn-cs"/>
            </a:endParaRPr>
          </a:p>
        </p:txBody>
      </p:sp>
    </p:spTree>
    <p:extLst>
      <p:ext uri="{BB962C8B-B14F-4D97-AF65-F5344CB8AC3E}">
        <p14:creationId xmlns:p14="http://schemas.microsoft.com/office/powerpoint/2010/main" val="156165398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fontAlgn="auto">
              <a:spcBef>
                <a:spcPts val="0"/>
              </a:spcBef>
              <a:spcAft>
                <a:spcPts val="0"/>
              </a:spcAft>
            </a:pPr>
            <a:fld id="{B7C1B8E8-AA44-5A4B-BB99-2EC424EEC7D9}" type="datetimeFigureOut">
              <a:rPr lang="en-US" smtClean="0">
                <a:solidFill>
                  <a:prstClr val="black">
                    <a:tint val="75000"/>
                  </a:prstClr>
                </a:solidFill>
                <a:latin typeface="Calibri"/>
              </a:rPr>
              <a:pPr defTabSz="457200" fontAlgn="auto">
                <a:spcBef>
                  <a:spcPts val="0"/>
                </a:spcBef>
                <a:spcAft>
                  <a:spcPts val="0"/>
                </a:spcAft>
              </a:pPr>
              <a:t>9/3/25</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fontAlgn="auto">
              <a:spcBef>
                <a:spcPts val="0"/>
              </a:spcBef>
              <a:spcAft>
                <a:spcPts val="0"/>
              </a:spcAft>
            </a:pPr>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fontAlgn="auto">
              <a:spcBef>
                <a:spcPts val="0"/>
              </a:spcBef>
              <a:spcAft>
                <a:spcPts val="0"/>
              </a:spcAft>
            </a:pPr>
            <a:fld id="{7BF3CC87-4A18-0D4B-9024-5310495C5F20}" type="slidenum">
              <a:rPr lang="en-US" smtClean="0">
                <a:solidFill>
                  <a:prstClr val="black">
                    <a:tint val="75000"/>
                  </a:prstClr>
                </a:solidFill>
                <a:latin typeface="Calibri"/>
              </a:rPr>
              <a:pPr defTabSz="457200" fontAlgn="auto">
                <a:spcBef>
                  <a:spcPts val="0"/>
                </a:spcBef>
                <a:spcAft>
                  <a:spcPts val="0"/>
                </a:spcAft>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636790066"/>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fontAlgn="auto">
              <a:spcBef>
                <a:spcPts val="0"/>
              </a:spcBef>
              <a:spcAft>
                <a:spcPts val="0"/>
              </a:spcAft>
            </a:pPr>
            <a:fld id="{5BACE14F-8643-0941-BDE5-D8D5CE9DCAE5}" type="datetimeFigureOut">
              <a:rPr lang="en-US" smtClean="0">
                <a:solidFill>
                  <a:prstClr val="black">
                    <a:tint val="75000"/>
                  </a:prstClr>
                </a:solidFill>
                <a:latin typeface="Calibri"/>
              </a:rPr>
              <a:pPr defTabSz="457200" fontAlgn="auto">
                <a:spcBef>
                  <a:spcPts val="0"/>
                </a:spcBef>
                <a:spcAft>
                  <a:spcPts val="0"/>
                </a:spcAft>
              </a:pPr>
              <a:t>9/3/25</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fontAlgn="auto">
              <a:spcBef>
                <a:spcPts val="0"/>
              </a:spcBef>
              <a:spcAft>
                <a:spcPts val="0"/>
              </a:spcAft>
            </a:pPr>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fontAlgn="auto">
              <a:spcBef>
                <a:spcPts val="0"/>
              </a:spcBef>
              <a:spcAft>
                <a:spcPts val="0"/>
              </a:spcAft>
            </a:pPr>
            <a:fld id="{58AEAE35-3278-7B41-906C-56EA00A5DDA7}" type="slidenum">
              <a:rPr lang="en-US" smtClean="0">
                <a:solidFill>
                  <a:prstClr val="black">
                    <a:tint val="75000"/>
                  </a:prstClr>
                </a:solidFill>
                <a:latin typeface="Calibri"/>
              </a:rPr>
              <a:pPr defTabSz="457200" fontAlgn="auto">
                <a:spcBef>
                  <a:spcPts val="0"/>
                </a:spcBef>
                <a:spcAft>
                  <a:spcPts val="0"/>
                </a:spcAft>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761842795"/>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075"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4221A8C4-93B1-44ED-978F-CC788D007FD8}" type="datetimeFigureOut">
              <a:rPr lang="en-US">
                <a:solidFill>
                  <a:prstClr val="black">
                    <a:tint val="75000"/>
                  </a:prstClr>
                </a:solidFill>
                <a:latin typeface="Calibri"/>
              </a:rPr>
              <a:pPr>
                <a:defRPr/>
              </a:pPr>
              <a:t>9/3/25</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cs typeface="+mn-cs"/>
              </a:defRPr>
            </a:lvl1pPr>
          </a:lstStyle>
          <a:p>
            <a:pPr>
              <a:defRPr/>
            </a:pPr>
            <a:fld id="{E89F913B-5147-446C-A494-FCD4DEBCF2BC}" type="slidenum">
              <a:rPr lang="en-US">
                <a:solidFill>
                  <a:prstClr val="black">
                    <a:tint val="75000"/>
                  </a:prstClr>
                </a:solidFill>
                <a:latin typeface="Calibri"/>
              </a:rPr>
              <a:pPr>
                <a:def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81404956"/>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fontAlgn="auto">
              <a:spcBef>
                <a:spcPts val="0"/>
              </a:spcBef>
              <a:spcAft>
                <a:spcPts val="0"/>
              </a:spcAft>
            </a:pPr>
            <a:fld id="{B7C1B8E8-AA44-5A4B-BB99-2EC424EEC7D9}" type="datetimeFigureOut">
              <a:rPr lang="en-US" smtClean="0">
                <a:solidFill>
                  <a:prstClr val="black">
                    <a:tint val="75000"/>
                  </a:prstClr>
                </a:solidFill>
                <a:latin typeface="Calibri"/>
                <a:cs typeface="+mn-cs"/>
              </a:rPr>
              <a:pPr defTabSz="457200" fontAlgn="auto">
                <a:spcBef>
                  <a:spcPts val="0"/>
                </a:spcBef>
                <a:spcAft>
                  <a:spcPts val="0"/>
                </a:spcAft>
              </a:pPr>
              <a:t>9/3/25</a:t>
            </a:fld>
            <a:endParaRPr lang="en-US">
              <a:solidFill>
                <a:prstClr val="black">
                  <a:tint val="75000"/>
                </a:prstClr>
              </a:solidFill>
              <a:latin typeface="Calibri"/>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fontAlgn="auto">
              <a:spcBef>
                <a:spcPts val="0"/>
              </a:spcBef>
              <a:spcAft>
                <a:spcPts val="0"/>
              </a:spcAft>
            </a:pPr>
            <a:endParaRPr lang="en-US">
              <a:solidFill>
                <a:prstClr val="black">
                  <a:tint val="75000"/>
                </a:prstClr>
              </a:solidFill>
              <a:latin typeface="Calibri"/>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fontAlgn="auto">
              <a:spcBef>
                <a:spcPts val="0"/>
              </a:spcBef>
              <a:spcAft>
                <a:spcPts val="0"/>
              </a:spcAft>
            </a:pPr>
            <a:fld id="{7BF3CC87-4A18-0D4B-9024-5310495C5F20}" type="slidenum">
              <a:rPr lang="en-US" smtClean="0">
                <a:solidFill>
                  <a:prstClr val="black">
                    <a:tint val="75000"/>
                  </a:prstClr>
                </a:solidFill>
                <a:latin typeface="Calibri"/>
                <a:cs typeface="+mn-cs"/>
              </a:rPr>
              <a:pPr defTabSz="457200" fontAlgn="auto">
                <a:spcBef>
                  <a:spcPts val="0"/>
                </a:spcBef>
                <a:spcAft>
                  <a:spcPts val="0"/>
                </a:spcAft>
              </a:pPr>
              <a:t>‹#›</a:t>
            </a:fld>
            <a:endParaRPr lang="en-US">
              <a:solidFill>
                <a:prstClr val="black">
                  <a:tint val="75000"/>
                </a:prstClr>
              </a:solidFill>
              <a:latin typeface="Calibri"/>
              <a:cs typeface="+mn-cs"/>
            </a:endParaRPr>
          </a:p>
        </p:txBody>
      </p:sp>
    </p:spTree>
    <p:extLst>
      <p:ext uri="{BB962C8B-B14F-4D97-AF65-F5344CB8AC3E}">
        <p14:creationId xmlns:p14="http://schemas.microsoft.com/office/powerpoint/2010/main" val="2511538429"/>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fontAlgn="auto">
              <a:spcBef>
                <a:spcPts val="0"/>
              </a:spcBef>
              <a:spcAft>
                <a:spcPts val="0"/>
              </a:spcAft>
            </a:pPr>
            <a:fld id="{B7C1B8E8-AA44-5A4B-BB99-2EC424EEC7D9}" type="datetimeFigureOut">
              <a:rPr lang="en-US" smtClean="0">
                <a:solidFill>
                  <a:prstClr val="black">
                    <a:tint val="75000"/>
                  </a:prstClr>
                </a:solidFill>
                <a:latin typeface="Calibri"/>
              </a:rPr>
              <a:pPr defTabSz="457200" fontAlgn="auto">
                <a:spcBef>
                  <a:spcPts val="0"/>
                </a:spcBef>
                <a:spcAft>
                  <a:spcPts val="0"/>
                </a:spcAft>
              </a:pPr>
              <a:t>9/3/25</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fontAlgn="auto">
              <a:spcBef>
                <a:spcPts val="0"/>
              </a:spcBef>
              <a:spcAft>
                <a:spcPts val="0"/>
              </a:spcAft>
            </a:pPr>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fontAlgn="auto">
              <a:spcBef>
                <a:spcPts val="0"/>
              </a:spcBef>
              <a:spcAft>
                <a:spcPts val="0"/>
              </a:spcAft>
            </a:pPr>
            <a:fld id="{7BF3CC87-4A18-0D4B-9024-5310495C5F20}" type="slidenum">
              <a:rPr lang="en-US" smtClean="0">
                <a:solidFill>
                  <a:prstClr val="black">
                    <a:tint val="75000"/>
                  </a:prstClr>
                </a:solidFill>
                <a:latin typeface="Calibri"/>
              </a:rPr>
              <a:pPr defTabSz="457200" fontAlgn="auto">
                <a:spcBef>
                  <a:spcPts val="0"/>
                </a:spcBef>
                <a:spcAft>
                  <a:spcPts val="0"/>
                </a:spcAft>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87433477"/>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pPr>
            <a:fld id="{36EC237D-7FE1-4014-95FE-98916415EECD}" type="datetimeFigureOut">
              <a:rPr lang="en-US" smtClean="0">
                <a:solidFill>
                  <a:prstClr val="black">
                    <a:tint val="75000"/>
                  </a:prstClr>
                </a:solidFill>
                <a:latin typeface="Calibri"/>
              </a:rPr>
              <a:pPr fontAlgn="auto">
                <a:spcBef>
                  <a:spcPts val="0"/>
                </a:spcBef>
                <a:spcAft>
                  <a:spcPts val="0"/>
                </a:spcAft>
              </a:pPr>
              <a:t>9/3/25</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pPr>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pPr>
            <a:fld id="{FFE8CE74-3780-4EAE-94FE-8EF26CB81541}"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940241297"/>
      </p:ext>
    </p:extLst>
  </p:cSld>
  <p:clrMap bg1="lt1" tx1="dk1" bg2="lt2" tx2="dk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7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EC237D-7FE1-4014-95FE-98916415EECD}" type="datetimeFigureOut">
              <a:rPr lang="en-US" smtClean="0">
                <a:solidFill>
                  <a:prstClr val="black">
                    <a:tint val="75000"/>
                  </a:prstClr>
                </a:solidFill>
                <a:latin typeface="Calibri"/>
              </a:rPr>
              <a:pPr/>
              <a:t>9/3/25</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7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7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E8CE74-3780-4EAE-94FE-8EF26CB8154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495873879"/>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B7C1B8E8-AA44-5A4B-BB99-2EC424EEC7D9}" type="datetimeFigureOut">
              <a:rPr lang="en-US" smtClean="0">
                <a:solidFill>
                  <a:prstClr val="black">
                    <a:tint val="75000"/>
                  </a:prstClr>
                </a:solidFill>
                <a:latin typeface="Calibri"/>
                <a:cs typeface="Arial" charset="0"/>
              </a:rPr>
              <a:pPr defTabSz="457200"/>
              <a:t>9/3/25</a:t>
            </a:fld>
            <a:endParaRPr lang="en-US">
              <a:solidFill>
                <a:prstClr val="black">
                  <a:tint val="75000"/>
                </a:prstClr>
              </a:solidFill>
              <a:latin typeface="Calibri"/>
              <a:cs typeface="Arial"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endParaRPr lang="en-US">
              <a:solidFill>
                <a:prstClr val="black">
                  <a:tint val="75000"/>
                </a:prstClr>
              </a:solidFill>
              <a:latin typeface="Calibri"/>
              <a:cs typeface="Arial"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7BF3CC87-4A18-0D4B-9024-5310495C5F20}" type="slidenum">
              <a:rPr lang="en-US" smtClean="0">
                <a:solidFill>
                  <a:prstClr val="black">
                    <a:tint val="75000"/>
                  </a:prstClr>
                </a:solidFill>
                <a:latin typeface="Calibri"/>
                <a:cs typeface="Arial" charset="0"/>
              </a:rPr>
              <a:pPr defTabSz="457200"/>
              <a:t>‹#›</a:t>
            </a:fld>
            <a:endParaRPr lang="en-US">
              <a:solidFill>
                <a:prstClr val="black">
                  <a:tint val="75000"/>
                </a:prstClr>
              </a:solidFill>
              <a:latin typeface="Calibri"/>
              <a:cs typeface="Arial" charset="0"/>
            </a:endParaRPr>
          </a:p>
        </p:txBody>
      </p:sp>
    </p:spTree>
    <p:extLst>
      <p:ext uri="{BB962C8B-B14F-4D97-AF65-F5344CB8AC3E}">
        <p14:creationId xmlns:p14="http://schemas.microsoft.com/office/powerpoint/2010/main" val="631730858"/>
      </p:ext>
    </p:extLst>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 id="2147483915"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8" Type="http://schemas.openxmlformats.org/officeDocument/2006/relationships/hyperlink" Target="https://www.youtube.com/watch?v=9B5e41QwoBI&amp;list=PL2aPXzks-TgNP1FuAv0v-fS6UhCjy1waN" TargetMode="External"/><Relationship Id="rId13" Type="http://schemas.openxmlformats.org/officeDocument/2006/relationships/hyperlink" Target="https://www.youtube.com/watch?v=8BDTS9NK7Zg&amp;list=PL2aPXzks-TgNF957XOSBB3rPdFbtvsWYI" TargetMode="External"/><Relationship Id="rId3" Type="http://schemas.openxmlformats.org/officeDocument/2006/relationships/notesSlide" Target="../notesSlides/notesSlide2.xml"/><Relationship Id="rId7" Type="http://schemas.openxmlformats.org/officeDocument/2006/relationships/hyperlink" Target="https://www.youtube.com/watch?v=tgFp72Fx4Hk&amp;list=PL2aPXzks-TgMvy4PG5wwbrw9VKBuowOR8" TargetMode="External"/><Relationship Id="rId12" Type="http://schemas.openxmlformats.org/officeDocument/2006/relationships/hyperlink" Target="https://www.youtube.com/watch?v=1wWyTrUroGM&amp;list=PL2aPXzks-TgOOPfxneYJ3pBwTlqzv9Ezn" TargetMode="External"/><Relationship Id="rId2" Type="http://schemas.openxmlformats.org/officeDocument/2006/relationships/slideLayout" Target="../slideLayouts/slideLayout13.xml"/><Relationship Id="rId1" Type="http://schemas.openxmlformats.org/officeDocument/2006/relationships/tags" Target="../tags/tag1.xml"/><Relationship Id="rId6" Type="http://schemas.openxmlformats.org/officeDocument/2006/relationships/hyperlink" Target="https://www.youtube.com/watch?v=vfmuDvEgD28&amp;list=PL2aPXzks-TgOtngzKdocz4P50TCncRyPy" TargetMode="External"/><Relationship Id="rId11" Type="http://schemas.openxmlformats.org/officeDocument/2006/relationships/hyperlink" Target="https://www.youtube.com/watch?v=EheWQRLvLWU&amp;list=PL2aPXzks-TgNlrgM8BK3jD_aiyjoXOsRI" TargetMode="External"/><Relationship Id="rId5" Type="http://schemas.openxmlformats.org/officeDocument/2006/relationships/hyperlink" Target="https://www.youtube.com/watch?v=_XpQgGAO0lw&amp;list=PL2aPXzks-TgPX7HU4pogNUSBN9OK2PhBK" TargetMode="External"/><Relationship Id="rId10" Type="http://schemas.openxmlformats.org/officeDocument/2006/relationships/hyperlink" Target="https://www.youtube.com/watch?v=plOc9Ei5nvY&amp;list=PL2aPXzks-TgMo_x6XhYmfoZDezm4m-DcL" TargetMode="External"/><Relationship Id="rId4" Type="http://schemas.openxmlformats.org/officeDocument/2006/relationships/hyperlink" Target="https://www.youtube.com/watch?v=SWDl9Yh6gx8&amp;list=PL2aPXzks-TgNkKi2lUWL65MpPsRBCb5q5" TargetMode="External"/><Relationship Id="rId9" Type="http://schemas.openxmlformats.org/officeDocument/2006/relationships/hyperlink" Target="https://www.youtube.com/watch?v=hDAnyG7zHFs&amp;list=PL2aPXzks-TgN_Ztp-bRkzbtbi5Ncsh71t" TargetMode="External"/><Relationship Id="rId14" Type="http://schemas.openxmlformats.org/officeDocument/2006/relationships/hyperlink" Target="https://www.youtube.com/watch?v=X0eemsxBtlI&amp;list=PL2aPXzks-TgMJ7UID5Q2hb5y4D4yRgzzj"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hemeOverride" Target="../theme/themeOverride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8.xml"/><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9.xml.rels><?xml version="1.0" encoding="UTF-8" standalone="yes"?>
<Relationships xmlns="http://schemas.openxmlformats.org/package/2006/relationships"><Relationship Id="rId8" Type="http://schemas.microsoft.com/office/2007/relationships/diagramDrawing" Target="../diagrams/drawing3.xml"/><Relationship Id="rId13" Type="http://schemas.microsoft.com/office/2007/relationships/diagramDrawing" Target="../diagrams/drawing4.xml"/><Relationship Id="rId3" Type="http://schemas.openxmlformats.org/officeDocument/2006/relationships/notesSlide" Target="../notesSlides/notesSlide9.xml"/><Relationship Id="rId7" Type="http://schemas.openxmlformats.org/officeDocument/2006/relationships/diagramColors" Target="../diagrams/colors3.xml"/><Relationship Id="rId12" Type="http://schemas.openxmlformats.org/officeDocument/2006/relationships/diagramColors" Target="../diagrams/colors4.xml"/><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diagramQuickStyle" Target="../diagrams/quickStyle3.xml"/><Relationship Id="rId11" Type="http://schemas.openxmlformats.org/officeDocument/2006/relationships/diagramQuickStyle" Target="../diagrams/quickStyle4.xml"/><Relationship Id="rId5" Type="http://schemas.openxmlformats.org/officeDocument/2006/relationships/diagramLayout" Target="../diagrams/layout3.xml"/><Relationship Id="rId10" Type="http://schemas.openxmlformats.org/officeDocument/2006/relationships/diagramLayout" Target="../diagrams/layout4.xml"/><Relationship Id="rId4" Type="http://schemas.openxmlformats.org/officeDocument/2006/relationships/diagramData" Target="../diagrams/data3.xml"/><Relationship Id="rId9" Type="http://schemas.openxmlformats.org/officeDocument/2006/relationships/diagramData" Target="../diagrams/data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0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4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47.xml"/><Relationship Id="rId5" Type="http://schemas.openxmlformats.org/officeDocument/2006/relationships/image" Target="../media/image7.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4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3.png"/><Relationship Id="rId4" Type="http://schemas.openxmlformats.org/officeDocument/2006/relationships/image" Target="../media/image2.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themeOverride" Target="../theme/themeOverride6.xml"/><Relationship Id="rId5" Type="http://schemas.openxmlformats.org/officeDocument/2006/relationships/image" Target="../media/image12.png"/><Relationship Id="rId4" Type="http://schemas.openxmlformats.org/officeDocument/2006/relationships/image" Target="../media/image11.png"/></Relationships>
</file>

<file path=ppt/slides/_rels/slide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themeOverride" Target="../theme/themeOverride7.xml"/><Relationship Id="rId4" Type="http://schemas.openxmlformats.org/officeDocument/2006/relationships/image" Target="../media/image14.png"/></Relationships>
</file>

<file path=ppt/slides/_rels/slide7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7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3.png"/><Relationship Id="rId4" Type="http://schemas.openxmlformats.org/officeDocument/2006/relationships/image" Target="../media/image2.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hemeOverride" Target="../theme/themeOverride8.xml"/><Relationship Id="rId5" Type="http://schemas.openxmlformats.org/officeDocument/2006/relationships/image" Target="../media/image17.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5.xml"/></Relationships>
</file>

<file path=ppt/slides/_rels/slide83.xml.rels><?xml version="1.0" encoding="UTF-8" standalone="yes"?>
<Relationships xmlns="http://schemas.openxmlformats.org/package/2006/relationships"><Relationship Id="rId3" Type="http://schemas.openxmlformats.org/officeDocument/2006/relationships/hyperlink" Target="mailto:jcanderson@Berkeley.edu" TargetMode="External"/><Relationship Id="rId2" Type="http://schemas.openxmlformats.org/officeDocument/2006/relationships/notesSlide" Target="../notesSlides/notesSlide82.xml"/><Relationship Id="rId1" Type="http://schemas.openxmlformats.org/officeDocument/2006/relationships/slideLayout" Target="../slideLayouts/slideLayout25.xml"/></Relationships>
</file>

<file path=ppt/slides/_rels/slide8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3.xml"/><Relationship Id="rId1" Type="http://schemas.openxmlformats.org/officeDocument/2006/relationships/slideLayout" Target="../slideLayouts/slideLayout92.xml"/></Relationships>
</file>

<file path=ppt/slides/_rels/slide8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4.xml"/><Relationship Id="rId1" Type="http://schemas.openxmlformats.org/officeDocument/2006/relationships/slideLayout" Target="../slideLayouts/slideLayout8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81.xml"/></Relationships>
</file>

<file path=ppt/slides/_rels/slide87.xml.rels><?xml version="1.0" encoding="UTF-8" standalone="yes"?>
<Relationships xmlns="http://schemas.openxmlformats.org/package/2006/relationships"><Relationship Id="rId3" Type="http://schemas.openxmlformats.org/officeDocument/2006/relationships/hyperlink" Target="https://ucb-bioe-anderson-lab.github.io/cloning-tutorials/wetlab/intro/" TargetMode="External"/><Relationship Id="rId2" Type="http://schemas.openxmlformats.org/officeDocument/2006/relationships/notesSlide" Target="../notesSlides/notesSlide86.xml"/><Relationship Id="rId1" Type="http://schemas.openxmlformats.org/officeDocument/2006/relationships/slideLayout" Target="../slideLayouts/slideLayout8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TextBox 3"/>
          <p:cNvSpPr txBox="1"/>
          <p:nvPr/>
        </p:nvSpPr>
        <p:spPr>
          <a:xfrm>
            <a:off x="711939" y="1295400"/>
            <a:ext cx="7742633" cy="3416320"/>
          </a:xfrm>
          <a:prstGeom prst="rect">
            <a:avLst/>
          </a:prstGeom>
          <a:noFill/>
        </p:spPr>
        <p:txBody>
          <a:bodyPr wrap="square" rtlCol="0">
            <a:spAutoFit/>
          </a:bodyPr>
          <a:lstStyle/>
          <a:p>
            <a:pPr algn="ctr" defTabSz="457200" fontAlgn="auto">
              <a:spcBef>
                <a:spcPts val="0"/>
              </a:spcBef>
              <a:spcAft>
                <a:spcPts val="0"/>
              </a:spcAft>
            </a:pPr>
            <a:r>
              <a:rPr lang="en-US" sz="7200" b="1" dirty="0">
                <a:solidFill>
                  <a:prstClr val="white"/>
                </a:solidFill>
                <a:latin typeface="Arial"/>
                <a:cs typeface="Arial"/>
              </a:rPr>
              <a:t>DNA Manipulation Enzymes</a:t>
            </a:r>
          </a:p>
        </p:txBody>
      </p:sp>
      <p:sp>
        <p:nvSpPr>
          <p:cNvPr id="2" name="Rectangle 1"/>
          <p:cNvSpPr/>
          <p:nvPr/>
        </p:nvSpPr>
        <p:spPr>
          <a:xfrm>
            <a:off x="685800" y="5486400"/>
            <a:ext cx="7848600" cy="923330"/>
          </a:xfrm>
          <a:prstGeom prst="rect">
            <a:avLst/>
          </a:prstGeom>
        </p:spPr>
        <p:txBody>
          <a:bodyPr wrap="square">
            <a:spAutoFit/>
          </a:bodyPr>
          <a:lstStyle/>
          <a:p>
            <a:r>
              <a:rPr lang="en-US" dirty="0">
                <a:solidFill>
                  <a:schemeClr val="bg1"/>
                </a:solidFill>
              </a:rPr>
              <a:t>YouTube playlist:</a:t>
            </a:r>
          </a:p>
          <a:p>
            <a:r>
              <a:rPr lang="en-US" dirty="0">
                <a:solidFill>
                  <a:schemeClr val="bg1"/>
                </a:solidFill>
              </a:rPr>
              <a:t>https://</a:t>
            </a:r>
            <a:r>
              <a:rPr lang="en-US" dirty="0" err="1">
                <a:solidFill>
                  <a:schemeClr val="bg1"/>
                </a:solidFill>
              </a:rPr>
              <a:t>www.youtube.com</a:t>
            </a:r>
            <a:r>
              <a:rPr lang="en-US" dirty="0">
                <a:solidFill>
                  <a:schemeClr val="bg1"/>
                </a:solidFill>
              </a:rPr>
              <a:t>/</a:t>
            </a:r>
            <a:r>
              <a:rPr lang="en-US" dirty="0" err="1">
                <a:solidFill>
                  <a:schemeClr val="bg1"/>
                </a:solidFill>
              </a:rPr>
              <a:t>watch?v</a:t>
            </a:r>
            <a:r>
              <a:rPr lang="en-US" dirty="0">
                <a:solidFill>
                  <a:schemeClr val="bg1"/>
                </a:solidFill>
              </a:rPr>
              <a:t>=SWDl9Yh6gx8&amp;list=PL2aPXzks-TgNkKi2lUWL65MpPsRBCb5q5</a:t>
            </a:r>
          </a:p>
        </p:txBody>
      </p:sp>
    </p:spTree>
    <p:extLst>
      <p:ext uri="{BB962C8B-B14F-4D97-AF65-F5344CB8AC3E}">
        <p14:creationId xmlns:p14="http://schemas.microsoft.com/office/powerpoint/2010/main" val="1435902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4">
            <a:extLst>
              <a:ext uri="{FF2B5EF4-FFF2-40B4-BE49-F238E27FC236}">
                <a16:creationId xmlns:a16="http://schemas.microsoft.com/office/drawing/2014/main" id="{2021ACCD-DBBA-16ED-34BC-64D1441C23F3}"/>
              </a:ext>
            </a:extLst>
          </p:cNvPr>
          <p:cNvSpPr txBox="1">
            <a:spLocks noChangeArrowheads="1"/>
          </p:cNvSpPr>
          <p:nvPr/>
        </p:nvSpPr>
        <p:spPr bwMode="auto">
          <a:xfrm>
            <a:off x="304800" y="130314"/>
            <a:ext cx="8610600" cy="646331"/>
          </a:xfrm>
          <a:prstGeom prst="rect">
            <a:avLst/>
          </a:prstGeom>
          <a:noFill/>
          <a:ln w="9525">
            <a:noFill/>
            <a:miter lim="800000"/>
            <a:headEnd/>
            <a:tailEnd/>
          </a:ln>
        </p:spPr>
        <p:txBody>
          <a:bodyPr wrap="square">
            <a:spAutoFit/>
          </a:bodyPr>
          <a:lstStyle/>
          <a:p>
            <a:r>
              <a:rPr lang="en-US" sz="3600" dirty="0"/>
              <a:t>YouTube video content for 140L/132</a:t>
            </a:r>
          </a:p>
        </p:txBody>
      </p:sp>
      <p:sp>
        <p:nvSpPr>
          <p:cNvPr id="18" name="TextBox 17">
            <a:extLst>
              <a:ext uri="{FF2B5EF4-FFF2-40B4-BE49-F238E27FC236}">
                <a16:creationId xmlns:a16="http://schemas.microsoft.com/office/drawing/2014/main" id="{AA00DDBA-B086-0AD3-9506-7DAB87EA8A89}"/>
              </a:ext>
            </a:extLst>
          </p:cNvPr>
          <p:cNvSpPr txBox="1"/>
          <p:nvPr/>
        </p:nvSpPr>
        <p:spPr>
          <a:xfrm>
            <a:off x="381000" y="990600"/>
            <a:ext cx="9067800" cy="5693866"/>
          </a:xfrm>
          <a:prstGeom prst="rect">
            <a:avLst/>
          </a:prstGeom>
          <a:noFill/>
        </p:spPr>
        <p:txBody>
          <a:bodyPr wrap="square">
            <a:spAutoFit/>
          </a:bodyPr>
          <a:lstStyle/>
          <a:p>
            <a:pPr algn="l"/>
            <a:r>
              <a:rPr lang="en-US" sz="1400" b="1" i="0" dirty="0">
                <a:solidFill>
                  <a:srgbClr val="000000"/>
                </a:solidFill>
                <a:effectLst/>
                <a:latin typeface="Arial" panose="020B0604020202020204" pitchFamily="34" charset="0"/>
              </a:rPr>
              <a:t>https://</a:t>
            </a:r>
            <a:r>
              <a:rPr lang="en-US" sz="1400" b="1" i="0" dirty="0" err="1">
                <a:solidFill>
                  <a:srgbClr val="000000"/>
                </a:solidFill>
                <a:effectLst/>
                <a:latin typeface="Arial" panose="020B0604020202020204" pitchFamily="34" charset="0"/>
              </a:rPr>
              <a:t>openwetware.org</a:t>
            </a:r>
            <a:r>
              <a:rPr lang="en-US" sz="1400" b="1" i="0" dirty="0">
                <a:solidFill>
                  <a:srgbClr val="000000"/>
                </a:solidFill>
                <a:effectLst/>
                <a:latin typeface="Arial" panose="020B0604020202020204" pitchFamily="34" charset="0"/>
              </a:rPr>
              <a:t>/wiki/</a:t>
            </a:r>
            <a:r>
              <a:rPr lang="en-US" sz="1400" b="1" i="0" dirty="0" err="1">
                <a:solidFill>
                  <a:srgbClr val="000000"/>
                </a:solidFill>
                <a:effectLst/>
                <a:latin typeface="Arial" panose="020B0604020202020204" pitchFamily="34" charset="0"/>
              </a:rPr>
              <a:t>Synthetic_Biology_Trails</a:t>
            </a:r>
            <a:endParaRPr lang="en-US" sz="1400" b="1" i="0" dirty="0">
              <a:solidFill>
                <a:srgbClr val="000000"/>
              </a:solidFill>
              <a:effectLst/>
              <a:latin typeface="Arial" panose="020B0604020202020204" pitchFamily="34" charset="0"/>
            </a:endParaRPr>
          </a:p>
          <a:p>
            <a:pPr algn="l"/>
            <a:endParaRPr lang="en-US" sz="1400" b="1" dirty="0">
              <a:solidFill>
                <a:srgbClr val="000000"/>
              </a:solidFill>
              <a:latin typeface="Arial" panose="020B0604020202020204" pitchFamily="34" charset="0"/>
            </a:endParaRPr>
          </a:p>
          <a:p>
            <a:pPr algn="l"/>
            <a:r>
              <a:rPr lang="en-US" sz="1400" b="1" i="0" dirty="0">
                <a:solidFill>
                  <a:srgbClr val="000000"/>
                </a:solidFill>
                <a:effectLst/>
                <a:latin typeface="Arial" panose="020B0604020202020204" pitchFamily="34" charset="0"/>
              </a:rPr>
              <a:t>Lectures on experimental design</a:t>
            </a:r>
          </a:p>
          <a:p>
            <a:pPr algn="l"/>
            <a:r>
              <a:rPr lang="en-US" sz="1400" b="0" i="0" dirty="0">
                <a:solidFill>
                  <a:srgbClr val="000000"/>
                </a:solidFill>
                <a:effectLst/>
                <a:latin typeface="Arial" panose="020B0604020202020204" pitchFamily="34" charset="0"/>
              </a:rPr>
              <a:t>The DNA Manipulation Enzymes</a:t>
            </a:r>
            <a:br>
              <a:rPr lang="en-US" sz="1400" b="0" i="0" dirty="0">
                <a:solidFill>
                  <a:srgbClr val="000000"/>
                </a:solidFill>
                <a:effectLst/>
                <a:latin typeface="Arial" panose="020B0604020202020204" pitchFamily="34" charset="0"/>
              </a:rPr>
            </a:br>
            <a:r>
              <a:rPr lang="en-US" sz="1400" b="0" i="0" u="none" strike="noStrike" dirty="0">
                <a:solidFill>
                  <a:srgbClr val="3366BB"/>
                </a:solidFill>
                <a:effectLst/>
                <a:latin typeface="Arial" panose="020B0604020202020204" pitchFamily="34" charset="0"/>
                <a:hlinkClick r:id="rId4"/>
              </a:rPr>
              <a:t>https://www.youtube.com/watch?v=SWDl9Yh6gx8&amp;list=PL2aPXzks-TgNkKi2lUWL65MpPsRBCb5q5</a:t>
            </a:r>
            <a:endParaRPr lang="en-US" sz="1400" b="0" i="0" dirty="0">
              <a:solidFill>
                <a:srgbClr val="000000"/>
              </a:solidFill>
              <a:effectLst/>
              <a:latin typeface="Arial" panose="020B0604020202020204" pitchFamily="34" charset="0"/>
            </a:endParaRPr>
          </a:p>
          <a:p>
            <a:pPr algn="l"/>
            <a:r>
              <a:rPr lang="en-US" sz="1400" b="0" i="0" dirty="0">
                <a:solidFill>
                  <a:srgbClr val="000000"/>
                </a:solidFill>
                <a:effectLst/>
                <a:latin typeface="Arial" panose="020B0604020202020204" pitchFamily="34" charset="0"/>
              </a:rPr>
              <a:t>DNA Fabrication</a:t>
            </a:r>
            <a:br>
              <a:rPr lang="en-US" sz="1400" b="0" i="0" dirty="0">
                <a:solidFill>
                  <a:srgbClr val="000000"/>
                </a:solidFill>
                <a:effectLst/>
                <a:latin typeface="Arial" panose="020B0604020202020204" pitchFamily="34" charset="0"/>
              </a:rPr>
            </a:br>
            <a:r>
              <a:rPr lang="en-US" sz="1400" b="0" i="0" u="none" strike="noStrike" dirty="0">
                <a:solidFill>
                  <a:srgbClr val="3366BB"/>
                </a:solidFill>
                <a:effectLst/>
                <a:latin typeface="Arial" panose="020B0604020202020204" pitchFamily="34" charset="0"/>
                <a:hlinkClick r:id="rId5"/>
              </a:rPr>
              <a:t>https://www.youtube.com/watch?v=_XpQgGAO0lw&amp;list=PL2aPXzks-TgPX7HU4pogNUSBN9OK2PhBK</a:t>
            </a:r>
            <a:endParaRPr lang="en-US" sz="1400" b="0" i="0" dirty="0">
              <a:solidFill>
                <a:srgbClr val="000000"/>
              </a:solidFill>
              <a:effectLst/>
              <a:latin typeface="Arial" panose="020B0604020202020204" pitchFamily="34" charset="0"/>
            </a:endParaRPr>
          </a:p>
          <a:p>
            <a:pPr algn="l"/>
            <a:r>
              <a:rPr lang="en-US" sz="1400" b="0" i="0" dirty="0">
                <a:solidFill>
                  <a:srgbClr val="000000"/>
                </a:solidFill>
                <a:effectLst/>
                <a:latin typeface="Arial" panose="020B0604020202020204" pitchFamily="34" charset="0"/>
              </a:rPr>
              <a:t>Genome Manipulation</a:t>
            </a:r>
            <a:br>
              <a:rPr lang="en-US" sz="1400" b="0" i="0" dirty="0">
                <a:solidFill>
                  <a:srgbClr val="000000"/>
                </a:solidFill>
                <a:effectLst/>
                <a:latin typeface="Arial" panose="020B0604020202020204" pitchFamily="34" charset="0"/>
              </a:rPr>
            </a:br>
            <a:r>
              <a:rPr lang="en-US" sz="1400" b="0" i="0" u="none" strike="noStrike" dirty="0">
                <a:solidFill>
                  <a:srgbClr val="3366BB"/>
                </a:solidFill>
                <a:effectLst/>
                <a:latin typeface="Arial" panose="020B0604020202020204" pitchFamily="34" charset="0"/>
                <a:hlinkClick r:id="rId6"/>
              </a:rPr>
              <a:t>https://www.youtube.com/watch?v=vfmuDvEgD28&amp;list=PL2aPXzks-TgOtngzKdocz4P50TCncRyPy</a:t>
            </a:r>
            <a:endParaRPr lang="en-US" sz="1400" b="0" i="0" dirty="0">
              <a:solidFill>
                <a:srgbClr val="000000"/>
              </a:solidFill>
              <a:effectLst/>
              <a:latin typeface="Arial" panose="020B0604020202020204" pitchFamily="34" charset="0"/>
            </a:endParaRPr>
          </a:p>
          <a:p>
            <a:pPr algn="l"/>
            <a:r>
              <a:rPr lang="en-US" sz="1400" b="0" i="0" dirty="0">
                <a:solidFill>
                  <a:srgbClr val="000000"/>
                </a:solidFill>
                <a:effectLst/>
                <a:latin typeface="Arial" panose="020B0604020202020204" pitchFamily="34" charset="0"/>
              </a:rPr>
              <a:t>Chassis</a:t>
            </a:r>
            <a:br>
              <a:rPr lang="en-US" sz="1400" b="0" i="0" dirty="0">
                <a:solidFill>
                  <a:srgbClr val="000000"/>
                </a:solidFill>
                <a:effectLst/>
                <a:latin typeface="Arial" panose="020B0604020202020204" pitchFamily="34" charset="0"/>
              </a:rPr>
            </a:br>
            <a:r>
              <a:rPr lang="en-US" sz="1400" b="0" i="0" u="none" strike="noStrike" dirty="0">
                <a:solidFill>
                  <a:srgbClr val="3366BB"/>
                </a:solidFill>
                <a:effectLst/>
                <a:latin typeface="Arial" panose="020B0604020202020204" pitchFamily="34" charset="0"/>
                <a:hlinkClick r:id="rId7"/>
              </a:rPr>
              <a:t>https://www.youtube.com/watch?v=tgFp72Fx4Hk&amp;list=PL2aPXzks-TgMvy4PG5wwbrw9VKBuowOR8</a:t>
            </a:r>
            <a:endParaRPr lang="en-US" sz="1400" b="0" i="0" dirty="0">
              <a:solidFill>
                <a:srgbClr val="000000"/>
              </a:solidFill>
              <a:effectLst/>
              <a:latin typeface="Arial" panose="020B0604020202020204" pitchFamily="34" charset="0"/>
            </a:endParaRPr>
          </a:p>
          <a:p>
            <a:pPr algn="l"/>
            <a:r>
              <a:rPr lang="en-US" sz="1400" b="0" i="0" dirty="0">
                <a:solidFill>
                  <a:srgbClr val="000000"/>
                </a:solidFill>
                <a:effectLst/>
                <a:latin typeface="Arial" panose="020B0604020202020204" pitchFamily="34" charset="0"/>
              </a:rPr>
              <a:t>Parts</a:t>
            </a:r>
            <a:br>
              <a:rPr lang="en-US" sz="1400" b="0" i="0" dirty="0">
                <a:solidFill>
                  <a:srgbClr val="000000"/>
                </a:solidFill>
                <a:effectLst/>
                <a:latin typeface="Arial" panose="020B0604020202020204" pitchFamily="34" charset="0"/>
              </a:rPr>
            </a:br>
            <a:r>
              <a:rPr lang="en-US" sz="1400" b="0" i="0" u="none" strike="noStrike" dirty="0">
                <a:solidFill>
                  <a:srgbClr val="3366BB"/>
                </a:solidFill>
                <a:effectLst/>
                <a:latin typeface="Arial" panose="020B0604020202020204" pitchFamily="34" charset="0"/>
                <a:hlinkClick r:id="rId8"/>
              </a:rPr>
              <a:t>https://www.youtube.com/watch?v=9B5e41QwoBI&amp;list=PL2aPXzks-TgNP1FuAv0v-fS6UhCjy1waN</a:t>
            </a:r>
            <a:endParaRPr lang="en-US" sz="1400" b="0" i="0" dirty="0">
              <a:solidFill>
                <a:srgbClr val="000000"/>
              </a:solidFill>
              <a:effectLst/>
              <a:latin typeface="Arial" panose="020B0604020202020204" pitchFamily="34" charset="0"/>
            </a:endParaRPr>
          </a:p>
          <a:p>
            <a:pPr algn="l"/>
            <a:r>
              <a:rPr lang="en-US" sz="1400" b="0" i="0" dirty="0">
                <a:solidFill>
                  <a:srgbClr val="000000"/>
                </a:solidFill>
                <a:effectLst/>
                <a:latin typeface="Arial" panose="020B0604020202020204" pitchFamily="34" charset="0"/>
              </a:rPr>
              <a:t>Practices</a:t>
            </a:r>
            <a:br>
              <a:rPr lang="en-US" sz="1400" b="0" i="0" dirty="0">
                <a:solidFill>
                  <a:srgbClr val="000000"/>
                </a:solidFill>
                <a:effectLst/>
                <a:latin typeface="Arial" panose="020B0604020202020204" pitchFamily="34" charset="0"/>
              </a:rPr>
            </a:br>
            <a:r>
              <a:rPr lang="en-US" sz="1400" b="0" i="0" u="none" strike="noStrike" dirty="0">
                <a:solidFill>
                  <a:srgbClr val="3366BB"/>
                </a:solidFill>
                <a:effectLst/>
                <a:latin typeface="Arial" panose="020B0604020202020204" pitchFamily="34" charset="0"/>
                <a:hlinkClick r:id="rId9"/>
              </a:rPr>
              <a:t>https://www.youtube.com/watch?v=hDAnyG7zHFs&amp;list=PL2aPXzks-TgN_Ztp-bRkzbtbi5Ncsh71t</a:t>
            </a:r>
            <a:endParaRPr lang="en-US" sz="1400" b="0" i="0" dirty="0">
              <a:solidFill>
                <a:srgbClr val="000000"/>
              </a:solidFill>
              <a:effectLst/>
              <a:latin typeface="Arial" panose="020B0604020202020204" pitchFamily="34" charset="0"/>
            </a:endParaRPr>
          </a:p>
          <a:p>
            <a:pPr algn="l"/>
            <a:r>
              <a:rPr lang="en-US" sz="1400" b="0" i="0" dirty="0">
                <a:solidFill>
                  <a:srgbClr val="000000"/>
                </a:solidFill>
                <a:effectLst/>
                <a:latin typeface="Arial" panose="020B0604020202020204" pitchFamily="34" charset="0"/>
              </a:rPr>
              <a:t>Whole-Cell Analysis</a:t>
            </a:r>
            <a:br>
              <a:rPr lang="en-US" sz="1400" b="0" i="0" dirty="0">
                <a:solidFill>
                  <a:srgbClr val="000000"/>
                </a:solidFill>
                <a:effectLst/>
                <a:latin typeface="Arial" panose="020B0604020202020204" pitchFamily="34" charset="0"/>
              </a:rPr>
            </a:br>
            <a:r>
              <a:rPr lang="en-US" sz="1400" b="0" i="0" u="none" strike="noStrike" dirty="0">
                <a:solidFill>
                  <a:srgbClr val="3366BB"/>
                </a:solidFill>
                <a:effectLst/>
                <a:latin typeface="Arial" panose="020B0604020202020204" pitchFamily="34" charset="0"/>
                <a:hlinkClick r:id="rId10"/>
              </a:rPr>
              <a:t>https://www.youtube.com/watch?v=plOc9Ei5nvY&amp;list=PL2aPXzks-TgMo_x6XhYmfoZDezm4m-DcL</a:t>
            </a:r>
            <a:endParaRPr lang="en-US" sz="1400" b="0" i="0" dirty="0">
              <a:solidFill>
                <a:srgbClr val="000000"/>
              </a:solidFill>
              <a:effectLst/>
              <a:latin typeface="Arial" panose="020B0604020202020204" pitchFamily="34" charset="0"/>
            </a:endParaRPr>
          </a:p>
          <a:p>
            <a:pPr algn="l"/>
            <a:r>
              <a:rPr lang="en-US" sz="1400" b="0" i="0" dirty="0">
                <a:solidFill>
                  <a:srgbClr val="000000"/>
                </a:solidFill>
                <a:effectLst/>
                <a:latin typeface="Arial" panose="020B0604020202020204" pitchFamily="34" charset="0"/>
              </a:rPr>
              <a:t>In vitro Assays</a:t>
            </a:r>
            <a:br>
              <a:rPr lang="en-US" sz="1400" b="0" i="0" dirty="0">
                <a:solidFill>
                  <a:srgbClr val="000000"/>
                </a:solidFill>
                <a:effectLst/>
                <a:latin typeface="Arial" panose="020B0604020202020204" pitchFamily="34" charset="0"/>
              </a:rPr>
            </a:br>
            <a:r>
              <a:rPr lang="en-US" sz="1400" b="0" i="0" u="none" strike="noStrike" dirty="0">
                <a:solidFill>
                  <a:srgbClr val="3366BB"/>
                </a:solidFill>
                <a:effectLst/>
                <a:latin typeface="Arial" panose="020B0604020202020204" pitchFamily="34" charset="0"/>
                <a:hlinkClick r:id="rId11"/>
              </a:rPr>
              <a:t>https://www.youtube.com/watch?v=EheWQRLvLWU&amp;list=PL2aPXzks-TgNlrgM8BK3jD_aiyjoXOsRI</a:t>
            </a:r>
            <a:endParaRPr lang="en-US" sz="1400" b="0" i="0" dirty="0">
              <a:solidFill>
                <a:srgbClr val="000000"/>
              </a:solidFill>
              <a:effectLst/>
              <a:latin typeface="Arial" panose="020B0604020202020204" pitchFamily="34" charset="0"/>
            </a:endParaRPr>
          </a:p>
          <a:p>
            <a:pPr algn="l"/>
            <a:r>
              <a:rPr lang="en-US" sz="1400" b="0" i="0" dirty="0">
                <a:solidFill>
                  <a:srgbClr val="000000"/>
                </a:solidFill>
                <a:effectLst/>
                <a:latin typeface="Arial" panose="020B0604020202020204" pitchFamily="34" charset="0"/>
              </a:rPr>
              <a:t>Directed Evolution</a:t>
            </a:r>
            <a:br>
              <a:rPr lang="en-US" sz="1400" b="0" i="0" dirty="0">
                <a:solidFill>
                  <a:srgbClr val="000000"/>
                </a:solidFill>
                <a:effectLst/>
                <a:latin typeface="Arial" panose="020B0604020202020204" pitchFamily="34" charset="0"/>
              </a:rPr>
            </a:br>
            <a:r>
              <a:rPr lang="en-US" sz="1400" b="0" i="0" u="none" strike="noStrike" dirty="0">
                <a:solidFill>
                  <a:srgbClr val="3366BB"/>
                </a:solidFill>
                <a:effectLst/>
                <a:latin typeface="Arial" panose="020B0604020202020204" pitchFamily="34" charset="0"/>
                <a:hlinkClick r:id="rId12"/>
              </a:rPr>
              <a:t>https://www.youtube.com/watch?v=1wWyTrUroGM&amp;list=PL2aPXzks-TgOOPfxneYJ3pBwTlqzv9Ezn</a:t>
            </a:r>
            <a:endParaRPr lang="en-US" sz="1400" b="0" i="0" dirty="0">
              <a:solidFill>
                <a:srgbClr val="000000"/>
              </a:solidFill>
              <a:effectLst/>
              <a:latin typeface="Arial" panose="020B0604020202020204" pitchFamily="34" charset="0"/>
            </a:endParaRPr>
          </a:p>
          <a:p>
            <a:pPr algn="l"/>
            <a:r>
              <a:rPr lang="en-US" sz="1400" b="0" i="0" dirty="0">
                <a:solidFill>
                  <a:srgbClr val="000000"/>
                </a:solidFill>
                <a:effectLst/>
                <a:latin typeface="Arial" panose="020B0604020202020204" pitchFamily="34" charset="0"/>
              </a:rPr>
              <a:t>Combinatorial Libraries</a:t>
            </a:r>
            <a:br>
              <a:rPr lang="en-US" sz="1400" b="0" i="0" dirty="0">
                <a:solidFill>
                  <a:srgbClr val="000000"/>
                </a:solidFill>
                <a:effectLst/>
                <a:latin typeface="Arial" panose="020B0604020202020204" pitchFamily="34" charset="0"/>
              </a:rPr>
            </a:br>
            <a:r>
              <a:rPr lang="en-US" sz="1400" b="0" i="0" u="none" strike="noStrike" dirty="0">
                <a:solidFill>
                  <a:srgbClr val="3366BB"/>
                </a:solidFill>
                <a:effectLst/>
                <a:latin typeface="Arial" panose="020B0604020202020204" pitchFamily="34" charset="0"/>
                <a:hlinkClick r:id="rId13"/>
              </a:rPr>
              <a:t>https://www.youtube.com/watch?v=8BDTS9NK7Zg&amp;list=PL2aPXzks-TgNF957XOSBB3rPdFbtvsWYI</a:t>
            </a:r>
            <a:endParaRPr lang="en-US" sz="1400" b="0" i="0" dirty="0">
              <a:solidFill>
                <a:srgbClr val="000000"/>
              </a:solidFill>
              <a:effectLst/>
              <a:latin typeface="Arial" panose="020B0604020202020204" pitchFamily="34" charset="0"/>
            </a:endParaRPr>
          </a:p>
          <a:p>
            <a:pPr algn="l"/>
            <a:r>
              <a:rPr lang="en-US" sz="1400" b="0" i="0" dirty="0">
                <a:solidFill>
                  <a:srgbClr val="000000"/>
                </a:solidFill>
                <a:effectLst/>
                <a:latin typeface="Arial" panose="020B0604020202020204" pitchFamily="34" charset="0"/>
              </a:rPr>
              <a:t>Automation</a:t>
            </a:r>
            <a:br>
              <a:rPr lang="en-US" sz="1400" b="0" i="0" dirty="0">
                <a:solidFill>
                  <a:srgbClr val="000000"/>
                </a:solidFill>
                <a:effectLst/>
                <a:latin typeface="Arial" panose="020B0604020202020204" pitchFamily="34" charset="0"/>
              </a:rPr>
            </a:br>
            <a:r>
              <a:rPr lang="en-US" sz="1400" b="0" i="0" u="none" strike="noStrike" dirty="0">
                <a:solidFill>
                  <a:srgbClr val="3366BB"/>
                </a:solidFill>
                <a:effectLst/>
                <a:latin typeface="Arial" panose="020B0604020202020204" pitchFamily="34" charset="0"/>
                <a:hlinkClick r:id="rId14"/>
              </a:rPr>
              <a:t>https://www.youtube.com/watch?v=X0eemsxBtlI&amp;list=PL2aPXzks-TgMJ7UID5Q2hb5y4D4yRgzzj</a:t>
            </a:r>
            <a:endParaRPr lang="en-US" sz="1400" b="0" i="0" dirty="0">
              <a:solidFill>
                <a:srgbClr val="000000"/>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1585808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1114" y="415290"/>
            <a:ext cx="7742633" cy="646331"/>
          </a:xfrm>
          <a:prstGeom prst="rect">
            <a:avLst/>
          </a:prstGeom>
          <a:noFill/>
        </p:spPr>
        <p:txBody>
          <a:bodyPr wrap="square" rtlCol="0">
            <a:spAutoFit/>
          </a:bodyPr>
          <a:lstStyle/>
          <a:p>
            <a:pPr defTabSz="457200"/>
            <a:r>
              <a:rPr lang="en-US" sz="3600" b="1" dirty="0">
                <a:solidFill>
                  <a:srgbClr val="000000"/>
                </a:solidFill>
                <a:latin typeface="Arial"/>
                <a:cs typeface="Arial"/>
              </a:rPr>
              <a:t>AI Prompt</a:t>
            </a:r>
            <a:endParaRPr lang="en-US" sz="3600" i="1" dirty="0">
              <a:solidFill>
                <a:srgbClr val="000000"/>
              </a:solidFill>
              <a:latin typeface="Arial"/>
              <a:cs typeface="Arial"/>
            </a:endParaRPr>
          </a:p>
        </p:txBody>
      </p:sp>
      <p:sp>
        <p:nvSpPr>
          <p:cNvPr id="3" name="Rectangle 2"/>
          <p:cNvSpPr/>
          <p:nvPr/>
        </p:nvSpPr>
        <p:spPr>
          <a:xfrm>
            <a:off x="1045828" y="1248126"/>
            <a:ext cx="7640971" cy="461665"/>
          </a:xfrm>
          <a:prstGeom prst="rect">
            <a:avLst/>
          </a:prstGeom>
        </p:spPr>
        <p:txBody>
          <a:bodyPr wrap="square">
            <a:spAutoFit/>
          </a:bodyPr>
          <a:lstStyle/>
          <a:p>
            <a:pPr defTabSz="457200"/>
            <a:r>
              <a:rPr lang="en-US" sz="2400" b="0" i="0" dirty="0">
                <a:solidFill>
                  <a:srgbClr val="374151"/>
                </a:solidFill>
                <a:effectLst/>
                <a:latin typeface="ui-sans-serif"/>
              </a:rPr>
              <a:t>Are you familiar with the content of the NEB catalog?</a:t>
            </a:r>
            <a:endParaRPr lang="en-US" sz="2400" i="1" dirty="0">
              <a:solidFill>
                <a:srgbClr val="FF0000"/>
              </a:solidFill>
              <a:latin typeface="Calibri"/>
            </a:endParaRPr>
          </a:p>
        </p:txBody>
      </p:sp>
      <p:pic>
        <p:nvPicPr>
          <p:cNvPr id="2" name="Picture 1">
            <a:extLst>
              <a:ext uri="{FF2B5EF4-FFF2-40B4-BE49-F238E27FC236}">
                <a16:creationId xmlns:a16="http://schemas.microsoft.com/office/drawing/2014/main" id="{C2E3FC26-1680-F4D0-4DFC-573C18AF20C9}"/>
              </a:ext>
            </a:extLst>
          </p:cNvPr>
          <p:cNvPicPr>
            <a:picLocks noChangeAspect="1"/>
          </p:cNvPicPr>
          <p:nvPr/>
        </p:nvPicPr>
        <p:blipFill>
          <a:blip r:embed="rId3"/>
          <a:stretch>
            <a:fillRect/>
          </a:stretch>
        </p:blipFill>
        <p:spPr>
          <a:xfrm>
            <a:off x="1104368" y="1907434"/>
            <a:ext cx="7010400" cy="4383591"/>
          </a:xfrm>
          <a:prstGeom prst="rect">
            <a:avLst/>
          </a:prstGeom>
        </p:spPr>
      </p:pic>
    </p:spTree>
    <p:extLst>
      <p:ext uri="{BB962C8B-B14F-4D97-AF65-F5344CB8AC3E}">
        <p14:creationId xmlns:p14="http://schemas.microsoft.com/office/powerpoint/2010/main" val="2295352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28600"/>
            <a:ext cx="5638800" cy="707886"/>
          </a:xfrm>
          <a:prstGeom prst="rect">
            <a:avLst/>
          </a:prstGeom>
          <a:noFill/>
        </p:spPr>
        <p:txBody>
          <a:bodyPr wrap="square" rtlCol="0">
            <a:spAutoFit/>
          </a:bodyPr>
          <a:lstStyle/>
          <a:p>
            <a:r>
              <a:rPr lang="en-US" sz="4000" dirty="0">
                <a:solidFill>
                  <a:srgbClr val="1F497D">
                    <a:lumMod val="20000"/>
                    <a:lumOff val="80000"/>
                  </a:srgbClr>
                </a:solidFill>
                <a:latin typeface="Rockwell Extra Bold" pitchFamily="18" charset="0"/>
                <a:cs typeface="Arial" pitchFamily="34" charset="0"/>
              </a:rPr>
              <a:t>Ground rules</a:t>
            </a:r>
          </a:p>
        </p:txBody>
      </p:sp>
      <p:sp>
        <p:nvSpPr>
          <p:cNvPr id="5" name="Rectangle 4"/>
          <p:cNvSpPr/>
          <p:nvPr/>
        </p:nvSpPr>
        <p:spPr>
          <a:xfrm>
            <a:off x="1066800" y="1331416"/>
            <a:ext cx="7391400" cy="4832092"/>
          </a:xfrm>
          <a:prstGeom prst="rect">
            <a:avLst/>
          </a:prstGeom>
        </p:spPr>
        <p:txBody>
          <a:bodyPr wrap="square">
            <a:spAutoFit/>
          </a:bodyPr>
          <a:lstStyle/>
          <a:p>
            <a:pPr marL="457200" indent="-457200">
              <a:buFont typeface="Wingdings" pitchFamily="2" charset="2"/>
              <a:buChar char="§"/>
            </a:pPr>
            <a:r>
              <a:rPr lang="en-US" sz="2200" dirty="0">
                <a:solidFill>
                  <a:srgbClr val="1F497D">
                    <a:lumMod val="20000"/>
                    <a:lumOff val="80000"/>
                  </a:srgbClr>
                </a:solidFill>
                <a:latin typeface="Calibri" pitchFamily="34" charset="0"/>
              </a:rPr>
              <a:t>Sip from the fountain…my lectures tend to be meaty</a:t>
            </a:r>
          </a:p>
          <a:p>
            <a:pPr marL="457200" indent="-457200">
              <a:buFont typeface="Wingdings" pitchFamily="2" charset="2"/>
              <a:buChar char="§"/>
            </a:pPr>
            <a:endParaRPr lang="en-US" sz="2200" dirty="0">
              <a:solidFill>
                <a:srgbClr val="1F497D">
                  <a:lumMod val="20000"/>
                  <a:lumOff val="80000"/>
                </a:srgbClr>
              </a:solidFill>
              <a:latin typeface="Calibri" pitchFamily="34" charset="0"/>
            </a:endParaRPr>
          </a:p>
          <a:p>
            <a:pPr marL="457200" indent="-457200">
              <a:buFont typeface="Wingdings" pitchFamily="2" charset="2"/>
              <a:buChar char="§"/>
            </a:pPr>
            <a:r>
              <a:rPr lang="en-US" sz="2200" dirty="0">
                <a:solidFill>
                  <a:srgbClr val="1F497D">
                    <a:lumMod val="20000"/>
                    <a:lumOff val="80000"/>
                  </a:srgbClr>
                </a:solidFill>
                <a:latin typeface="Calibri" pitchFamily="34" charset="0"/>
              </a:rPr>
              <a:t>All these </a:t>
            </a:r>
            <a:r>
              <a:rPr lang="en-US" sz="2200" dirty="0" err="1">
                <a:solidFill>
                  <a:srgbClr val="1F497D">
                    <a:lumMod val="20000"/>
                    <a:lumOff val="80000"/>
                  </a:srgbClr>
                </a:solidFill>
                <a:latin typeface="Calibri" pitchFamily="34" charset="0"/>
              </a:rPr>
              <a:t>ppt</a:t>
            </a:r>
            <a:r>
              <a:rPr lang="en-US" sz="2200" dirty="0">
                <a:solidFill>
                  <a:srgbClr val="1F497D">
                    <a:lumMod val="20000"/>
                    <a:lumOff val="80000"/>
                  </a:srgbClr>
                </a:solidFill>
                <a:latin typeface="Calibri" pitchFamily="34" charset="0"/>
              </a:rPr>
              <a:t> files are available on </a:t>
            </a:r>
            <a:r>
              <a:rPr lang="en-US" sz="2200" dirty="0" err="1">
                <a:solidFill>
                  <a:srgbClr val="1F497D">
                    <a:lumMod val="20000"/>
                    <a:lumOff val="80000"/>
                  </a:srgbClr>
                </a:solidFill>
                <a:latin typeface="Calibri" pitchFamily="34" charset="0"/>
              </a:rPr>
              <a:t>bcourses</a:t>
            </a:r>
            <a:r>
              <a:rPr lang="en-US" sz="2200" dirty="0">
                <a:solidFill>
                  <a:srgbClr val="1F497D">
                    <a:lumMod val="20000"/>
                    <a:lumOff val="80000"/>
                  </a:srgbClr>
                </a:solidFill>
                <a:latin typeface="Calibri" pitchFamily="34" charset="0"/>
              </a:rPr>
              <a:t> and </a:t>
            </a:r>
            <a:r>
              <a:rPr lang="en-US" sz="2200" dirty="0" err="1">
                <a:solidFill>
                  <a:srgbClr val="1F497D">
                    <a:lumMod val="20000"/>
                    <a:lumOff val="80000"/>
                  </a:srgbClr>
                </a:solidFill>
                <a:latin typeface="Calibri" pitchFamily="34" charset="0"/>
              </a:rPr>
              <a:t>youtube</a:t>
            </a:r>
            <a:endParaRPr lang="en-US" sz="2200" dirty="0">
              <a:solidFill>
                <a:srgbClr val="1F497D">
                  <a:lumMod val="20000"/>
                  <a:lumOff val="80000"/>
                </a:srgbClr>
              </a:solidFill>
              <a:latin typeface="Calibri" pitchFamily="34" charset="0"/>
            </a:endParaRPr>
          </a:p>
          <a:p>
            <a:pPr marL="457200" indent="-457200">
              <a:buFont typeface="Wingdings" pitchFamily="2" charset="2"/>
              <a:buChar char="§"/>
            </a:pPr>
            <a:endParaRPr lang="en-US" sz="2200" dirty="0">
              <a:solidFill>
                <a:srgbClr val="1F497D">
                  <a:lumMod val="20000"/>
                  <a:lumOff val="80000"/>
                </a:srgbClr>
              </a:solidFill>
              <a:latin typeface="Calibri" pitchFamily="34" charset="0"/>
            </a:endParaRPr>
          </a:p>
          <a:p>
            <a:pPr marL="457200" indent="-457200">
              <a:buFont typeface="Wingdings" pitchFamily="2" charset="2"/>
              <a:buChar char="§"/>
            </a:pPr>
            <a:r>
              <a:rPr lang="en-US" sz="2200" dirty="0">
                <a:solidFill>
                  <a:srgbClr val="1F497D">
                    <a:lumMod val="20000"/>
                    <a:lumOff val="80000"/>
                  </a:srgbClr>
                </a:solidFill>
                <a:latin typeface="Calibri" pitchFamily="34" charset="0"/>
              </a:rPr>
              <a:t>Focus on understanding the concepts, you don’t have to memorize anything</a:t>
            </a:r>
          </a:p>
          <a:p>
            <a:pPr marL="457200" indent="-457200">
              <a:buFont typeface="Wingdings" pitchFamily="2" charset="2"/>
              <a:buChar char="§"/>
            </a:pPr>
            <a:endParaRPr lang="en-US" sz="2200" dirty="0">
              <a:solidFill>
                <a:srgbClr val="1F497D">
                  <a:lumMod val="20000"/>
                  <a:lumOff val="80000"/>
                </a:srgbClr>
              </a:solidFill>
              <a:latin typeface="Calibri" pitchFamily="34" charset="0"/>
            </a:endParaRPr>
          </a:p>
          <a:p>
            <a:pPr marL="457200" indent="-457200">
              <a:buFont typeface="Wingdings" pitchFamily="2" charset="2"/>
              <a:buChar char="§"/>
            </a:pPr>
            <a:r>
              <a:rPr lang="en-US" sz="2200" dirty="0">
                <a:solidFill>
                  <a:srgbClr val="1F497D">
                    <a:lumMod val="20000"/>
                    <a:lumOff val="80000"/>
                  </a:srgbClr>
                </a:solidFill>
                <a:latin typeface="Calibri" pitchFamily="34" charset="0"/>
              </a:rPr>
              <a:t>The purpose of this lecture is to introduce important DNA modification enzymes and what you can do with them; additionally, it is to begin getting you to think about the functions of proteins and how combinations of </a:t>
            </a:r>
            <a:r>
              <a:rPr lang="en-US" sz="2200" dirty="0" err="1">
                <a:solidFill>
                  <a:srgbClr val="1F497D">
                    <a:lumMod val="20000"/>
                    <a:lumOff val="80000"/>
                  </a:srgbClr>
                </a:solidFill>
                <a:latin typeface="Calibri" pitchFamily="34" charset="0"/>
              </a:rPr>
              <a:t>biochemicals</a:t>
            </a:r>
            <a:r>
              <a:rPr lang="en-US" sz="2200" dirty="0">
                <a:solidFill>
                  <a:srgbClr val="1F497D">
                    <a:lumMod val="20000"/>
                    <a:lumOff val="80000"/>
                  </a:srgbClr>
                </a:solidFill>
                <a:latin typeface="Calibri" pitchFamily="34" charset="0"/>
              </a:rPr>
              <a:t> can interact with predictable results</a:t>
            </a:r>
          </a:p>
          <a:p>
            <a:endParaRPr lang="en-US" sz="2200" dirty="0">
              <a:solidFill>
                <a:srgbClr val="1F497D">
                  <a:lumMod val="20000"/>
                  <a:lumOff val="80000"/>
                </a:srgbClr>
              </a:solidFill>
              <a:latin typeface="Calibri" pitchFamily="34" charset="0"/>
            </a:endParaRPr>
          </a:p>
          <a:p>
            <a:pPr marL="457200" indent="-457200">
              <a:buFont typeface="Wingdings" pitchFamily="2" charset="2"/>
              <a:buChar char="§"/>
            </a:pPr>
            <a:r>
              <a:rPr lang="en-US" sz="2200" dirty="0">
                <a:solidFill>
                  <a:srgbClr val="1F497D">
                    <a:lumMod val="20000"/>
                    <a:lumOff val="80000"/>
                  </a:srgbClr>
                </a:solidFill>
                <a:latin typeface="Calibri" pitchFamily="34" charset="0"/>
              </a:rPr>
              <a:t>You may interrupt me at any time with questions</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52600" y="1066800"/>
            <a:ext cx="6553200" cy="4524315"/>
          </a:xfrm>
          <a:prstGeom prst="rect">
            <a:avLst/>
          </a:prstGeom>
        </p:spPr>
        <p:txBody>
          <a:bodyPr wrap="square">
            <a:spAutoFit/>
          </a:bodyPr>
          <a:lstStyle/>
          <a:p>
            <a:r>
              <a:rPr lang="en-US" sz="3200" dirty="0" err="1">
                <a:solidFill>
                  <a:srgbClr val="1F497D">
                    <a:lumMod val="20000"/>
                    <a:lumOff val="80000"/>
                  </a:srgbClr>
                </a:solidFill>
                <a:latin typeface="Rockwell Extra Bold" pitchFamily="18" charset="0"/>
                <a:cs typeface="Arial" pitchFamily="34" charset="0"/>
              </a:rPr>
              <a:t>Endonucleases</a:t>
            </a:r>
            <a:endParaRPr lang="en-US" sz="3200" dirty="0">
              <a:solidFill>
                <a:srgbClr val="1F497D">
                  <a:lumMod val="20000"/>
                  <a:lumOff val="80000"/>
                </a:srgbClr>
              </a:solidFill>
              <a:latin typeface="Rockwell Extra Bold" pitchFamily="18" charset="0"/>
              <a:cs typeface="Arial" pitchFamily="34" charset="0"/>
            </a:endParaRPr>
          </a:p>
          <a:p>
            <a:r>
              <a:rPr lang="en-US" sz="3200" dirty="0" err="1">
                <a:solidFill>
                  <a:srgbClr val="1F497D">
                    <a:lumMod val="20000"/>
                    <a:lumOff val="80000"/>
                  </a:srgbClr>
                </a:solidFill>
                <a:latin typeface="Rockwell Extra Bold" pitchFamily="18" charset="0"/>
                <a:cs typeface="Arial" pitchFamily="34" charset="0"/>
              </a:rPr>
              <a:t>Exonucleases</a:t>
            </a:r>
            <a:endParaRPr lang="en-US" sz="3200" dirty="0">
              <a:solidFill>
                <a:srgbClr val="1F497D">
                  <a:lumMod val="20000"/>
                  <a:lumOff val="80000"/>
                </a:srgbClr>
              </a:solidFill>
              <a:latin typeface="Rockwell Extra Bold" pitchFamily="18" charset="0"/>
              <a:cs typeface="Arial" pitchFamily="34" charset="0"/>
            </a:endParaRPr>
          </a:p>
          <a:p>
            <a:r>
              <a:rPr lang="en-US" sz="3200" dirty="0">
                <a:solidFill>
                  <a:srgbClr val="1F497D">
                    <a:lumMod val="20000"/>
                    <a:lumOff val="80000"/>
                  </a:srgbClr>
                </a:solidFill>
                <a:latin typeface="Rockwell Extra Bold" pitchFamily="18" charset="0"/>
                <a:cs typeface="Arial" pitchFamily="34" charset="0"/>
              </a:rPr>
              <a:t>DNA Polymerases</a:t>
            </a:r>
          </a:p>
          <a:p>
            <a:r>
              <a:rPr lang="en-US" sz="3200" dirty="0">
                <a:solidFill>
                  <a:srgbClr val="1F497D">
                    <a:lumMod val="20000"/>
                    <a:lumOff val="80000"/>
                  </a:srgbClr>
                </a:solidFill>
                <a:latin typeface="Rockwell Extra Bold" pitchFamily="18" charset="0"/>
                <a:cs typeface="Arial" pitchFamily="34" charset="0"/>
              </a:rPr>
              <a:t>RNA Polymerases</a:t>
            </a:r>
          </a:p>
          <a:p>
            <a:r>
              <a:rPr lang="en-US" sz="3200" dirty="0" err="1">
                <a:solidFill>
                  <a:srgbClr val="1F497D">
                    <a:lumMod val="20000"/>
                    <a:lumOff val="80000"/>
                  </a:srgbClr>
                </a:solidFill>
                <a:latin typeface="Rockwell Extra Bold" pitchFamily="18" charset="0"/>
                <a:cs typeface="Arial" pitchFamily="34" charset="0"/>
              </a:rPr>
              <a:t>Ligases</a:t>
            </a:r>
            <a:endParaRPr lang="en-US" sz="3200" dirty="0">
              <a:solidFill>
                <a:srgbClr val="1F497D">
                  <a:lumMod val="20000"/>
                  <a:lumOff val="80000"/>
                </a:srgbClr>
              </a:solidFill>
              <a:latin typeface="Rockwell Extra Bold" pitchFamily="18" charset="0"/>
              <a:cs typeface="Arial" pitchFamily="34" charset="0"/>
            </a:endParaRPr>
          </a:p>
          <a:p>
            <a:r>
              <a:rPr lang="en-US" sz="3200" dirty="0" err="1">
                <a:solidFill>
                  <a:srgbClr val="1F497D">
                    <a:lumMod val="20000"/>
                    <a:lumOff val="80000"/>
                  </a:srgbClr>
                </a:solidFill>
                <a:latin typeface="Rockwell Extra Bold" pitchFamily="18" charset="0"/>
                <a:cs typeface="Arial" pitchFamily="34" charset="0"/>
              </a:rPr>
              <a:t>Methyltransferases</a:t>
            </a:r>
            <a:endParaRPr lang="en-US" sz="3200" dirty="0">
              <a:solidFill>
                <a:srgbClr val="1F497D">
                  <a:lumMod val="20000"/>
                  <a:lumOff val="80000"/>
                </a:srgbClr>
              </a:solidFill>
              <a:latin typeface="Rockwell Extra Bold" pitchFamily="18" charset="0"/>
              <a:cs typeface="Arial" pitchFamily="34" charset="0"/>
            </a:endParaRPr>
          </a:p>
          <a:p>
            <a:r>
              <a:rPr lang="en-US" sz="3200" dirty="0">
                <a:solidFill>
                  <a:srgbClr val="1F497D">
                    <a:lumMod val="20000"/>
                    <a:lumOff val="80000"/>
                  </a:srgbClr>
                </a:solidFill>
                <a:latin typeface="Rockwell Extra Bold" pitchFamily="18" charset="0"/>
                <a:cs typeface="Arial" pitchFamily="34" charset="0"/>
              </a:rPr>
              <a:t>Phosphatases/Kinases</a:t>
            </a:r>
          </a:p>
          <a:p>
            <a:r>
              <a:rPr lang="en-US" sz="3200" dirty="0" err="1">
                <a:solidFill>
                  <a:srgbClr val="1F497D">
                    <a:lumMod val="20000"/>
                    <a:lumOff val="80000"/>
                  </a:srgbClr>
                </a:solidFill>
                <a:latin typeface="Rockwell Extra Bold" pitchFamily="18" charset="0"/>
                <a:cs typeface="Arial" pitchFamily="34" charset="0"/>
              </a:rPr>
              <a:t>Recombinases</a:t>
            </a:r>
            <a:endParaRPr lang="en-US" sz="3200" dirty="0">
              <a:solidFill>
                <a:srgbClr val="1F497D">
                  <a:lumMod val="20000"/>
                  <a:lumOff val="80000"/>
                </a:srgbClr>
              </a:solidFill>
              <a:latin typeface="Rockwell Extra Bold" pitchFamily="18" charset="0"/>
              <a:cs typeface="Arial" pitchFamily="34" charset="0"/>
            </a:endParaRPr>
          </a:p>
          <a:p>
            <a:endParaRPr lang="en-US" sz="3200" dirty="0">
              <a:solidFill>
                <a:srgbClr val="1F497D">
                  <a:lumMod val="20000"/>
                  <a:lumOff val="80000"/>
                </a:srgbClr>
              </a:solidFill>
              <a:latin typeface="Rockwell Extra Bold" pitchFamily="18" charset="0"/>
              <a:cs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1349514"/>
            <a:ext cx="9144000" cy="707886"/>
          </a:xfrm>
          <a:prstGeom prst="rect">
            <a:avLst/>
          </a:prstGeom>
          <a:noFill/>
          <a:ln w="9525">
            <a:noFill/>
            <a:miter lim="800000"/>
            <a:headEnd/>
            <a:tailEnd/>
          </a:ln>
        </p:spPr>
        <p:txBody>
          <a:bodyPr wrap="square">
            <a:spAutoFit/>
          </a:bodyPr>
          <a:lstStyle/>
          <a:p>
            <a:pPr algn="ctr"/>
            <a:r>
              <a:rPr lang="en-US" sz="4000" dirty="0">
                <a:solidFill>
                  <a:schemeClr val="bg1"/>
                </a:solidFill>
                <a:latin typeface="Rockwell Extra Bold" pitchFamily="18" charset="0"/>
                <a:cs typeface="Arial" pitchFamily="34" charset="0"/>
              </a:rPr>
              <a:t>Endonucleases</a:t>
            </a:r>
          </a:p>
        </p:txBody>
      </p:sp>
      <p:sp>
        <p:nvSpPr>
          <p:cNvPr id="7" name="Rectangle 5"/>
          <p:cNvSpPr>
            <a:spLocks noChangeArrowheads="1"/>
          </p:cNvSpPr>
          <p:nvPr/>
        </p:nvSpPr>
        <p:spPr bwMode="auto">
          <a:xfrm>
            <a:off x="2743200" y="2486403"/>
            <a:ext cx="4778375" cy="830263"/>
          </a:xfrm>
          <a:prstGeom prst="rect">
            <a:avLst/>
          </a:prstGeom>
          <a:noFill/>
          <a:ln w="9525">
            <a:noFill/>
            <a:miter lim="800000"/>
            <a:headEnd/>
            <a:tailEnd/>
          </a:ln>
        </p:spPr>
        <p:txBody>
          <a:bodyPr wrap="none">
            <a:spAutoFit/>
          </a:bodyPr>
          <a:lstStyle/>
          <a:p>
            <a:r>
              <a:rPr lang="en-US" sz="2400">
                <a:solidFill>
                  <a:schemeClr val="bg1"/>
                </a:solidFill>
                <a:latin typeface="Calibri" pitchFamily="34" charset="0"/>
              </a:rPr>
              <a:t>Endo = within</a:t>
            </a:r>
          </a:p>
          <a:p>
            <a:r>
              <a:rPr lang="en-US" sz="2400">
                <a:solidFill>
                  <a:schemeClr val="bg1"/>
                </a:solidFill>
                <a:latin typeface="Calibri" pitchFamily="34" charset="0"/>
              </a:rPr>
              <a:t>Nuclease = enzyme that cleaves DNA</a:t>
            </a:r>
          </a:p>
        </p:txBody>
      </p:sp>
      <p:sp>
        <p:nvSpPr>
          <p:cNvPr id="8" name="Rectangle 5"/>
          <p:cNvSpPr>
            <a:spLocks noChangeArrowheads="1"/>
          </p:cNvSpPr>
          <p:nvPr/>
        </p:nvSpPr>
        <p:spPr bwMode="auto">
          <a:xfrm>
            <a:off x="2743200" y="3459540"/>
            <a:ext cx="3328925" cy="1569660"/>
          </a:xfrm>
          <a:prstGeom prst="rect">
            <a:avLst/>
          </a:prstGeom>
          <a:noFill/>
          <a:ln w="9525">
            <a:noFill/>
            <a:miter lim="800000"/>
            <a:headEnd/>
            <a:tailEnd/>
          </a:ln>
        </p:spPr>
        <p:txBody>
          <a:bodyPr wrap="none">
            <a:spAutoFit/>
          </a:bodyPr>
          <a:lstStyle/>
          <a:p>
            <a:r>
              <a:rPr lang="en-US" sz="2400" dirty="0">
                <a:solidFill>
                  <a:schemeClr val="bg1"/>
                </a:solidFill>
                <a:latin typeface="Calibri" pitchFamily="34" charset="0"/>
              </a:rPr>
              <a:t>Restriction </a:t>
            </a:r>
            <a:r>
              <a:rPr lang="en-US" sz="2400" dirty="0" err="1">
                <a:solidFill>
                  <a:schemeClr val="bg1"/>
                </a:solidFill>
                <a:latin typeface="Calibri" pitchFamily="34" charset="0"/>
              </a:rPr>
              <a:t>Endonuclease</a:t>
            </a:r>
            <a:endParaRPr lang="en-US" sz="2400" dirty="0">
              <a:solidFill>
                <a:schemeClr val="bg1"/>
              </a:solidFill>
              <a:latin typeface="Calibri" pitchFamily="34" charset="0"/>
            </a:endParaRPr>
          </a:p>
          <a:p>
            <a:r>
              <a:rPr lang="en-US" sz="2400" dirty="0" err="1">
                <a:solidFill>
                  <a:schemeClr val="bg1"/>
                </a:solidFill>
                <a:latin typeface="Calibri" pitchFamily="34" charset="0"/>
              </a:rPr>
              <a:t>DNAses</a:t>
            </a:r>
            <a:endParaRPr lang="en-US" sz="2400" dirty="0">
              <a:solidFill>
                <a:srgbClr val="FF0000"/>
              </a:solidFill>
              <a:latin typeface="Calibri" pitchFamily="34" charset="0"/>
            </a:endParaRPr>
          </a:p>
          <a:p>
            <a:r>
              <a:rPr lang="en-US" sz="2400" dirty="0">
                <a:solidFill>
                  <a:srgbClr val="FF0000"/>
                </a:solidFill>
                <a:latin typeface="Calibri" pitchFamily="34" charset="0"/>
              </a:rPr>
              <a:t>Homing Endonucleases</a:t>
            </a:r>
          </a:p>
          <a:p>
            <a:r>
              <a:rPr lang="en-US" sz="2400" dirty="0">
                <a:solidFill>
                  <a:srgbClr val="FF0000"/>
                </a:solidFill>
                <a:latin typeface="Calibri" pitchFamily="34" charset="0"/>
              </a:rPr>
              <a:t>Cas9</a:t>
            </a:r>
          </a:p>
        </p:txBody>
      </p:sp>
    </p:spTree>
    <p:custDataLst>
      <p:tags r:id="rId2"/>
    </p:custData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0"/>
            <a:ext cx="9144000" cy="707886"/>
          </a:xfrm>
          <a:prstGeom prst="rect">
            <a:avLst/>
          </a:prstGeom>
          <a:noFill/>
          <a:ln w="9525">
            <a:noFill/>
            <a:miter lim="800000"/>
            <a:headEnd/>
            <a:tailEnd/>
          </a:ln>
        </p:spPr>
        <p:txBody>
          <a:bodyPr wrap="square">
            <a:spAutoFit/>
          </a:bodyPr>
          <a:lstStyle/>
          <a:p>
            <a:pPr algn="ctr"/>
            <a:r>
              <a:rPr lang="en-US" sz="4000" dirty="0">
                <a:solidFill>
                  <a:srgbClr val="1F497D">
                    <a:lumMod val="20000"/>
                    <a:lumOff val="80000"/>
                  </a:srgbClr>
                </a:solidFill>
                <a:latin typeface="Rockwell Extra Bold" pitchFamily="18" charset="0"/>
                <a:cs typeface="Arial" pitchFamily="34" charset="0"/>
              </a:rPr>
              <a:t>Restriction </a:t>
            </a:r>
            <a:r>
              <a:rPr lang="en-US" sz="4000" dirty="0" err="1">
                <a:solidFill>
                  <a:srgbClr val="1F497D">
                    <a:lumMod val="20000"/>
                    <a:lumOff val="80000"/>
                  </a:srgbClr>
                </a:solidFill>
                <a:latin typeface="Rockwell Extra Bold" pitchFamily="18" charset="0"/>
                <a:cs typeface="Arial" pitchFamily="34" charset="0"/>
              </a:rPr>
              <a:t>Endonucleases</a:t>
            </a:r>
            <a:endParaRPr lang="en-US" sz="4000" dirty="0">
              <a:solidFill>
                <a:srgbClr val="1F497D">
                  <a:lumMod val="20000"/>
                  <a:lumOff val="80000"/>
                </a:srgbClr>
              </a:solidFill>
              <a:latin typeface="Rockwell Extra Bold" pitchFamily="18" charset="0"/>
              <a:cs typeface="Arial" pitchFamily="34" charset="0"/>
            </a:endParaRPr>
          </a:p>
        </p:txBody>
      </p:sp>
      <p:sp>
        <p:nvSpPr>
          <p:cNvPr id="5" name="Rectangle 4"/>
          <p:cNvSpPr/>
          <p:nvPr/>
        </p:nvSpPr>
        <p:spPr>
          <a:xfrm>
            <a:off x="609600" y="6248400"/>
            <a:ext cx="8077200" cy="461665"/>
          </a:xfrm>
          <a:prstGeom prst="rect">
            <a:avLst/>
          </a:prstGeom>
        </p:spPr>
        <p:txBody>
          <a:bodyPr wrap="square">
            <a:spAutoFit/>
          </a:bodyPr>
          <a:lstStyle/>
          <a:p>
            <a:r>
              <a:rPr lang="en-US" sz="1200" dirty="0">
                <a:solidFill>
                  <a:schemeClr val="tx2">
                    <a:lumMod val="20000"/>
                    <a:lumOff val="80000"/>
                  </a:schemeClr>
                </a:solidFill>
              </a:rPr>
              <a:t>A nomenclature for restriction enzymes, DNA </a:t>
            </a:r>
            <a:r>
              <a:rPr lang="en-US" sz="1200" dirty="0" err="1">
                <a:solidFill>
                  <a:schemeClr val="tx2">
                    <a:lumMod val="20000"/>
                    <a:lumOff val="80000"/>
                  </a:schemeClr>
                </a:solidFill>
              </a:rPr>
              <a:t>methyltransferases</a:t>
            </a:r>
            <a:r>
              <a:rPr lang="en-US" sz="1200" dirty="0">
                <a:solidFill>
                  <a:schemeClr val="tx2">
                    <a:lumMod val="20000"/>
                    <a:lumOff val="80000"/>
                  </a:schemeClr>
                </a:solidFill>
              </a:rPr>
              <a:t>, homing </a:t>
            </a:r>
            <a:r>
              <a:rPr lang="en-US" sz="1200" dirty="0" err="1">
                <a:solidFill>
                  <a:schemeClr val="tx2">
                    <a:lumMod val="20000"/>
                    <a:lumOff val="80000"/>
                  </a:schemeClr>
                </a:solidFill>
              </a:rPr>
              <a:t>endonucleases</a:t>
            </a:r>
            <a:r>
              <a:rPr lang="en-US" sz="1200" dirty="0">
                <a:solidFill>
                  <a:schemeClr val="tx2">
                    <a:lumMod val="20000"/>
                    <a:lumOff val="80000"/>
                  </a:schemeClr>
                </a:solidFill>
              </a:rPr>
              <a:t> and their genes</a:t>
            </a:r>
          </a:p>
          <a:p>
            <a:r>
              <a:rPr lang="en-US" sz="1200" dirty="0">
                <a:solidFill>
                  <a:schemeClr val="tx2">
                    <a:lumMod val="20000"/>
                    <a:lumOff val="80000"/>
                  </a:schemeClr>
                </a:solidFill>
              </a:rPr>
              <a:t>PMID: 12654995</a:t>
            </a:r>
          </a:p>
        </p:txBody>
      </p:sp>
      <p:graphicFrame>
        <p:nvGraphicFramePr>
          <p:cNvPr id="6" name="Diagram 5"/>
          <p:cNvGraphicFramePr/>
          <p:nvPr/>
        </p:nvGraphicFramePr>
        <p:xfrm>
          <a:off x="1524000" y="914400"/>
          <a:ext cx="6553200" cy="5181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Type II Restriction </a:t>
            </a:r>
            <a:r>
              <a:rPr lang="en-US" sz="3200" dirty="0" err="1">
                <a:solidFill>
                  <a:srgbClr val="1F497D">
                    <a:lumMod val="20000"/>
                    <a:lumOff val="80000"/>
                  </a:srgbClr>
                </a:solidFill>
                <a:latin typeface="Rockwell Extra Bold" pitchFamily="18" charset="0"/>
                <a:cs typeface="Arial" pitchFamily="34" charset="0"/>
              </a:rPr>
              <a:t>Endonucleases</a:t>
            </a:r>
            <a:endParaRPr lang="en-US" sz="3200" dirty="0">
              <a:solidFill>
                <a:srgbClr val="1F497D">
                  <a:lumMod val="20000"/>
                  <a:lumOff val="80000"/>
                </a:srgbClr>
              </a:solidFill>
              <a:latin typeface="Rockwell Extra Bold" pitchFamily="18" charset="0"/>
              <a:cs typeface="Arial" pitchFamily="34" charset="0"/>
            </a:endParaRPr>
          </a:p>
        </p:txBody>
      </p:sp>
      <p:graphicFrame>
        <p:nvGraphicFramePr>
          <p:cNvPr id="5" name="Diagram 4"/>
          <p:cNvGraphicFramePr/>
          <p:nvPr>
            <p:extLst>
              <p:ext uri="{D42A27DB-BD31-4B8C-83A1-F6EECF244321}">
                <p14:modId xmlns:p14="http://schemas.microsoft.com/office/powerpoint/2010/main" val="1708374323"/>
              </p:ext>
            </p:extLst>
          </p:nvPr>
        </p:nvGraphicFramePr>
        <p:xfrm>
          <a:off x="685800" y="1143000"/>
          <a:ext cx="2667000" cy="152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extBox 5"/>
          <p:cNvSpPr txBox="1"/>
          <p:nvPr/>
        </p:nvSpPr>
        <p:spPr>
          <a:xfrm>
            <a:off x="1905000" y="3505200"/>
            <a:ext cx="5486400" cy="830997"/>
          </a:xfrm>
          <a:prstGeom prst="rect">
            <a:avLst/>
          </a:prstGeom>
          <a:noFill/>
        </p:spPr>
        <p:txBody>
          <a:bodyPr wrap="square" rtlCol="0">
            <a:spAutoFit/>
          </a:bodyPr>
          <a:lstStyle/>
          <a:p>
            <a:r>
              <a:rPr lang="en-US" sz="2400" dirty="0">
                <a:solidFill>
                  <a:schemeClr val="tx2">
                    <a:lumMod val="20000"/>
                    <a:lumOff val="80000"/>
                  </a:schemeClr>
                </a:solidFill>
                <a:latin typeface="Courier New" pitchFamily="49" charset="0"/>
                <a:cs typeface="Courier New" pitchFamily="49" charset="0"/>
              </a:rPr>
              <a:t>5’-cttcg</a:t>
            </a:r>
            <a:r>
              <a:rPr lang="en-US" sz="2400" dirty="0">
                <a:solidFill>
                  <a:schemeClr val="accent2">
                    <a:lumMod val="40000"/>
                    <a:lumOff val="60000"/>
                  </a:schemeClr>
                </a:solidFill>
                <a:latin typeface="Courier New" pitchFamily="49" charset="0"/>
                <a:cs typeface="Courier New" pitchFamily="49" charset="0"/>
              </a:rPr>
              <a:t>GGATCC</a:t>
            </a:r>
            <a:r>
              <a:rPr lang="en-US" sz="2400" dirty="0">
                <a:solidFill>
                  <a:schemeClr val="tx2">
                    <a:lumMod val="20000"/>
                    <a:lumOff val="80000"/>
                  </a:schemeClr>
                </a:solidFill>
                <a:latin typeface="Courier New" pitchFamily="49" charset="0"/>
                <a:cs typeface="Courier New" pitchFamily="49" charset="0"/>
              </a:rPr>
              <a:t>gctggcaga…-3’</a:t>
            </a:r>
          </a:p>
          <a:p>
            <a:r>
              <a:rPr lang="en-US" sz="2400" dirty="0">
                <a:solidFill>
                  <a:schemeClr val="tx2">
                    <a:lumMod val="20000"/>
                    <a:lumOff val="80000"/>
                  </a:schemeClr>
                </a:solidFill>
                <a:latin typeface="Courier New" pitchFamily="49" charset="0"/>
                <a:cs typeface="Courier New" pitchFamily="49" charset="0"/>
              </a:rPr>
              <a:t>3’-gaagc</a:t>
            </a:r>
            <a:r>
              <a:rPr lang="en-US" sz="2400" dirty="0">
                <a:solidFill>
                  <a:schemeClr val="accent2">
                    <a:lumMod val="40000"/>
                    <a:lumOff val="60000"/>
                  </a:schemeClr>
                </a:solidFill>
                <a:latin typeface="Courier New" pitchFamily="49" charset="0"/>
                <a:cs typeface="Courier New" pitchFamily="49" charset="0"/>
              </a:rPr>
              <a:t>CCTAGG</a:t>
            </a:r>
            <a:r>
              <a:rPr lang="en-US" sz="2400" dirty="0">
                <a:solidFill>
                  <a:schemeClr val="tx2">
                    <a:lumMod val="20000"/>
                    <a:lumOff val="80000"/>
                  </a:schemeClr>
                </a:solidFill>
                <a:latin typeface="Courier New" pitchFamily="49" charset="0"/>
                <a:cs typeface="Courier New" pitchFamily="49" charset="0"/>
              </a:rPr>
              <a:t>cgaccgtct…-5’</a:t>
            </a:r>
          </a:p>
        </p:txBody>
      </p:sp>
      <p:sp>
        <p:nvSpPr>
          <p:cNvPr id="7" name="TextBox 6"/>
          <p:cNvSpPr txBox="1"/>
          <p:nvPr/>
        </p:nvSpPr>
        <p:spPr>
          <a:xfrm>
            <a:off x="1295400" y="4807803"/>
            <a:ext cx="2971800" cy="830997"/>
          </a:xfrm>
          <a:prstGeom prst="rect">
            <a:avLst/>
          </a:prstGeom>
          <a:noFill/>
        </p:spPr>
        <p:txBody>
          <a:bodyPr wrap="square" rtlCol="0">
            <a:spAutoFit/>
          </a:bodyPr>
          <a:lstStyle/>
          <a:p>
            <a:r>
              <a:rPr lang="en-US" sz="2400" dirty="0">
                <a:solidFill>
                  <a:schemeClr val="tx2">
                    <a:lumMod val="20000"/>
                    <a:lumOff val="80000"/>
                  </a:schemeClr>
                </a:solidFill>
                <a:latin typeface="Courier New" pitchFamily="49" charset="0"/>
                <a:cs typeface="Courier New" pitchFamily="49" charset="0"/>
              </a:rPr>
              <a:t>5’-cttcg</a:t>
            </a:r>
            <a:r>
              <a:rPr lang="en-US" sz="2400" dirty="0">
                <a:solidFill>
                  <a:schemeClr val="accent2">
                    <a:lumMod val="40000"/>
                    <a:lumOff val="60000"/>
                  </a:schemeClr>
                </a:solidFill>
                <a:latin typeface="Courier New" pitchFamily="49" charset="0"/>
                <a:cs typeface="Courier New" pitchFamily="49" charset="0"/>
              </a:rPr>
              <a:t>G</a:t>
            </a:r>
            <a:endParaRPr lang="en-US" sz="2400" dirty="0">
              <a:solidFill>
                <a:schemeClr val="tx2">
                  <a:lumMod val="20000"/>
                  <a:lumOff val="80000"/>
                </a:schemeClr>
              </a:solidFill>
              <a:latin typeface="Courier New" pitchFamily="49" charset="0"/>
              <a:cs typeface="Courier New" pitchFamily="49" charset="0"/>
            </a:endParaRPr>
          </a:p>
          <a:p>
            <a:r>
              <a:rPr lang="en-US" sz="2400" dirty="0">
                <a:solidFill>
                  <a:schemeClr val="tx2">
                    <a:lumMod val="20000"/>
                    <a:lumOff val="80000"/>
                  </a:schemeClr>
                </a:solidFill>
                <a:latin typeface="Courier New" pitchFamily="49" charset="0"/>
                <a:cs typeface="Courier New" pitchFamily="49" charset="0"/>
              </a:rPr>
              <a:t>3’-gaagc</a:t>
            </a:r>
            <a:r>
              <a:rPr lang="en-US" sz="2400" dirty="0">
                <a:solidFill>
                  <a:schemeClr val="accent2">
                    <a:lumMod val="40000"/>
                    <a:lumOff val="60000"/>
                  </a:schemeClr>
                </a:solidFill>
                <a:latin typeface="Courier New" pitchFamily="49" charset="0"/>
                <a:cs typeface="Courier New" pitchFamily="49" charset="0"/>
              </a:rPr>
              <a:t>CCTAG</a:t>
            </a:r>
            <a:endParaRPr lang="en-US" sz="2400" dirty="0">
              <a:solidFill>
                <a:schemeClr val="tx2">
                  <a:lumMod val="20000"/>
                  <a:lumOff val="80000"/>
                </a:schemeClr>
              </a:solidFill>
              <a:latin typeface="Courier New" pitchFamily="49" charset="0"/>
              <a:cs typeface="Courier New" pitchFamily="49" charset="0"/>
            </a:endParaRPr>
          </a:p>
        </p:txBody>
      </p:sp>
      <p:sp>
        <p:nvSpPr>
          <p:cNvPr id="8" name="Rectangle 7"/>
          <p:cNvSpPr/>
          <p:nvPr/>
        </p:nvSpPr>
        <p:spPr>
          <a:xfrm>
            <a:off x="4918390" y="5265003"/>
            <a:ext cx="3502882" cy="830997"/>
          </a:xfrm>
          <a:prstGeom prst="rect">
            <a:avLst/>
          </a:prstGeom>
        </p:spPr>
        <p:txBody>
          <a:bodyPr wrap="none">
            <a:spAutoFit/>
          </a:bodyPr>
          <a:lstStyle/>
          <a:p>
            <a:r>
              <a:rPr lang="en-US" sz="2400" dirty="0" err="1">
                <a:solidFill>
                  <a:schemeClr val="accent2">
                    <a:lumMod val="40000"/>
                    <a:lumOff val="60000"/>
                  </a:schemeClr>
                </a:solidFill>
                <a:latin typeface="Courier New" pitchFamily="49" charset="0"/>
                <a:cs typeface="Courier New" pitchFamily="49" charset="0"/>
              </a:rPr>
              <a:t>GATCC</a:t>
            </a:r>
            <a:r>
              <a:rPr lang="en-US" sz="2400" dirty="0" err="1">
                <a:solidFill>
                  <a:schemeClr val="tx2">
                    <a:lumMod val="20000"/>
                    <a:lumOff val="80000"/>
                  </a:schemeClr>
                </a:solidFill>
                <a:latin typeface="Courier New" pitchFamily="49" charset="0"/>
                <a:cs typeface="Courier New" pitchFamily="49" charset="0"/>
              </a:rPr>
              <a:t>gctggcaga</a:t>
            </a:r>
            <a:r>
              <a:rPr lang="en-US" sz="2400" dirty="0">
                <a:solidFill>
                  <a:srgbClr val="1F497D">
                    <a:lumMod val="20000"/>
                    <a:lumOff val="80000"/>
                  </a:srgbClr>
                </a:solidFill>
                <a:latin typeface="Courier New" pitchFamily="49" charset="0"/>
                <a:cs typeface="Courier New" pitchFamily="49" charset="0"/>
              </a:rPr>
              <a:t>…-3’</a:t>
            </a:r>
          </a:p>
          <a:p>
            <a:r>
              <a:rPr lang="en-US" sz="2400" dirty="0">
                <a:solidFill>
                  <a:schemeClr val="accent2">
                    <a:lumMod val="40000"/>
                    <a:lumOff val="60000"/>
                  </a:schemeClr>
                </a:solidFill>
                <a:latin typeface="Courier New" pitchFamily="49" charset="0"/>
                <a:cs typeface="Courier New" pitchFamily="49" charset="0"/>
              </a:rPr>
              <a:t>    </a:t>
            </a:r>
            <a:r>
              <a:rPr lang="en-US" sz="2400" dirty="0" err="1">
                <a:solidFill>
                  <a:schemeClr val="accent2">
                    <a:lumMod val="40000"/>
                    <a:lumOff val="60000"/>
                  </a:schemeClr>
                </a:solidFill>
                <a:latin typeface="Courier New" pitchFamily="49" charset="0"/>
                <a:cs typeface="Courier New" pitchFamily="49" charset="0"/>
              </a:rPr>
              <a:t>G</a:t>
            </a:r>
            <a:r>
              <a:rPr lang="en-US" sz="2400" dirty="0" err="1">
                <a:solidFill>
                  <a:schemeClr val="tx2">
                    <a:lumMod val="20000"/>
                    <a:lumOff val="80000"/>
                  </a:schemeClr>
                </a:solidFill>
                <a:latin typeface="Courier New" pitchFamily="49" charset="0"/>
                <a:cs typeface="Courier New" pitchFamily="49" charset="0"/>
              </a:rPr>
              <a:t>cgaccgtct</a:t>
            </a:r>
            <a:r>
              <a:rPr lang="en-US" sz="2400" dirty="0">
                <a:solidFill>
                  <a:srgbClr val="1F497D">
                    <a:lumMod val="20000"/>
                    <a:lumOff val="80000"/>
                  </a:srgbClr>
                </a:solidFill>
                <a:latin typeface="Courier New" pitchFamily="49" charset="0"/>
                <a:cs typeface="Courier New" pitchFamily="49" charset="0"/>
              </a:rPr>
              <a:t>…-5’</a:t>
            </a:r>
            <a:endParaRPr lang="en-US" dirty="0"/>
          </a:p>
        </p:txBody>
      </p:sp>
      <p:sp>
        <p:nvSpPr>
          <p:cNvPr id="9" name="Rectangle 8"/>
          <p:cNvSpPr/>
          <p:nvPr/>
        </p:nvSpPr>
        <p:spPr>
          <a:xfrm>
            <a:off x="4232590" y="5188803"/>
            <a:ext cx="492443" cy="707886"/>
          </a:xfrm>
          <a:prstGeom prst="rect">
            <a:avLst/>
          </a:prstGeom>
        </p:spPr>
        <p:txBody>
          <a:bodyPr wrap="none">
            <a:spAutoFit/>
          </a:bodyPr>
          <a:lstStyle/>
          <a:p>
            <a:r>
              <a:rPr lang="en-US" sz="4000" b="1" dirty="0">
                <a:solidFill>
                  <a:srgbClr val="1F497D">
                    <a:lumMod val="20000"/>
                    <a:lumOff val="80000"/>
                  </a:srgbClr>
                </a:solidFill>
                <a:latin typeface="Courier New" pitchFamily="49" charset="0"/>
                <a:cs typeface="Courier New" pitchFamily="49" charset="0"/>
              </a:rPr>
              <a:t>+</a:t>
            </a:r>
            <a:endParaRPr lang="en-US" sz="4000" b="1" dirty="0"/>
          </a:p>
        </p:txBody>
      </p:sp>
      <p:cxnSp>
        <p:nvCxnSpPr>
          <p:cNvPr id="10" name="Straight Arrow Connector 9"/>
          <p:cNvCxnSpPr/>
          <p:nvPr/>
        </p:nvCxnSpPr>
        <p:spPr>
          <a:xfrm rot="5400000">
            <a:off x="4232590" y="4884003"/>
            <a:ext cx="457200" cy="1588"/>
          </a:xfrm>
          <a:prstGeom prst="straightConnector1">
            <a:avLst/>
          </a:prstGeom>
          <a:ln w="38100">
            <a:solidFill>
              <a:schemeClr val="tx2">
                <a:lumMod val="20000"/>
                <a:lumOff val="80000"/>
              </a:schemeClr>
            </a:solidFill>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Type II Restriction </a:t>
            </a:r>
            <a:r>
              <a:rPr lang="en-US" sz="3200" dirty="0" err="1">
                <a:solidFill>
                  <a:srgbClr val="1F497D">
                    <a:lumMod val="20000"/>
                    <a:lumOff val="80000"/>
                  </a:srgbClr>
                </a:solidFill>
                <a:latin typeface="Rockwell Extra Bold" pitchFamily="18" charset="0"/>
                <a:cs typeface="Arial" pitchFamily="34" charset="0"/>
              </a:rPr>
              <a:t>Endonucleases</a:t>
            </a:r>
            <a:endParaRPr lang="en-US" sz="3200" dirty="0">
              <a:solidFill>
                <a:srgbClr val="1F497D">
                  <a:lumMod val="20000"/>
                  <a:lumOff val="80000"/>
                </a:srgbClr>
              </a:solidFill>
              <a:latin typeface="Rockwell Extra Bold" pitchFamily="18" charset="0"/>
              <a:cs typeface="Arial" pitchFamily="34" charset="0"/>
            </a:endParaRPr>
          </a:p>
        </p:txBody>
      </p:sp>
      <p:graphicFrame>
        <p:nvGraphicFramePr>
          <p:cNvPr id="5" name="Diagram 4"/>
          <p:cNvGraphicFramePr/>
          <p:nvPr/>
        </p:nvGraphicFramePr>
        <p:xfrm>
          <a:off x="685800" y="1143000"/>
          <a:ext cx="2667000" cy="5181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1" name="Diagram 10"/>
          <p:cNvGraphicFramePr/>
          <p:nvPr/>
        </p:nvGraphicFramePr>
        <p:xfrm>
          <a:off x="4038600" y="1524000"/>
          <a:ext cx="4419600" cy="426720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12" name="Rectangle 11"/>
          <p:cNvSpPr/>
          <p:nvPr/>
        </p:nvSpPr>
        <p:spPr>
          <a:xfrm>
            <a:off x="3733800" y="5715000"/>
            <a:ext cx="5334000" cy="830997"/>
          </a:xfrm>
          <a:prstGeom prst="rect">
            <a:avLst/>
          </a:prstGeom>
        </p:spPr>
        <p:txBody>
          <a:bodyPr wrap="square">
            <a:spAutoFit/>
          </a:bodyPr>
          <a:lstStyle/>
          <a:p>
            <a:endParaRPr lang="en-US" sz="1200" dirty="0">
              <a:solidFill>
                <a:schemeClr val="tx2">
                  <a:lumMod val="20000"/>
                  <a:lumOff val="80000"/>
                </a:schemeClr>
              </a:solidFill>
            </a:endParaRPr>
          </a:p>
          <a:p>
            <a:r>
              <a:rPr lang="en-US" sz="1200" dirty="0">
                <a:solidFill>
                  <a:schemeClr val="tx2">
                    <a:lumMod val="20000"/>
                    <a:lumOff val="80000"/>
                  </a:schemeClr>
                </a:solidFill>
              </a:rPr>
              <a:t>List of all available enzymes and their specificities</a:t>
            </a:r>
          </a:p>
          <a:p>
            <a:r>
              <a:rPr lang="en-US" sz="1200" dirty="0">
                <a:solidFill>
                  <a:schemeClr val="tx2">
                    <a:lumMod val="20000"/>
                    <a:lumOff val="80000"/>
                  </a:schemeClr>
                </a:solidFill>
              </a:rPr>
              <a:t>http://www.neb.com/nebecomm/tech_reference/restriction_enzymes/isoschizomers.asp? Or at http://rebase.neb.com/</a:t>
            </a:r>
          </a:p>
        </p:txBody>
      </p:sp>
    </p:spTree>
    <p:custDataLst>
      <p:tags r:id="rId1"/>
    </p:custDataLst>
    <p:extLst>
      <p:ext uri="{BB962C8B-B14F-4D97-AF65-F5344CB8AC3E}">
        <p14:creationId xmlns:p14="http://schemas.microsoft.com/office/powerpoint/2010/main" val="360131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Type II</a:t>
            </a:r>
            <a:r>
              <a:rPr lang="en-US" sz="3200" dirty="0">
                <a:solidFill>
                  <a:schemeClr val="accent2">
                    <a:lumMod val="60000"/>
                    <a:lumOff val="40000"/>
                  </a:schemeClr>
                </a:solidFill>
                <a:latin typeface="Rockwell Extra Bold" pitchFamily="18" charset="0"/>
                <a:cs typeface="Arial" pitchFamily="34" charset="0"/>
              </a:rPr>
              <a:t>S</a:t>
            </a:r>
            <a:r>
              <a:rPr lang="en-US" sz="3200" dirty="0">
                <a:solidFill>
                  <a:srgbClr val="1F497D">
                    <a:lumMod val="20000"/>
                    <a:lumOff val="80000"/>
                  </a:srgbClr>
                </a:solidFill>
                <a:latin typeface="Rockwell Extra Bold" pitchFamily="18" charset="0"/>
                <a:cs typeface="Arial" pitchFamily="34" charset="0"/>
              </a:rPr>
              <a:t> Restriction </a:t>
            </a:r>
            <a:r>
              <a:rPr lang="en-US" sz="3200" dirty="0" err="1">
                <a:solidFill>
                  <a:srgbClr val="1F497D">
                    <a:lumMod val="20000"/>
                    <a:lumOff val="80000"/>
                  </a:srgbClr>
                </a:solidFill>
                <a:latin typeface="Rockwell Extra Bold" pitchFamily="18" charset="0"/>
                <a:cs typeface="Arial" pitchFamily="34" charset="0"/>
              </a:rPr>
              <a:t>Endonucleases</a:t>
            </a:r>
            <a:endParaRPr lang="en-US" sz="3200" dirty="0">
              <a:solidFill>
                <a:srgbClr val="1F497D">
                  <a:lumMod val="20000"/>
                  <a:lumOff val="80000"/>
                </a:srgbClr>
              </a:solidFill>
              <a:latin typeface="Rockwell Extra Bold" pitchFamily="18" charset="0"/>
              <a:cs typeface="Arial" pitchFamily="34" charset="0"/>
            </a:endParaRPr>
          </a:p>
        </p:txBody>
      </p:sp>
      <p:sp>
        <p:nvSpPr>
          <p:cNvPr id="6" name="Rectangle 5"/>
          <p:cNvSpPr/>
          <p:nvPr/>
        </p:nvSpPr>
        <p:spPr>
          <a:xfrm>
            <a:off x="533400" y="1295400"/>
            <a:ext cx="3411511" cy="461665"/>
          </a:xfrm>
          <a:prstGeom prst="rect">
            <a:avLst/>
          </a:prstGeom>
        </p:spPr>
        <p:txBody>
          <a:bodyPr wrap="none">
            <a:spAutoFit/>
          </a:bodyPr>
          <a:lstStyle/>
          <a:p>
            <a:r>
              <a:rPr lang="en-US" sz="2400" dirty="0" err="1">
                <a:solidFill>
                  <a:schemeClr val="tx2">
                    <a:lumMod val="20000"/>
                    <a:lumOff val="80000"/>
                  </a:schemeClr>
                </a:solidFill>
              </a:rPr>
              <a:t>BsaI</a:t>
            </a:r>
            <a:r>
              <a:rPr lang="en-US" sz="2400" dirty="0">
                <a:solidFill>
                  <a:schemeClr val="tx2">
                    <a:lumMod val="20000"/>
                    <a:lumOff val="80000"/>
                  </a:schemeClr>
                </a:solidFill>
              </a:rPr>
              <a:t>       GGTCTC (1/5)</a:t>
            </a:r>
          </a:p>
        </p:txBody>
      </p:sp>
      <p:sp>
        <p:nvSpPr>
          <p:cNvPr id="7" name="TextBox 6"/>
          <p:cNvSpPr txBox="1"/>
          <p:nvPr/>
        </p:nvSpPr>
        <p:spPr>
          <a:xfrm>
            <a:off x="1295400" y="1981200"/>
            <a:ext cx="6934200" cy="830997"/>
          </a:xfrm>
          <a:prstGeom prst="rect">
            <a:avLst/>
          </a:prstGeom>
          <a:noFill/>
        </p:spPr>
        <p:txBody>
          <a:bodyPr wrap="square" rtlCol="0">
            <a:spAutoFit/>
          </a:bodyPr>
          <a:lstStyle/>
          <a:p>
            <a:r>
              <a:rPr lang="en-US" sz="2400" dirty="0">
                <a:solidFill>
                  <a:schemeClr val="tx2">
                    <a:lumMod val="20000"/>
                    <a:lumOff val="80000"/>
                  </a:schemeClr>
                </a:solidFill>
                <a:latin typeface="Courier New" pitchFamily="49" charset="0"/>
                <a:cs typeface="Courier New" pitchFamily="49" charset="0"/>
              </a:rPr>
              <a:t>5’-cttcg</a:t>
            </a:r>
            <a:r>
              <a:rPr lang="en-US" sz="2400" dirty="0">
                <a:solidFill>
                  <a:schemeClr val="accent2">
                    <a:lumMod val="40000"/>
                    <a:lumOff val="60000"/>
                  </a:schemeClr>
                </a:solidFill>
                <a:latin typeface="Courier New" pitchFamily="49" charset="0"/>
                <a:cs typeface="Courier New" pitchFamily="49" charset="0"/>
              </a:rPr>
              <a:t>GGTCTC</a:t>
            </a:r>
            <a:r>
              <a:rPr lang="en-US" sz="2400" dirty="0">
                <a:solidFill>
                  <a:schemeClr val="tx2">
                    <a:lumMod val="20000"/>
                    <a:lumOff val="80000"/>
                  </a:schemeClr>
                </a:solidFill>
                <a:latin typeface="Courier New" pitchFamily="49" charset="0"/>
                <a:cs typeface="Courier New" pitchFamily="49" charset="0"/>
              </a:rPr>
              <a:t>g</a:t>
            </a:r>
            <a:r>
              <a:rPr lang="en-US" sz="2400" dirty="0">
                <a:solidFill>
                  <a:schemeClr val="accent6">
                    <a:lumMod val="60000"/>
                    <a:lumOff val="40000"/>
                  </a:schemeClr>
                </a:solidFill>
                <a:latin typeface="Courier New" pitchFamily="49" charset="0"/>
                <a:cs typeface="Courier New" pitchFamily="49" charset="0"/>
              </a:rPr>
              <a:t>gatc</a:t>
            </a:r>
            <a:r>
              <a:rPr lang="en-US" sz="2400" dirty="0">
                <a:solidFill>
                  <a:schemeClr val="tx2">
                    <a:lumMod val="20000"/>
                    <a:lumOff val="80000"/>
                  </a:schemeClr>
                </a:solidFill>
                <a:latin typeface="Courier New" pitchFamily="49" charset="0"/>
                <a:cs typeface="Courier New" pitchFamily="49" charset="0"/>
              </a:rPr>
              <a:t>ctggccgaaaaga…-3’</a:t>
            </a:r>
          </a:p>
          <a:p>
            <a:r>
              <a:rPr lang="en-US" sz="2400" dirty="0">
                <a:solidFill>
                  <a:schemeClr val="tx2">
                    <a:lumMod val="20000"/>
                    <a:lumOff val="80000"/>
                  </a:schemeClr>
                </a:solidFill>
                <a:latin typeface="Courier New" pitchFamily="49" charset="0"/>
                <a:cs typeface="Courier New" pitchFamily="49" charset="0"/>
              </a:rPr>
              <a:t>3’-gaagc</a:t>
            </a:r>
            <a:r>
              <a:rPr lang="en-US" sz="2400" dirty="0">
                <a:solidFill>
                  <a:schemeClr val="accent2">
                    <a:lumMod val="40000"/>
                    <a:lumOff val="60000"/>
                  </a:schemeClr>
                </a:solidFill>
                <a:latin typeface="Courier New" pitchFamily="49" charset="0"/>
                <a:cs typeface="Courier New" pitchFamily="49" charset="0"/>
              </a:rPr>
              <a:t>CCAGAG</a:t>
            </a:r>
            <a:r>
              <a:rPr lang="en-US" sz="2400" dirty="0">
                <a:solidFill>
                  <a:schemeClr val="tx2">
                    <a:lumMod val="20000"/>
                    <a:lumOff val="80000"/>
                  </a:schemeClr>
                </a:solidFill>
                <a:latin typeface="Courier New" pitchFamily="49" charset="0"/>
                <a:cs typeface="Courier New" pitchFamily="49" charset="0"/>
              </a:rPr>
              <a:t>c</a:t>
            </a:r>
            <a:r>
              <a:rPr lang="en-US" sz="2400" dirty="0">
                <a:solidFill>
                  <a:schemeClr val="accent6">
                    <a:lumMod val="60000"/>
                    <a:lumOff val="40000"/>
                  </a:schemeClr>
                </a:solidFill>
                <a:latin typeface="Courier New" pitchFamily="49" charset="0"/>
                <a:cs typeface="Courier New" pitchFamily="49" charset="0"/>
              </a:rPr>
              <a:t>ctag</a:t>
            </a:r>
            <a:r>
              <a:rPr lang="en-US" sz="2400" dirty="0">
                <a:solidFill>
                  <a:schemeClr val="tx2">
                    <a:lumMod val="20000"/>
                    <a:lumOff val="80000"/>
                  </a:schemeClr>
                </a:solidFill>
                <a:latin typeface="Courier New" pitchFamily="49" charset="0"/>
                <a:cs typeface="Courier New" pitchFamily="49" charset="0"/>
              </a:rPr>
              <a:t>gaccggcttttct…-5’</a:t>
            </a:r>
          </a:p>
        </p:txBody>
      </p:sp>
      <p:sp>
        <p:nvSpPr>
          <p:cNvPr id="9" name="TextBox 8"/>
          <p:cNvSpPr txBox="1"/>
          <p:nvPr/>
        </p:nvSpPr>
        <p:spPr>
          <a:xfrm>
            <a:off x="152400" y="3048000"/>
            <a:ext cx="4648200" cy="830997"/>
          </a:xfrm>
          <a:prstGeom prst="rect">
            <a:avLst/>
          </a:prstGeom>
          <a:noFill/>
        </p:spPr>
        <p:txBody>
          <a:bodyPr wrap="square" rtlCol="0">
            <a:spAutoFit/>
          </a:bodyPr>
          <a:lstStyle/>
          <a:p>
            <a:r>
              <a:rPr lang="en-US" sz="2400" dirty="0">
                <a:solidFill>
                  <a:schemeClr val="tx2">
                    <a:lumMod val="20000"/>
                    <a:lumOff val="80000"/>
                  </a:schemeClr>
                </a:solidFill>
                <a:latin typeface="Courier New" pitchFamily="49" charset="0"/>
                <a:cs typeface="Courier New" pitchFamily="49" charset="0"/>
              </a:rPr>
              <a:t>5’-cttcg</a:t>
            </a:r>
            <a:r>
              <a:rPr lang="en-US" sz="2400" dirty="0">
                <a:solidFill>
                  <a:schemeClr val="accent2">
                    <a:lumMod val="40000"/>
                    <a:lumOff val="60000"/>
                  </a:schemeClr>
                </a:solidFill>
                <a:latin typeface="Courier New" pitchFamily="49" charset="0"/>
                <a:cs typeface="Courier New" pitchFamily="49" charset="0"/>
              </a:rPr>
              <a:t>GGTCTC</a:t>
            </a:r>
            <a:r>
              <a:rPr lang="en-US" sz="2400" dirty="0">
                <a:solidFill>
                  <a:schemeClr val="tx2">
                    <a:lumMod val="20000"/>
                    <a:lumOff val="80000"/>
                  </a:schemeClr>
                </a:solidFill>
                <a:latin typeface="Courier New" pitchFamily="49" charset="0"/>
                <a:cs typeface="Courier New" pitchFamily="49" charset="0"/>
              </a:rPr>
              <a:t>g</a:t>
            </a:r>
          </a:p>
          <a:p>
            <a:r>
              <a:rPr lang="en-US" sz="2400" dirty="0">
                <a:solidFill>
                  <a:schemeClr val="tx2">
                    <a:lumMod val="20000"/>
                    <a:lumOff val="80000"/>
                  </a:schemeClr>
                </a:solidFill>
                <a:latin typeface="Courier New" pitchFamily="49" charset="0"/>
                <a:cs typeface="Courier New" pitchFamily="49" charset="0"/>
              </a:rPr>
              <a:t>3’-gaagc</a:t>
            </a:r>
            <a:r>
              <a:rPr lang="en-US" sz="2400" dirty="0">
                <a:solidFill>
                  <a:schemeClr val="accent2">
                    <a:lumMod val="40000"/>
                    <a:lumOff val="60000"/>
                  </a:schemeClr>
                </a:solidFill>
                <a:latin typeface="Courier New" pitchFamily="49" charset="0"/>
                <a:cs typeface="Courier New" pitchFamily="49" charset="0"/>
              </a:rPr>
              <a:t>CCAGAG</a:t>
            </a:r>
            <a:r>
              <a:rPr lang="en-US" sz="2400" dirty="0">
                <a:solidFill>
                  <a:schemeClr val="tx2">
                    <a:lumMod val="20000"/>
                    <a:lumOff val="80000"/>
                  </a:schemeClr>
                </a:solidFill>
                <a:latin typeface="Courier New" pitchFamily="49" charset="0"/>
                <a:cs typeface="Courier New" pitchFamily="49" charset="0"/>
              </a:rPr>
              <a:t>c</a:t>
            </a:r>
            <a:r>
              <a:rPr lang="en-US" sz="2400" dirty="0">
                <a:solidFill>
                  <a:schemeClr val="accent6">
                    <a:lumMod val="60000"/>
                    <a:lumOff val="40000"/>
                  </a:schemeClr>
                </a:solidFill>
                <a:latin typeface="Courier New" pitchFamily="49" charset="0"/>
                <a:cs typeface="Courier New" pitchFamily="49" charset="0"/>
              </a:rPr>
              <a:t>ctag</a:t>
            </a:r>
            <a:endParaRPr lang="en-US" sz="2400" dirty="0">
              <a:solidFill>
                <a:schemeClr val="tx2">
                  <a:lumMod val="20000"/>
                  <a:lumOff val="80000"/>
                </a:schemeClr>
              </a:solidFill>
              <a:latin typeface="Courier New" pitchFamily="49" charset="0"/>
              <a:cs typeface="Courier New" pitchFamily="49" charset="0"/>
            </a:endParaRPr>
          </a:p>
        </p:txBody>
      </p:sp>
      <p:sp>
        <p:nvSpPr>
          <p:cNvPr id="10" name="Rectangle 9"/>
          <p:cNvSpPr/>
          <p:nvPr/>
        </p:nvSpPr>
        <p:spPr>
          <a:xfrm>
            <a:off x="5029200" y="3505200"/>
            <a:ext cx="4055919" cy="830997"/>
          </a:xfrm>
          <a:prstGeom prst="rect">
            <a:avLst/>
          </a:prstGeom>
        </p:spPr>
        <p:txBody>
          <a:bodyPr wrap="none">
            <a:spAutoFit/>
          </a:bodyPr>
          <a:lstStyle/>
          <a:p>
            <a:r>
              <a:rPr lang="en-US" sz="2400" dirty="0" err="1">
                <a:solidFill>
                  <a:srgbClr val="F79646">
                    <a:lumMod val="60000"/>
                    <a:lumOff val="40000"/>
                  </a:srgbClr>
                </a:solidFill>
                <a:latin typeface="Courier New" pitchFamily="49" charset="0"/>
                <a:cs typeface="Courier New" pitchFamily="49" charset="0"/>
              </a:rPr>
              <a:t>gatc</a:t>
            </a:r>
            <a:r>
              <a:rPr lang="en-US" sz="2400" dirty="0" err="1">
                <a:solidFill>
                  <a:srgbClr val="1F497D">
                    <a:lumMod val="20000"/>
                    <a:lumOff val="80000"/>
                  </a:srgbClr>
                </a:solidFill>
                <a:latin typeface="Courier New" pitchFamily="49" charset="0"/>
                <a:cs typeface="Courier New" pitchFamily="49" charset="0"/>
              </a:rPr>
              <a:t>ctggccgaaaaga</a:t>
            </a:r>
            <a:r>
              <a:rPr lang="en-US" sz="2400" dirty="0">
                <a:solidFill>
                  <a:srgbClr val="1F497D">
                    <a:lumMod val="20000"/>
                    <a:lumOff val="80000"/>
                  </a:srgbClr>
                </a:solidFill>
                <a:latin typeface="Courier New" pitchFamily="49" charset="0"/>
                <a:cs typeface="Courier New" pitchFamily="49" charset="0"/>
              </a:rPr>
              <a:t>…-3’</a:t>
            </a:r>
          </a:p>
          <a:p>
            <a:r>
              <a:rPr lang="en-US" sz="2400" dirty="0">
                <a:solidFill>
                  <a:srgbClr val="1F497D">
                    <a:lumMod val="20000"/>
                    <a:lumOff val="80000"/>
                  </a:srgbClr>
                </a:solidFill>
                <a:latin typeface="Courier New" pitchFamily="49" charset="0"/>
                <a:cs typeface="Courier New" pitchFamily="49" charset="0"/>
              </a:rPr>
              <a:t>    </a:t>
            </a:r>
            <a:r>
              <a:rPr lang="en-US" sz="2400" dirty="0" err="1">
                <a:solidFill>
                  <a:srgbClr val="1F497D">
                    <a:lumMod val="20000"/>
                    <a:lumOff val="80000"/>
                  </a:srgbClr>
                </a:solidFill>
                <a:latin typeface="Courier New" pitchFamily="49" charset="0"/>
                <a:cs typeface="Courier New" pitchFamily="49" charset="0"/>
              </a:rPr>
              <a:t>gaccggcttttct</a:t>
            </a:r>
            <a:r>
              <a:rPr lang="en-US" sz="2400" dirty="0">
                <a:solidFill>
                  <a:srgbClr val="1F497D">
                    <a:lumMod val="20000"/>
                    <a:lumOff val="80000"/>
                  </a:srgbClr>
                </a:solidFill>
                <a:latin typeface="Courier New" pitchFamily="49" charset="0"/>
                <a:cs typeface="Courier New" pitchFamily="49" charset="0"/>
              </a:rPr>
              <a:t>…-5’</a:t>
            </a:r>
            <a:endParaRPr lang="en-US" dirty="0"/>
          </a:p>
        </p:txBody>
      </p:sp>
      <p:sp>
        <p:nvSpPr>
          <p:cNvPr id="12" name="Rectangle 11"/>
          <p:cNvSpPr/>
          <p:nvPr/>
        </p:nvSpPr>
        <p:spPr>
          <a:xfrm>
            <a:off x="4343400" y="3429000"/>
            <a:ext cx="492443" cy="707886"/>
          </a:xfrm>
          <a:prstGeom prst="rect">
            <a:avLst/>
          </a:prstGeom>
        </p:spPr>
        <p:txBody>
          <a:bodyPr wrap="none">
            <a:spAutoFit/>
          </a:bodyPr>
          <a:lstStyle/>
          <a:p>
            <a:r>
              <a:rPr lang="en-US" sz="4000" b="1" dirty="0">
                <a:solidFill>
                  <a:srgbClr val="1F497D">
                    <a:lumMod val="20000"/>
                    <a:lumOff val="80000"/>
                  </a:srgbClr>
                </a:solidFill>
                <a:latin typeface="Courier New" pitchFamily="49" charset="0"/>
                <a:cs typeface="Courier New" pitchFamily="49" charset="0"/>
              </a:rPr>
              <a:t>+</a:t>
            </a:r>
            <a:endParaRPr lang="en-US" sz="4000" b="1" dirty="0"/>
          </a:p>
        </p:txBody>
      </p:sp>
      <p:sp>
        <p:nvSpPr>
          <p:cNvPr id="13" name="Rectangle 12"/>
          <p:cNvSpPr/>
          <p:nvPr/>
        </p:nvSpPr>
        <p:spPr>
          <a:xfrm>
            <a:off x="1143000" y="4648200"/>
            <a:ext cx="7543800" cy="1569660"/>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Can be used to generate 4bp 5’ overhangs (compatible with </a:t>
            </a:r>
            <a:r>
              <a:rPr lang="en-US" sz="2400" dirty="0" err="1">
                <a:solidFill>
                  <a:srgbClr val="1F497D">
                    <a:lumMod val="20000"/>
                    <a:lumOff val="80000"/>
                  </a:srgbClr>
                </a:solidFill>
                <a:latin typeface="Calibri" pitchFamily="34" charset="0"/>
              </a:rPr>
              <a:t>BamHI</a:t>
            </a:r>
            <a:r>
              <a:rPr lang="en-US" sz="2400" dirty="0">
                <a:solidFill>
                  <a:srgbClr val="1F497D">
                    <a:lumMod val="20000"/>
                    <a:lumOff val="80000"/>
                  </a:srgbClr>
                </a:solidFill>
                <a:latin typeface="Calibri" pitchFamily="34" charset="0"/>
              </a:rPr>
              <a:t>, </a:t>
            </a:r>
            <a:r>
              <a:rPr lang="en-US" sz="2400" dirty="0" err="1">
                <a:solidFill>
                  <a:srgbClr val="1F497D">
                    <a:lumMod val="20000"/>
                    <a:lumOff val="80000"/>
                  </a:srgbClr>
                </a:solidFill>
                <a:latin typeface="Calibri" pitchFamily="34" charset="0"/>
              </a:rPr>
              <a:t>XbaI</a:t>
            </a:r>
            <a:r>
              <a:rPr lang="en-US" sz="2400" dirty="0">
                <a:solidFill>
                  <a:srgbClr val="1F497D">
                    <a:lumMod val="20000"/>
                    <a:lumOff val="80000"/>
                  </a:srgbClr>
                </a:solidFill>
                <a:latin typeface="Calibri" pitchFamily="34" charset="0"/>
              </a:rPr>
              <a:t>, </a:t>
            </a:r>
            <a:r>
              <a:rPr lang="en-US" sz="2400" dirty="0" err="1">
                <a:solidFill>
                  <a:srgbClr val="1F497D">
                    <a:lumMod val="20000"/>
                    <a:lumOff val="80000"/>
                  </a:srgbClr>
                </a:solidFill>
                <a:latin typeface="Calibri" pitchFamily="34" charset="0"/>
              </a:rPr>
              <a:t>HindIII</a:t>
            </a:r>
            <a:r>
              <a:rPr lang="en-US" sz="2400" dirty="0">
                <a:solidFill>
                  <a:srgbClr val="1F497D">
                    <a:lumMod val="20000"/>
                    <a:lumOff val="80000"/>
                  </a:srgbClr>
                </a:solidFill>
                <a:latin typeface="Calibri" pitchFamily="34" charset="0"/>
              </a:rPr>
              <a:t>, </a:t>
            </a:r>
            <a:r>
              <a:rPr lang="en-US" sz="2400" dirty="0" err="1">
                <a:solidFill>
                  <a:srgbClr val="1F497D">
                    <a:lumMod val="20000"/>
                    <a:lumOff val="80000"/>
                  </a:srgbClr>
                </a:solidFill>
                <a:latin typeface="Calibri" pitchFamily="34" charset="0"/>
              </a:rPr>
              <a:t>XhoI</a:t>
            </a:r>
            <a:r>
              <a:rPr lang="en-US" sz="2400" dirty="0">
                <a:solidFill>
                  <a:srgbClr val="1F497D">
                    <a:lumMod val="20000"/>
                    <a:lumOff val="80000"/>
                  </a:srgbClr>
                </a:solidFill>
                <a:latin typeface="Calibri" pitchFamily="34" charset="0"/>
              </a:rPr>
              <a:t>, etc.)</a:t>
            </a:r>
          </a:p>
          <a:p>
            <a:pPr marL="457200" indent="-457200">
              <a:buFont typeface="Wingdings" pitchFamily="2" charset="2"/>
              <a:buChar char="§"/>
            </a:pPr>
            <a:r>
              <a:rPr lang="en-US" sz="2400" dirty="0">
                <a:solidFill>
                  <a:srgbClr val="1F497D">
                    <a:lumMod val="20000"/>
                    <a:lumOff val="80000"/>
                  </a:srgbClr>
                </a:solidFill>
                <a:latin typeface="Calibri" pitchFamily="34" charset="0"/>
              </a:rPr>
              <a:t>Restriction site can be removed during cutting leading to “</a:t>
            </a:r>
            <a:r>
              <a:rPr lang="en-US" sz="2400" dirty="0" err="1">
                <a:solidFill>
                  <a:srgbClr val="1F497D">
                    <a:lumMod val="20000"/>
                    <a:lumOff val="80000"/>
                  </a:srgbClr>
                </a:solidFill>
                <a:latin typeface="Calibri" pitchFamily="34" charset="0"/>
              </a:rPr>
              <a:t>scarless</a:t>
            </a:r>
            <a:r>
              <a:rPr lang="en-US" sz="2400" dirty="0">
                <a:solidFill>
                  <a:srgbClr val="1F497D">
                    <a:lumMod val="20000"/>
                    <a:lumOff val="80000"/>
                  </a:srgbClr>
                </a:solidFill>
                <a:latin typeface="Calibri" pitchFamily="34" charset="0"/>
              </a:rPr>
              <a:t>” junctions</a:t>
            </a:r>
            <a:endParaRPr lang="en-US" dirty="0"/>
          </a:p>
        </p:txBody>
      </p:sp>
      <p:cxnSp>
        <p:nvCxnSpPr>
          <p:cNvPr id="15" name="Straight Arrow Connector 14"/>
          <p:cNvCxnSpPr/>
          <p:nvPr/>
        </p:nvCxnSpPr>
        <p:spPr>
          <a:xfrm rot="5400000">
            <a:off x="4343400" y="3124200"/>
            <a:ext cx="457200" cy="1588"/>
          </a:xfrm>
          <a:prstGeom prst="straightConnector1">
            <a:avLst/>
          </a:prstGeom>
          <a:ln w="38100">
            <a:solidFill>
              <a:schemeClr val="tx2">
                <a:lumMod val="20000"/>
                <a:lumOff val="80000"/>
              </a:schemeClr>
            </a:solidFill>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Type II General Notes</a:t>
            </a:r>
          </a:p>
        </p:txBody>
      </p:sp>
      <p:sp>
        <p:nvSpPr>
          <p:cNvPr id="13" name="Rectangle 12"/>
          <p:cNvSpPr/>
          <p:nvPr/>
        </p:nvSpPr>
        <p:spPr>
          <a:xfrm>
            <a:off x="685800" y="1066800"/>
            <a:ext cx="8458200" cy="1938992"/>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Restriction Enzymes come from </a:t>
            </a:r>
            <a:r>
              <a:rPr lang="en-US" sz="2400" dirty="0" err="1">
                <a:solidFill>
                  <a:srgbClr val="1F497D">
                    <a:lumMod val="20000"/>
                    <a:lumOff val="80000"/>
                  </a:srgbClr>
                </a:solidFill>
                <a:latin typeface="Calibri" pitchFamily="34" charset="0"/>
              </a:rPr>
              <a:t>Methylation</a:t>
            </a:r>
            <a:r>
              <a:rPr lang="en-US" sz="2400" dirty="0">
                <a:solidFill>
                  <a:srgbClr val="1F497D">
                    <a:lumMod val="20000"/>
                    <a:lumOff val="80000"/>
                  </a:srgbClr>
                </a:solidFill>
                <a:latin typeface="Calibri" pitchFamily="34" charset="0"/>
              </a:rPr>
              <a:t>/Restriction systems</a:t>
            </a:r>
          </a:p>
          <a:p>
            <a:pPr marL="457200" indent="-457200">
              <a:buFont typeface="Wingdings" pitchFamily="2" charset="2"/>
              <a:buChar char="§"/>
            </a:pPr>
            <a:r>
              <a:rPr lang="en-US" sz="2400" dirty="0">
                <a:solidFill>
                  <a:srgbClr val="1F497D">
                    <a:lumMod val="20000"/>
                    <a:lumOff val="80000"/>
                  </a:srgbClr>
                </a:solidFill>
                <a:latin typeface="Calibri" pitchFamily="34" charset="0"/>
              </a:rPr>
              <a:t>All have partner </a:t>
            </a:r>
            <a:r>
              <a:rPr lang="en-US" sz="2400" dirty="0" err="1">
                <a:solidFill>
                  <a:srgbClr val="1F497D">
                    <a:lumMod val="20000"/>
                    <a:lumOff val="80000"/>
                  </a:srgbClr>
                </a:solidFill>
                <a:latin typeface="Calibri" pitchFamily="34" charset="0"/>
              </a:rPr>
              <a:t>methyltransferases</a:t>
            </a: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r>
              <a:rPr lang="en-US" sz="2400" dirty="0">
                <a:solidFill>
                  <a:srgbClr val="1F497D">
                    <a:lumMod val="20000"/>
                    <a:lumOff val="80000"/>
                  </a:srgbClr>
                </a:solidFill>
                <a:latin typeface="Calibri" pitchFamily="34" charset="0"/>
              </a:rPr>
              <a:t>Not all restriction enzymes are equally good</a:t>
            </a:r>
          </a:p>
          <a:p>
            <a:pPr marL="457200" indent="-457200">
              <a:buFont typeface="Wingdings" pitchFamily="2" charset="2"/>
              <a:buChar char="§"/>
            </a:pPr>
            <a:r>
              <a:rPr lang="en-US" sz="2400" dirty="0">
                <a:solidFill>
                  <a:srgbClr val="1F497D">
                    <a:lumMod val="20000"/>
                    <a:lumOff val="80000"/>
                  </a:srgbClr>
                </a:solidFill>
                <a:latin typeface="Calibri" pitchFamily="34" charset="0"/>
              </a:rPr>
              <a:t>Star Activity (cutting where they shouldn’t cut)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Type II General Notes</a:t>
            </a:r>
          </a:p>
        </p:txBody>
      </p:sp>
      <p:sp>
        <p:nvSpPr>
          <p:cNvPr id="13" name="Rectangle 12"/>
          <p:cNvSpPr/>
          <p:nvPr/>
        </p:nvSpPr>
        <p:spPr>
          <a:xfrm>
            <a:off x="685800" y="1066800"/>
            <a:ext cx="8458200" cy="5478423"/>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Restriction Enzymes come from </a:t>
            </a:r>
            <a:r>
              <a:rPr lang="en-US" sz="2400" dirty="0" err="1">
                <a:solidFill>
                  <a:srgbClr val="1F497D">
                    <a:lumMod val="20000"/>
                    <a:lumOff val="80000"/>
                  </a:srgbClr>
                </a:solidFill>
                <a:latin typeface="Calibri" pitchFamily="34" charset="0"/>
              </a:rPr>
              <a:t>Methylation</a:t>
            </a:r>
            <a:r>
              <a:rPr lang="en-US" sz="2400" dirty="0">
                <a:solidFill>
                  <a:srgbClr val="1F497D">
                    <a:lumMod val="20000"/>
                    <a:lumOff val="80000"/>
                  </a:srgbClr>
                </a:solidFill>
                <a:latin typeface="Calibri" pitchFamily="34" charset="0"/>
              </a:rPr>
              <a:t>/Restriction systems</a:t>
            </a:r>
          </a:p>
          <a:p>
            <a:pPr marL="457200" indent="-457200">
              <a:buFont typeface="Wingdings" pitchFamily="2" charset="2"/>
              <a:buChar char="§"/>
            </a:pPr>
            <a:r>
              <a:rPr lang="en-US" sz="2400" dirty="0">
                <a:solidFill>
                  <a:srgbClr val="1F497D">
                    <a:lumMod val="20000"/>
                    <a:lumOff val="80000"/>
                  </a:srgbClr>
                </a:solidFill>
                <a:latin typeface="Calibri" pitchFamily="34" charset="0"/>
              </a:rPr>
              <a:t>All have partner </a:t>
            </a:r>
            <a:r>
              <a:rPr lang="en-US" sz="2400" dirty="0" err="1">
                <a:solidFill>
                  <a:srgbClr val="1F497D">
                    <a:lumMod val="20000"/>
                    <a:lumOff val="80000"/>
                  </a:srgbClr>
                </a:solidFill>
                <a:latin typeface="Calibri" pitchFamily="34" charset="0"/>
              </a:rPr>
              <a:t>methyltransferases</a:t>
            </a: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r>
              <a:rPr lang="en-US" sz="2400" dirty="0">
                <a:solidFill>
                  <a:srgbClr val="1F497D">
                    <a:lumMod val="20000"/>
                    <a:lumOff val="80000"/>
                  </a:srgbClr>
                </a:solidFill>
                <a:latin typeface="Calibri" pitchFamily="34" charset="0"/>
              </a:rPr>
              <a:t>Not all restriction enzymes are equally good</a:t>
            </a:r>
          </a:p>
          <a:p>
            <a:pPr marL="457200" indent="-457200">
              <a:buFont typeface="Wingdings" pitchFamily="2" charset="2"/>
              <a:buChar char="§"/>
            </a:pPr>
            <a:r>
              <a:rPr lang="en-US" sz="2400" dirty="0">
                <a:solidFill>
                  <a:srgbClr val="1F497D">
                    <a:lumMod val="20000"/>
                    <a:lumOff val="80000"/>
                  </a:srgbClr>
                </a:solidFill>
                <a:latin typeface="Calibri" pitchFamily="34" charset="0"/>
              </a:rPr>
              <a:t>Star Activity (cutting where they shouldn’t cut)</a:t>
            </a:r>
          </a:p>
          <a:p>
            <a:pPr marL="457200" indent="-457200">
              <a:buFont typeface="Wingdings" pitchFamily="2" charset="2"/>
              <a:buChar char="§"/>
            </a:pPr>
            <a:r>
              <a:rPr lang="en-US" sz="2400" dirty="0">
                <a:solidFill>
                  <a:srgbClr val="1F497D">
                    <a:lumMod val="20000"/>
                    <a:lumOff val="80000"/>
                  </a:srgbClr>
                </a:solidFill>
                <a:latin typeface="Calibri" pitchFamily="34" charset="0"/>
              </a:rPr>
              <a:t>Sensitivity to solvents, contaminants</a:t>
            </a:r>
          </a:p>
          <a:p>
            <a:pPr marL="457200" indent="-457200">
              <a:buFont typeface="Wingdings" pitchFamily="2" charset="2"/>
              <a:buChar char="§"/>
            </a:pPr>
            <a:r>
              <a:rPr lang="en-US" sz="2400" dirty="0">
                <a:solidFill>
                  <a:srgbClr val="1F497D">
                    <a:lumMod val="20000"/>
                    <a:lumOff val="80000"/>
                  </a:srgbClr>
                </a:solidFill>
                <a:latin typeface="Calibri" pitchFamily="34" charset="0"/>
              </a:rPr>
              <a:t>Incomplete cutting</a:t>
            </a:r>
          </a:p>
          <a:p>
            <a:pPr marL="457200" indent="-457200">
              <a:buFont typeface="Wingdings" pitchFamily="2" charset="2"/>
              <a:buChar char="§"/>
            </a:pPr>
            <a:r>
              <a:rPr lang="en-US" sz="2400" dirty="0">
                <a:solidFill>
                  <a:srgbClr val="1F497D">
                    <a:lumMod val="20000"/>
                    <a:lumOff val="80000"/>
                  </a:srgbClr>
                </a:solidFill>
                <a:latin typeface="Calibri" pitchFamily="34" charset="0"/>
              </a:rPr>
              <a:t>Cutting close to ends </a:t>
            </a:r>
            <a:r>
              <a:rPr lang="en-US" sz="1400" dirty="0">
                <a:solidFill>
                  <a:srgbClr val="1F497D">
                    <a:lumMod val="20000"/>
                    <a:lumOff val="80000"/>
                  </a:srgbClr>
                </a:solidFill>
                <a:latin typeface="Calibri" pitchFamily="34" charset="0"/>
              </a:rPr>
              <a:t>http://www.neb.com/nebecomm/tech_reference/restriction_enzymes/cleavage_linearized_vector.asp</a:t>
            </a: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r>
              <a:rPr lang="en-US" sz="2400" dirty="0">
                <a:solidFill>
                  <a:srgbClr val="1F497D">
                    <a:lumMod val="20000"/>
                    <a:lumOff val="80000"/>
                  </a:srgbClr>
                </a:solidFill>
                <a:latin typeface="Calibri" pitchFamily="34" charset="0"/>
              </a:rPr>
              <a:t>Requirements for </a:t>
            </a:r>
            <a:r>
              <a:rPr lang="en-US" sz="2400" dirty="0" err="1">
                <a:solidFill>
                  <a:srgbClr val="1F497D">
                    <a:lumMod val="20000"/>
                    <a:lumOff val="80000"/>
                  </a:srgbClr>
                </a:solidFill>
                <a:latin typeface="Calibri" pitchFamily="34" charset="0"/>
              </a:rPr>
              <a:t>supercoiling</a:t>
            </a: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r>
              <a:rPr lang="en-US" sz="2400" dirty="0">
                <a:solidFill>
                  <a:srgbClr val="1F497D">
                    <a:lumMod val="20000"/>
                    <a:lumOff val="80000"/>
                  </a:srgbClr>
                </a:solidFill>
                <a:latin typeface="Calibri" pitchFamily="34" charset="0"/>
              </a:rPr>
              <a:t>Requirements for multiple sites in the plasmid</a:t>
            </a:r>
          </a:p>
          <a:p>
            <a:pPr marL="457200" indent="-457200">
              <a:buFont typeface="Wingdings" pitchFamily="2" charset="2"/>
              <a:buChar char="§"/>
            </a:pPr>
            <a:r>
              <a:rPr lang="en-US" sz="2400" dirty="0">
                <a:solidFill>
                  <a:srgbClr val="1F497D">
                    <a:lumMod val="20000"/>
                    <a:lumOff val="80000"/>
                  </a:srgbClr>
                </a:solidFill>
                <a:latin typeface="Calibri" pitchFamily="34" charset="0"/>
              </a:rPr>
              <a:t>Different enzymes prefer different buffers</a:t>
            </a:r>
          </a:p>
          <a:p>
            <a:pPr marL="457200" indent="-457200">
              <a:buFont typeface="Wingdings" pitchFamily="2" charset="2"/>
              <a:buChar char="§"/>
            </a:pPr>
            <a:r>
              <a:rPr lang="en-US" sz="2400" dirty="0">
                <a:solidFill>
                  <a:srgbClr val="1F497D">
                    <a:lumMod val="20000"/>
                    <a:lumOff val="80000"/>
                  </a:srgbClr>
                </a:solidFill>
                <a:latin typeface="Calibri" pitchFamily="34" charset="0"/>
              </a:rPr>
              <a:t>Many work in PCR buffer</a:t>
            </a:r>
          </a:p>
          <a:p>
            <a:pPr marL="457200" indent="-457200">
              <a:buFont typeface="Wingdings" pitchFamily="2" charset="2"/>
              <a:buChar char="§"/>
            </a:pPr>
            <a:r>
              <a:rPr lang="en-US" sz="2400" dirty="0">
                <a:solidFill>
                  <a:srgbClr val="1F497D">
                    <a:lumMod val="20000"/>
                    <a:lumOff val="80000"/>
                  </a:srgbClr>
                </a:solidFill>
                <a:latin typeface="Calibri" pitchFamily="34" charset="0"/>
              </a:rPr>
              <a:t>All generate clean 3’OH and 5’-phosphate ends</a:t>
            </a: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p:txBody>
      </p:sp>
    </p:spTree>
    <p:custDataLst>
      <p:tags r:id="rId1"/>
    </p:custDataLst>
    <p:extLst>
      <p:ext uri="{BB962C8B-B14F-4D97-AF65-F5344CB8AC3E}">
        <p14:creationId xmlns:p14="http://schemas.microsoft.com/office/powerpoint/2010/main" val="3315967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4" cstate="print"/>
          <a:srcRect/>
          <a:stretch>
            <a:fillRect/>
          </a:stretch>
        </p:blipFill>
        <p:spPr bwMode="auto">
          <a:xfrm>
            <a:off x="0" y="0"/>
            <a:ext cx="9535618" cy="7022206"/>
          </a:xfrm>
          <a:prstGeom prst="rect">
            <a:avLst/>
          </a:prstGeom>
          <a:noFill/>
          <a:ln w="9525">
            <a:noFill/>
            <a:miter lim="800000"/>
            <a:headEnd/>
            <a:tailEnd/>
          </a:ln>
          <a:effectLst/>
        </p:spPr>
      </p:pic>
      <p:sp>
        <p:nvSpPr>
          <p:cNvPr id="3" name="Rectangle 2"/>
          <p:cNvSpPr/>
          <p:nvPr/>
        </p:nvSpPr>
        <p:spPr>
          <a:xfrm>
            <a:off x="1981200" y="40386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2362200" y="63246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5943600" y="35052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638800" y="10668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029200" y="26670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p:cNvSpPr/>
          <p:nvPr/>
        </p:nvSpPr>
        <p:spPr>
          <a:xfrm>
            <a:off x="838200" y="3657600"/>
            <a:ext cx="685800" cy="914400"/>
          </a:xfrm>
          <a:prstGeom prst="ellipse">
            <a:avLst/>
          </a:prstGeom>
          <a:solidFill>
            <a:srgbClr val="00B050">
              <a:alpha val="28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257800" y="6096000"/>
            <a:ext cx="3310421" cy="523220"/>
          </a:xfrm>
          <a:prstGeom prst="rect">
            <a:avLst/>
          </a:prstGeom>
        </p:spPr>
        <p:txBody>
          <a:bodyPr wrap="none">
            <a:spAutoFit/>
          </a:bodyPr>
          <a:lstStyle/>
          <a:p>
            <a:pPr lvl="0"/>
            <a:r>
              <a:rPr lang="en-US" sz="2800" dirty="0"/>
              <a:t>by </a:t>
            </a:r>
            <a:r>
              <a:rPr lang="en-US" sz="2800" dirty="0" err="1"/>
              <a:t>EcoRI</a:t>
            </a:r>
            <a:r>
              <a:rPr lang="en-US" sz="2800" dirty="0"/>
              <a:t> G/AATTC</a:t>
            </a:r>
          </a:p>
        </p:txBody>
      </p:sp>
      <p:pic>
        <p:nvPicPr>
          <p:cNvPr id="10" name="Picture 9" descr="ponder.png"/>
          <p:cNvPicPr>
            <a:picLocks noChangeAspect="1"/>
          </p:cNvPicPr>
          <p:nvPr/>
        </p:nvPicPr>
        <p:blipFill>
          <a:blip r:embed="rId5" cstate="print"/>
          <a:stretch>
            <a:fillRect/>
          </a:stretch>
        </p:blipFill>
        <p:spPr>
          <a:xfrm>
            <a:off x="221048" y="95107"/>
            <a:ext cx="573880" cy="824953"/>
          </a:xfrm>
          <a:prstGeom prst="rect">
            <a:avLst/>
          </a:prstGeom>
        </p:spPr>
      </p:pic>
      <p:sp>
        <p:nvSpPr>
          <p:cNvPr id="11" name="Rectangle 10"/>
          <p:cNvSpPr/>
          <p:nvPr/>
        </p:nvSpPr>
        <p:spPr>
          <a:xfrm>
            <a:off x="938173" y="273729"/>
            <a:ext cx="4743155" cy="646331"/>
          </a:xfrm>
          <a:prstGeom prst="rect">
            <a:avLst/>
          </a:prstGeom>
        </p:spPr>
        <p:txBody>
          <a:bodyPr wrap="none">
            <a:spAutoFit/>
          </a:bodyPr>
          <a:lstStyle/>
          <a:p>
            <a:pPr fontAlgn="auto">
              <a:spcBef>
                <a:spcPts val="0"/>
              </a:spcBef>
              <a:spcAft>
                <a:spcPts val="0"/>
              </a:spcAft>
            </a:pPr>
            <a:r>
              <a:rPr lang="en-US" sz="3600" dirty="0">
                <a:solidFill>
                  <a:prstClr val="black"/>
                </a:solidFill>
                <a:latin typeface="Calibri"/>
              </a:rPr>
              <a:t>Which bond is broken</a:t>
            </a:r>
            <a:r>
              <a:rPr lang="mr-IN" sz="3600" dirty="0">
                <a:solidFill>
                  <a:prstClr val="black"/>
                </a:solidFill>
                <a:latin typeface="Calibri"/>
              </a:rPr>
              <a:t>…</a:t>
            </a:r>
            <a:endParaRPr lang="en-US" sz="3600" dirty="0">
              <a:solidFill>
                <a:prstClr val="black"/>
              </a:solidFill>
              <a:latin typeface="Calibri"/>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err="1">
                <a:solidFill>
                  <a:srgbClr val="1F497D">
                    <a:lumMod val="20000"/>
                    <a:lumOff val="80000"/>
                  </a:srgbClr>
                </a:solidFill>
                <a:latin typeface="Rockwell Extra Bold" pitchFamily="18" charset="0"/>
                <a:cs typeface="Arial" pitchFamily="34" charset="0"/>
              </a:rPr>
              <a:t>DNAse</a:t>
            </a:r>
            <a:r>
              <a:rPr lang="en-US" sz="3200" dirty="0">
                <a:solidFill>
                  <a:srgbClr val="1F497D">
                    <a:lumMod val="20000"/>
                    <a:lumOff val="80000"/>
                  </a:srgbClr>
                </a:solidFill>
                <a:latin typeface="Rockwell Extra Bold" pitchFamily="18" charset="0"/>
                <a:cs typeface="Arial" pitchFamily="34" charset="0"/>
              </a:rPr>
              <a:t> I</a:t>
            </a:r>
          </a:p>
        </p:txBody>
      </p:sp>
      <p:sp>
        <p:nvSpPr>
          <p:cNvPr id="11" name="Rectangle 10"/>
          <p:cNvSpPr/>
          <p:nvPr/>
        </p:nvSpPr>
        <p:spPr>
          <a:xfrm>
            <a:off x="533400" y="1295400"/>
            <a:ext cx="1330814" cy="461665"/>
          </a:xfrm>
          <a:prstGeom prst="rect">
            <a:avLst/>
          </a:prstGeom>
        </p:spPr>
        <p:txBody>
          <a:bodyPr wrap="none">
            <a:spAutoFit/>
          </a:bodyPr>
          <a:lstStyle/>
          <a:p>
            <a:r>
              <a:rPr lang="en-US" sz="2400" dirty="0" err="1">
                <a:solidFill>
                  <a:schemeClr val="tx2">
                    <a:lumMod val="20000"/>
                    <a:lumOff val="80000"/>
                  </a:schemeClr>
                </a:solidFill>
              </a:rPr>
              <a:t>DNAse</a:t>
            </a:r>
            <a:r>
              <a:rPr lang="en-US" sz="2400" dirty="0">
                <a:solidFill>
                  <a:schemeClr val="tx2">
                    <a:lumMod val="20000"/>
                    <a:lumOff val="80000"/>
                  </a:schemeClr>
                </a:solidFill>
              </a:rPr>
              <a:t> I</a:t>
            </a:r>
          </a:p>
        </p:txBody>
      </p:sp>
      <p:sp>
        <p:nvSpPr>
          <p:cNvPr id="12" name="Rectangle 11"/>
          <p:cNvSpPr/>
          <p:nvPr/>
        </p:nvSpPr>
        <p:spPr>
          <a:xfrm>
            <a:off x="2133600" y="990600"/>
            <a:ext cx="7010400" cy="3046988"/>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Non-specific </a:t>
            </a:r>
            <a:r>
              <a:rPr lang="en-US" sz="2400" dirty="0" err="1">
                <a:solidFill>
                  <a:srgbClr val="1F497D">
                    <a:lumMod val="20000"/>
                    <a:lumOff val="80000"/>
                  </a:srgbClr>
                </a:solidFill>
                <a:latin typeface="Calibri" pitchFamily="34" charset="0"/>
              </a:rPr>
              <a:t>endonuclease</a:t>
            </a: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r>
              <a:rPr lang="en-US" sz="2400" dirty="0">
                <a:solidFill>
                  <a:srgbClr val="1F497D">
                    <a:lumMod val="20000"/>
                    <a:lumOff val="80000"/>
                  </a:srgbClr>
                </a:solidFill>
                <a:latin typeface="Calibri" pitchFamily="34" charset="0"/>
              </a:rPr>
              <a:t>Very potent enzyme</a:t>
            </a:r>
          </a:p>
          <a:p>
            <a:pPr marL="457200" indent="-457200">
              <a:buFont typeface="Wingdings" pitchFamily="2" charset="2"/>
              <a:buChar char="§"/>
            </a:pPr>
            <a:r>
              <a:rPr lang="en-US" sz="2400" dirty="0">
                <a:solidFill>
                  <a:srgbClr val="1F497D">
                    <a:lumMod val="20000"/>
                    <a:lumOff val="80000"/>
                  </a:srgbClr>
                </a:solidFill>
                <a:latin typeface="Calibri" pitchFamily="34" charset="0"/>
              </a:rPr>
              <a:t>Products have 5’ phosphates and 3’ hydroxyls</a:t>
            </a:r>
          </a:p>
          <a:p>
            <a:pPr marL="457200" indent="-457200">
              <a:buFont typeface="Wingdings" pitchFamily="2" charset="2"/>
              <a:buChar char="§"/>
            </a:pPr>
            <a:r>
              <a:rPr lang="en-US" sz="2400" dirty="0">
                <a:solidFill>
                  <a:srgbClr val="1F497D">
                    <a:lumMod val="20000"/>
                    <a:lumOff val="80000"/>
                  </a:srgbClr>
                </a:solidFill>
                <a:latin typeface="Calibri" pitchFamily="34" charset="0"/>
              </a:rPr>
              <a:t>Therefore, competent for ligation on both ends</a:t>
            </a:r>
          </a:p>
          <a:p>
            <a:pPr marL="457200" indent="-457200">
              <a:buFont typeface="Wingdings" pitchFamily="2" charset="2"/>
              <a:buChar char="§"/>
            </a:pPr>
            <a:r>
              <a:rPr lang="en-US" sz="2400" dirty="0">
                <a:solidFill>
                  <a:srgbClr val="1F497D">
                    <a:lumMod val="20000"/>
                    <a:lumOff val="80000"/>
                  </a:srgbClr>
                </a:solidFill>
                <a:latin typeface="Calibri" pitchFamily="34" charset="0"/>
              </a:rPr>
              <a:t>Using Magnesium in buffer prefers single-strand cuts</a:t>
            </a:r>
          </a:p>
          <a:p>
            <a:pPr marL="457200" indent="-457200">
              <a:buFont typeface="Wingdings" pitchFamily="2" charset="2"/>
              <a:buChar char="§"/>
            </a:pPr>
            <a:r>
              <a:rPr lang="en-US" sz="2400" dirty="0">
                <a:solidFill>
                  <a:srgbClr val="1F497D">
                    <a:lumMod val="20000"/>
                    <a:lumOff val="80000"/>
                  </a:srgbClr>
                </a:solidFill>
                <a:latin typeface="Calibri" pitchFamily="34" charset="0"/>
              </a:rPr>
              <a:t>Using with Manganese in buffer prefers double-strand blunt cuts</a:t>
            </a:r>
          </a:p>
        </p:txBody>
      </p:sp>
      <p:sp>
        <p:nvSpPr>
          <p:cNvPr id="14" name="Rectangle 13"/>
          <p:cNvSpPr/>
          <p:nvPr/>
        </p:nvSpPr>
        <p:spPr>
          <a:xfrm>
            <a:off x="533400" y="4754940"/>
            <a:ext cx="971741" cy="461665"/>
          </a:xfrm>
          <a:prstGeom prst="rect">
            <a:avLst/>
          </a:prstGeom>
        </p:spPr>
        <p:txBody>
          <a:bodyPr wrap="none">
            <a:spAutoFit/>
          </a:bodyPr>
          <a:lstStyle/>
          <a:p>
            <a:r>
              <a:rPr lang="en-US" sz="2400" dirty="0">
                <a:solidFill>
                  <a:schemeClr val="tx2">
                    <a:lumMod val="20000"/>
                    <a:lumOff val="80000"/>
                  </a:schemeClr>
                </a:solidFill>
              </a:rPr>
              <a:t>Uses:</a:t>
            </a:r>
          </a:p>
        </p:txBody>
      </p:sp>
      <p:sp>
        <p:nvSpPr>
          <p:cNvPr id="15" name="Rectangle 14"/>
          <p:cNvSpPr/>
          <p:nvPr/>
        </p:nvSpPr>
        <p:spPr>
          <a:xfrm>
            <a:off x="2133600" y="4450140"/>
            <a:ext cx="7010400" cy="1569660"/>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Removing DNA from an RNA sample</a:t>
            </a:r>
          </a:p>
          <a:p>
            <a:pPr marL="457200" indent="-457200">
              <a:buFont typeface="Wingdings" pitchFamily="2" charset="2"/>
              <a:buChar char="§"/>
            </a:pPr>
            <a:r>
              <a:rPr lang="en-US" sz="2400" dirty="0">
                <a:solidFill>
                  <a:srgbClr val="1F497D">
                    <a:lumMod val="20000"/>
                    <a:lumOff val="80000"/>
                  </a:srgbClr>
                </a:solidFill>
                <a:latin typeface="Calibri" pitchFamily="34" charset="0"/>
              </a:rPr>
              <a:t>Chopping large DNAs into </a:t>
            </a:r>
            <a:r>
              <a:rPr lang="en-US" sz="2400" dirty="0" err="1">
                <a:solidFill>
                  <a:srgbClr val="1F497D">
                    <a:lumMod val="20000"/>
                    <a:lumOff val="80000"/>
                  </a:srgbClr>
                </a:solidFill>
                <a:latin typeface="Calibri" pitchFamily="34" charset="0"/>
              </a:rPr>
              <a:t>oligonucleotide</a:t>
            </a:r>
            <a:r>
              <a:rPr lang="en-US" sz="2400" dirty="0">
                <a:solidFill>
                  <a:srgbClr val="1F497D">
                    <a:lumMod val="20000"/>
                    <a:lumOff val="80000"/>
                  </a:srgbClr>
                </a:solidFill>
                <a:latin typeface="Calibri" pitchFamily="34" charset="0"/>
              </a:rPr>
              <a:t>-length fragments such as for DNA shuffling</a:t>
            </a:r>
          </a:p>
          <a:p>
            <a:pPr marL="457200" indent="-457200">
              <a:buFont typeface="Wingdings" pitchFamily="2" charset="2"/>
              <a:buChar char="§"/>
            </a:pPr>
            <a:r>
              <a:rPr lang="en-US" sz="2400" dirty="0">
                <a:solidFill>
                  <a:srgbClr val="1F497D">
                    <a:lumMod val="20000"/>
                    <a:lumOff val="80000"/>
                  </a:srgbClr>
                </a:solidFill>
                <a:latin typeface="Calibri" pitchFamily="34" charset="0"/>
              </a:rPr>
              <a:t>Others like nick translation and </a:t>
            </a:r>
            <a:r>
              <a:rPr lang="en-US" sz="2400" dirty="0" err="1">
                <a:solidFill>
                  <a:srgbClr val="1F497D">
                    <a:lumMod val="20000"/>
                    <a:lumOff val="80000"/>
                  </a:srgbClr>
                </a:solidFill>
                <a:latin typeface="Calibri" pitchFamily="34" charset="0"/>
              </a:rPr>
              <a:t>footprinting</a:t>
            </a:r>
            <a:endParaRPr lang="en-US" sz="2400" dirty="0">
              <a:solidFill>
                <a:srgbClr val="1F497D">
                  <a:lumMod val="20000"/>
                  <a:lumOff val="80000"/>
                </a:srgbClr>
              </a:solidFill>
              <a:latin typeface="Calibri" pitchFamily="34" charset="0"/>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5C477-03A4-516C-44D7-2B003055AC5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48E141F-7CB0-A863-A638-6F9C307B5BF4}"/>
              </a:ext>
            </a:extLst>
          </p:cNvPr>
          <p:cNvSpPr txBox="1"/>
          <p:nvPr/>
        </p:nvSpPr>
        <p:spPr>
          <a:xfrm>
            <a:off x="304800" y="6172200"/>
            <a:ext cx="883920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https://</a:t>
            </a:r>
            <a:r>
              <a:rPr kumimoji="0" lang="en-US" sz="1400" b="0" i="0" u="none" strike="noStrike" kern="1200" cap="none" spc="0" normalizeH="0" baseline="0" noProof="0" dirty="0" err="1">
                <a:ln>
                  <a:noFill/>
                </a:ln>
                <a:solidFill>
                  <a:prstClr val="black"/>
                </a:solidFill>
                <a:effectLst/>
                <a:uLnTx/>
                <a:uFillTx/>
                <a:latin typeface="Calibri"/>
                <a:ea typeface="+mn-ea"/>
                <a:cs typeface="+mn-cs"/>
              </a:rPr>
              <a:t>docs.google.com</a:t>
            </a:r>
            <a:r>
              <a:rPr kumimoji="0" lang="en-US" sz="1400" b="0" i="0" u="none" strike="noStrike" kern="1200" cap="none" spc="0" normalizeH="0" baseline="0" noProof="0" dirty="0">
                <a:ln>
                  <a:noFill/>
                </a:ln>
                <a:solidFill>
                  <a:prstClr val="black"/>
                </a:solidFill>
                <a:effectLst/>
                <a:uLnTx/>
                <a:uFillTx/>
                <a:latin typeface="Calibri"/>
                <a:ea typeface="+mn-ea"/>
                <a:cs typeface="+mn-cs"/>
              </a:rPr>
              <a:t>/document/d/1j67g4O6APq2q_7lZM0J72EiOeP1O0Mk04rbw83kQ0W8/</a:t>
            </a:r>
            <a:r>
              <a:rPr kumimoji="0" lang="en-US" sz="1400" b="0" i="0" u="none" strike="noStrike" kern="1200" cap="none" spc="0" normalizeH="0" baseline="0" noProof="0" dirty="0" err="1">
                <a:ln>
                  <a:noFill/>
                </a:ln>
                <a:solidFill>
                  <a:prstClr val="black"/>
                </a:solidFill>
                <a:effectLst/>
                <a:uLnTx/>
                <a:uFillTx/>
                <a:latin typeface="Calibri"/>
                <a:ea typeface="+mn-ea"/>
                <a:cs typeface="+mn-cs"/>
              </a:rPr>
              <a:t>edit?usp</a:t>
            </a:r>
            <a:r>
              <a:rPr kumimoji="0" lang="en-US" sz="1400" b="0" i="0" u="none" strike="noStrike" kern="1200" cap="none" spc="0" normalizeH="0" baseline="0" noProof="0" dirty="0">
                <a:ln>
                  <a:noFill/>
                </a:ln>
                <a:solidFill>
                  <a:prstClr val="black"/>
                </a:solidFill>
                <a:effectLst/>
                <a:uLnTx/>
                <a:uFillTx/>
                <a:latin typeface="Calibri"/>
                <a:ea typeface="+mn-ea"/>
                <a:cs typeface="+mn-cs"/>
              </a:rPr>
              <a:t>=sharing</a:t>
            </a:r>
          </a:p>
        </p:txBody>
      </p:sp>
      <p:pic>
        <p:nvPicPr>
          <p:cNvPr id="7" name="Picture 6">
            <a:extLst>
              <a:ext uri="{FF2B5EF4-FFF2-40B4-BE49-F238E27FC236}">
                <a16:creationId xmlns:a16="http://schemas.microsoft.com/office/drawing/2014/main" id="{C474A3F6-C9B5-224D-72AB-836CFCEBCAF8}"/>
              </a:ext>
            </a:extLst>
          </p:cNvPr>
          <p:cNvPicPr>
            <a:picLocks noChangeAspect="1"/>
          </p:cNvPicPr>
          <p:nvPr/>
        </p:nvPicPr>
        <p:blipFill>
          <a:blip r:embed="rId3"/>
          <a:stretch>
            <a:fillRect/>
          </a:stretch>
        </p:blipFill>
        <p:spPr>
          <a:xfrm>
            <a:off x="1827476" y="882058"/>
            <a:ext cx="5792524" cy="5093883"/>
          </a:xfrm>
          <a:prstGeom prst="rect">
            <a:avLst/>
          </a:prstGeom>
        </p:spPr>
      </p:pic>
      <p:sp>
        <p:nvSpPr>
          <p:cNvPr id="8" name="TextBox 7">
            <a:extLst>
              <a:ext uri="{FF2B5EF4-FFF2-40B4-BE49-F238E27FC236}">
                <a16:creationId xmlns:a16="http://schemas.microsoft.com/office/drawing/2014/main" id="{B27177EC-4D79-9010-FF3B-D961E1D27CAF}"/>
              </a:ext>
            </a:extLst>
          </p:cNvPr>
          <p:cNvSpPr txBox="1">
            <a:spLocks noChangeArrowheads="1"/>
          </p:cNvSpPr>
          <p:nvPr/>
        </p:nvSpPr>
        <p:spPr bwMode="auto">
          <a:xfrm>
            <a:off x="304800" y="130314"/>
            <a:ext cx="8610600" cy="646331"/>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000000"/>
                </a:solidFill>
                <a:effectLst/>
                <a:uLnTx/>
                <a:uFillTx/>
                <a:latin typeface="Calibri"/>
                <a:ea typeface="+mn-ea"/>
                <a:cs typeface="Calibri"/>
              </a:rPr>
              <a:t>Copy and Paste, don’t type</a:t>
            </a:r>
          </a:p>
        </p:txBody>
      </p:sp>
    </p:spTree>
    <p:extLst>
      <p:ext uri="{BB962C8B-B14F-4D97-AF65-F5344CB8AC3E}">
        <p14:creationId xmlns:p14="http://schemas.microsoft.com/office/powerpoint/2010/main" val="1679312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err="1">
                <a:solidFill>
                  <a:schemeClr val="bg1"/>
                </a:solidFill>
                <a:latin typeface="Rockwell Extra Bold" pitchFamily="18" charset="0"/>
                <a:cs typeface="Arial" pitchFamily="34" charset="0"/>
              </a:rPr>
              <a:t>Exonucleases</a:t>
            </a:r>
            <a:endParaRPr lang="en-US" sz="3200" dirty="0">
              <a:solidFill>
                <a:schemeClr val="bg1"/>
              </a:solidFill>
              <a:latin typeface="Rockwell Extra Bold" pitchFamily="18" charset="0"/>
              <a:cs typeface="Arial" pitchFamily="34" charset="0"/>
            </a:endParaRPr>
          </a:p>
        </p:txBody>
      </p:sp>
      <p:sp>
        <p:nvSpPr>
          <p:cNvPr id="4" name="Rectangle 3"/>
          <p:cNvSpPr/>
          <p:nvPr/>
        </p:nvSpPr>
        <p:spPr>
          <a:xfrm>
            <a:off x="533400" y="1542871"/>
            <a:ext cx="8305800" cy="1200329"/>
          </a:xfrm>
          <a:prstGeom prst="rect">
            <a:avLst/>
          </a:prstGeom>
        </p:spPr>
        <p:txBody>
          <a:bodyPr wrap="square">
            <a:spAutoFit/>
          </a:bodyPr>
          <a:lstStyle/>
          <a:p>
            <a:r>
              <a:rPr lang="en-US" sz="2400" dirty="0">
                <a:solidFill>
                  <a:schemeClr val="bg1"/>
                </a:solidFill>
              </a:rPr>
              <a:t>Non-specific </a:t>
            </a:r>
            <a:r>
              <a:rPr lang="en-US" sz="2400" dirty="0" err="1">
                <a:solidFill>
                  <a:schemeClr val="bg1"/>
                </a:solidFill>
              </a:rPr>
              <a:t>exonucleases</a:t>
            </a:r>
            <a:r>
              <a:rPr lang="en-US" sz="2400" dirty="0">
                <a:solidFill>
                  <a:schemeClr val="bg1"/>
                </a:solidFill>
              </a:rPr>
              <a:t>:  Digest any and all DNAs (linear, circular, double stranded, single stranded, methylated, non-methylated, etc.)</a:t>
            </a:r>
          </a:p>
        </p:txBody>
      </p:sp>
      <p:sp>
        <p:nvSpPr>
          <p:cNvPr id="5" name="Rectangle 4"/>
          <p:cNvSpPr/>
          <p:nvPr/>
        </p:nvSpPr>
        <p:spPr>
          <a:xfrm>
            <a:off x="1752600" y="3143071"/>
            <a:ext cx="7010400" cy="830997"/>
          </a:xfrm>
          <a:prstGeom prst="rect">
            <a:avLst/>
          </a:prstGeom>
        </p:spPr>
        <p:txBody>
          <a:bodyPr wrap="square">
            <a:spAutoFit/>
          </a:bodyPr>
          <a:lstStyle/>
          <a:p>
            <a:pPr marL="457200" indent="-457200">
              <a:buFont typeface="Wingdings" pitchFamily="2" charset="2"/>
              <a:buChar char="§"/>
            </a:pPr>
            <a:r>
              <a:rPr lang="en-US" sz="2400" dirty="0" err="1">
                <a:solidFill>
                  <a:schemeClr val="bg1"/>
                </a:solidFill>
                <a:latin typeface="Calibri" pitchFamily="34" charset="0"/>
              </a:rPr>
              <a:t>Mung</a:t>
            </a:r>
            <a:r>
              <a:rPr lang="en-US" sz="2400" dirty="0">
                <a:solidFill>
                  <a:schemeClr val="bg1"/>
                </a:solidFill>
                <a:latin typeface="Calibri" pitchFamily="34" charset="0"/>
              </a:rPr>
              <a:t> Bean Nuclease</a:t>
            </a:r>
          </a:p>
          <a:p>
            <a:pPr marL="457200" indent="-457200">
              <a:buFont typeface="Wingdings" pitchFamily="2" charset="2"/>
              <a:buChar char="§"/>
            </a:pPr>
            <a:r>
              <a:rPr lang="en-US" sz="2400" dirty="0">
                <a:solidFill>
                  <a:schemeClr val="bg1"/>
                </a:solidFill>
                <a:latin typeface="Calibri" pitchFamily="34" charset="0"/>
              </a:rPr>
              <a:t>T5 </a:t>
            </a:r>
            <a:r>
              <a:rPr lang="en-US" sz="2400" dirty="0" err="1">
                <a:solidFill>
                  <a:schemeClr val="bg1"/>
                </a:solidFill>
                <a:latin typeface="Calibri" pitchFamily="34" charset="0"/>
              </a:rPr>
              <a:t>Exonuclease</a:t>
            </a:r>
            <a:endParaRPr lang="en-US" sz="2400" dirty="0">
              <a:solidFill>
                <a:schemeClr val="bg1"/>
              </a:solidFill>
              <a:latin typeface="Calibri"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579437" y="1058862"/>
            <a:ext cx="7620000" cy="23701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9939" name="Object 3"/>
          <p:cNvGraphicFramePr>
            <a:graphicFrameLocks noChangeAspect="1"/>
          </p:cNvGraphicFramePr>
          <p:nvPr/>
        </p:nvGraphicFramePr>
        <p:xfrm>
          <a:off x="582612" y="1060450"/>
          <a:ext cx="7646988" cy="2368550"/>
        </p:xfrm>
        <a:graphic>
          <a:graphicData uri="http://schemas.openxmlformats.org/presentationml/2006/ole">
            <mc:AlternateContent xmlns:mc="http://schemas.openxmlformats.org/markup-compatibility/2006">
              <mc:Choice xmlns:v="urn:schemas-microsoft-com:vml" Requires="v">
                <p:oleObj name="Worksheet" r:id="rId3" imgW="7686627" imgH="2381379" progId="Excel.Sheet.8">
                  <p:embed/>
                </p:oleObj>
              </mc:Choice>
              <mc:Fallback>
                <p:oleObj name="Worksheet" r:id="rId3" imgW="7686627" imgH="2381379" progId="Excel.Sheet.8">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612" y="1060450"/>
                        <a:ext cx="7646988" cy="2368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1"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More-useful </a:t>
            </a:r>
            <a:r>
              <a:rPr lang="en-US" sz="3200" dirty="0" err="1">
                <a:solidFill>
                  <a:srgbClr val="1F497D">
                    <a:lumMod val="20000"/>
                    <a:lumOff val="80000"/>
                  </a:srgbClr>
                </a:solidFill>
                <a:latin typeface="Rockwell Extra Bold" pitchFamily="18" charset="0"/>
                <a:cs typeface="Arial" pitchFamily="34" charset="0"/>
              </a:rPr>
              <a:t>Exonucleases</a:t>
            </a:r>
            <a:endParaRPr lang="en-US" sz="3200" dirty="0">
              <a:solidFill>
                <a:srgbClr val="1F497D">
                  <a:lumMod val="20000"/>
                  <a:lumOff val="80000"/>
                </a:srgbClr>
              </a:solidFill>
              <a:latin typeface="Rockwell Extra Bold" pitchFamily="18" charset="0"/>
              <a:cs typeface="Arial" pitchFamily="34" charset="0"/>
            </a:endParaRPr>
          </a:p>
        </p:txBody>
      </p:sp>
      <p:sp>
        <p:nvSpPr>
          <p:cNvPr id="12" name="TextBox 11"/>
          <p:cNvSpPr txBox="1"/>
          <p:nvPr/>
        </p:nvSpPr>
        <p:spPr>
          <a:xfrm>
            <a:off x="457200" y="3615422"/>
            <a:ext cx="8229600" cy="2785378"/>
          </a:xfrm>
          <a:prstGeom prst="rect">
            <a:avLst/>
          </a:prstGeom>
          <a:noFill/>
        </p:spPr>
        <p:txBody>
          <a:bodyPr wrap="square" rtlCol="0">
            <a:spAutoFit/>
          </a:bodyPr>
          <a:lstStyle/>
          <a:p>
            <a:r>
              <a:rPr lang="en-US" sz="700" b="1" dirty="0" err="1">
                <a:solidFill>
                  <a:schemeClr val="tx2">
                    <a:lumMod val="60000"/>
                    <a:lumOff val="40000"/>
                  </a:schemeClr>
                </a:solidFill>
              </a:rPr>
              <a:t>Footnotes:</a:t>
            </a:r>
            <a:r>
              <a:rPr lang="en-US" sz="700" dirty="0" err="1">
                <a:solidFill>
                  <a:schemeClr val="tx2">
                    <a:lumMod val="60000"/>
                    <a:lumOff val="40000"/>
                  </a:schemeClr>
                </a:solidFill>
              </a:rPr>
              <a:t>The</a:t>
            </a:r>
            <a:r>
              <a:rPr lang="en-US" sz="700" dirty="0">
                <a:solidFill>
                  <a:schemeClr val="tx2">
                    <a:lumMod val="60000"/>
                    <a:lumOff val="40000"/>
                  </a:schemeClr>
                </a:solidFill>
              </a:rPr>
              <a:t> ability to act on short extensions and blunt ends operationally distinguishes these enzymes; such ends are conveniently generated by restriction digestion. The 5´ and 3´ extensions tested were 4 </a:t>
            </a:r>
            <a:r>
              <a:rPr lang="en-US" sz="700" dirty="0" err="1">
                <a:solidFill>
                  <a:schemeClr val="tx2">
                    <a:lumMod val="60000"/>
                    <a:lumOff val="40000"/>
                  </a:schemeClr>
                </a:solidFill>
              </a:rPr>
              <a:t>nt</a:t>
            </a:r>
            <a:r>
              <a:rPr lang="en-US" sz="700" dirty="0">
                <a:solidFill>
                  <a:schemeClr val="tx2">
                    <a:lumMod val="60000"/>
                    <a:lumOff val="40000"/>
                  </a:schemeClr>
                </a:solidFill>
              </a:rPr>
              <a:t> in length.</a:t>
            </a:r>
          </a:p>
          <a:p>
            <a:r>
              <a:rPr lang="en-US" sz="700" dirty="0">
                <a:solidFill>
                  <a:schemeClr val="tx2">
                    <a:lumMod val="60000"/>
                    <a:lumOff val="40000"/>
                  </a:schemeClr>
                </a:solidFill>
              </a:rPr>
              <a:t>Partial digestion of </a:t>
            </a:r>
            <a:r>
              <a:rPr lang="en-US" sz="700" dirty="0" err="1">
                <a:solidFill>
                  <a:schemeClr val="tx2">
                    <a:lumMod val="60000"/>
                    <a:lumOff val="40000"/>
                  </a:schemeClr>
                </a:solidFill>
              </a:rPr>
              <a:t>dsDNA</a:t>
            </a:r>
            <a:r>
              <a:rPr lang="en-US" sz="700" dirty="0">
                <a:solidFill>
                  <a:schemeClr val="tx2">
                    <a:lumMod val="60000"/>
                    <a:lumOff val="40000"/>
                  </a:schemeClr>
                </a:solidFill>
              </a:rPr>
              <a:t> by Lambda </a:t>
            </a:r>
            <a:r>
              <a:rPr lang="en-US" sz="700" dirty="0" err="1">
                <a:solidFill>
                  <a:schemeClr val="tx2">
                    <a:lumMod val="60000"/>
                    <a:lumOff val="40000"/>
                  </a:schemeClr>
                </a:solidFill>
              </a:rPr>
              <a:t>Exonuclease</a:t>
            </a:r>
            <a:r>
              <a:rPr lang="en-US" sz="700" dirty="0">
                <a:solidFill>
                  <a:schemeClr val="tx2">
                    <a:lumMod val="60000"/>
                    <a:lumOff val="40000"/>
                  </a:schemeClr>
                </a:solidFill>
              </a:rPr>
              <a:t>, T7 </a:t>
            </a:r>
            <a:r>
              <a:rPr lang="en-US" sz="700" dirty="0" err="1">
                <a:solidFill>
                  <a:schemeClr val="tx2">
                    <a:lumMod val="60000"/>
                    <a:lumOff val="40000"/>
                  </a:schemeClr>
                </a:solidFill>
              </a:rPr>
              <a:t>Exonuclease</a:t>
            </a:r>
            <a:r>
              <a:rPr lang="en-US" sz="700" dirty="0">
                <a:solidFill>
                  <a:schemeClr val="tx2">
                    <a:lumMod val="60000"/>
                    <a:lumOff val="40000"/>
                  </a:schemeClr>
                </a:solidFill>
              </a:rPr>
              <a:t> and </a:t>
            </a:r>
            <a:r>
              <a:rPr lang="en-US" sz="700" dirty="0" err="1">
                <a:solidFill>
                  <a:schemeClr val="tx2">
                    <a:lumMod val="60000"/>
                    <a:lumOff val="40000"/>
                  </a:schemeClr>
                </a:solidFill>
              </a:rPr>
              <a:t>Exonuclease</a:t>
            </a:r>
            <a:r>
              <a:rPr lang="en-US" sz="700" dirty="0">
                <a:solidFill>
                  <a:schemeClr val="tx2">
                    <a:lumMod val="60000"/>
                    <a:lumOff val="40000"/>
                  </a:schemeClr>
                </a:solidFill>
              </a:rPr>
              <a:t> III will produce </a:t>
            </a:r>
            <a:r>
              <a:rPr lang="en-US" sz="700" dirty="0" err="1">
                <a:solidFill>
                  <a:schemeClr val="tx2">
                    <a:lumMod val="60000"/>
                    <a:lumOff val="40000"/>
                  </a:schemeClr>
                </a:solidFill>
              </a:rPr>
              <a:t>dsDNA</a:t>
            </a:r>
            <a:r>
              <a:rPr lang="en-US" sz="700" dirty="0">
                <a:solidFill>
                  <a:schemeClr val="tx2">
                    <a:lumMod val="60000"/>
                    <a:lumOff val="40000"/>
                  </a:schemeClr>
                </a:solidFill>
              </a:rPr>
              <a:t> products with </a:t>
            </a:r>
            <a:r>
              <a:rPr lang="en-US" sz="700" dirty="0" err="1">
                <a:solidFill>
                  <a:schemeClr val="tx2">
                    <a:lumMod val="60000"/>
                    <a:lumOff val="40000"/>
                  </a:schemeClr>
                </a:solidFill>
              </a:rPr>
              <a:t>ss</a:t>
            </a:r>
            <a:r>
              <a:rPr lang="en-US" sz="700" dirty="0">
                <a:solidFill>
                  <a:schemeClr val="tx2">
                    <a:lumMod val="60000"/>
                    <a:lumOff val="40000"/>
                  </a:schemeClr>
                </a:solidFill>
              </a:rPr>
              <a:t> extensions. Complete digestion produces </a:t>
            </a:r>
            <a:r>
              <a:rPr lang="en-US" sz="700" dirty="0" err="1">
                <a:solidFill>
                  <a:schemeClr val="tx2">
                    <a:lumMod val="60000"/>
                    <a:lumOff val="40000"/>
                  </a:schemeClr>
                </a:solidFill>
              </a:rPr>
              <a:t>ssDNA</a:t>
            </a:r>
            <a:r>
              <a:rPr lang="en-US" sz="700" dirty="0">
                <a:solidFill>
                  <a:schemeClr val="tx2">
                    <a:lumMod val="60000"/>
                    <a:lumOff val="40000"/>
                  </a:schemeClr>
                </a:solidFill>
              </a:rPr>
              <a:t> as a product.</a:t>
            </a:r>
          </a:p>
          <a:p>
            <a:r>
              <a:rPr lang="en-US" sz="700" dirty="0">
                <a:solidFill>
                  <a:schemeClr val="tx2">
                    <a:lumMod val="60000"/>
                    <a:lumOff val="40000"/>
                  </a:schemeClr>
                </a:solidFill>
              </a:rPr>
              <a:t>Complete hydrolysis of the preferred substrate will generate the listed products.</a:t>
            </a:r>
          </a:p>
          <a:p>
            <a:r>
              <a:rPr lang="en-US" sz="700" dirty="0">
                <a:solidFill>
                  <a:schemeClr val="tx2">
                    <a:lumMod val="60000"/>
                    <a:lumOff val="40000"/>
                  </a:schemeClr>
                </a:solidFill>
              </a:rPr>
              <a:t>The ability of an </a:t>
            </a:r>
            <a:r>
              <a:rPr lang="en-US" sz="700" dirty="0" err="1">
                <a:solidFill>
                  <a:schemeClr val="tx2">
                    <a:lumMod val="60000"/>
                    <a:lumOff val="40000"/>
                  </a:schemeClr>
                </a:solidFill>
              </a:rPr>
              <a:t>exonuclease</a:t>
            </a:r>
            <a:r>
              <a:rPr lang="en-US" sz="700" dirty="0">
                <a:solidFill>
                  <a:schemeClr val="tx2">
                    <a:lumMod val="60000"/>
                    <a:lumOff val="40000"/>
                  </a:schemeClr>
                </a:solidFill>
              </a:rPr>
              <a:t> to initiate on the end of the preferred DNA substrate (</a:t>
            </a:r>
            <a:r>
              <a:rPr lang="en-US" sz="700" dirty="0" err="1">
                <a:solidFill>
                  <a:schemeClr val="tx2">
                    <a:lumMod val="60000"/>
                    <a:lumOff val="40000"/>
                  </a:schemeClr>
                </a:solidFill>
              </a:rPr>
              <a:t>ss</a:t>
            </a:r>
            <a:r>
              <a:rPr lang="en-US" sz="700" dirty="0">
                <a:solidFill>
                  <a:schemeClr val="tx2">
                    <a:lumMod val="60000"/>
                    <a:lumOff val="40000"/>
                  </a:schemeClr>
                </a:solidFill>
              </a:rPr>
              <a:t> or </a:t>
            </a:r>
            <a:r>
              <a:rPr lang="en-US" sz="700" dirty="0" err="1">
                <a:solidFill>
                  <a:schemeClr val="tx2">
                    <a:lumMod val="60000"/>
                    <a:lumOff val="40000"/>
                  </a:schemeClr>
                </a:solidFill>
              </a:rPr>
              <a:t>ds</a:t>
            </a:r>
            <a:r>
              <a:rPr lang="en-US" sz="700" dirty="0">
                <a:solidFill>
                  <a:schemeClr val="tx2">
                    <a:lumMod val="60000"/>
                    <a:lumOff val="40000"/>
                  </a:schemeClr>
                </a:solidFill>
              </a:rPr>
              <a:t>) containing a </a:t>
            </a:r>
            <a:r>
              <a:rPr lang="en-US" sz="700" dirty="0" err="1">
                <a:solidFill>
                  <a:schemeClr val="tx2">
                    <a:lumMod val="60000"/>
                    <a:lumOff val="40000"/>
                  </a:schemeClr>
                </a:solidFill>
              </a:rPr>
              <a:t>fluorescein</a:t>
            </a:r>
            <a:r>
              <a:rPr lang="en-US" sz="700" dirty="0">
                <a:solidFill>
                  <a:schemeClr val="tx2">
                    <a:lumMod val="60000"/>
                    <a:lumOff val="40000"/>
                  </a:schemeClr>
                </a:solidFill>
              </a:rPr>
              <a:t> group linked to either the 5´ or 3´ end. </a:t>
            </a:r>
            <a:r>
              <a:rPr lang="en-US" sz="700" dirty="0" err="1">
                <a:solidFill>
                  <a:schemeClr val="tx2">
                    <a:lumMod val="60000"/>
                    <a:lumOff val="40000"/>
                  </a:schemeClr>
                </a:solidFill>
              </a:rPr>
              <a:t>Phosphoramidite</a:t>
            </a:r>
            <a:r>
              <a:rPr lang="en-US" sz="700" dirty="0">
                <a:solidFill>
                  <a:schemeClr val="tx2">
                    <a:lumMod val="60000"/>
                    <a:lumOff val="40000"/>
                  </a:schemeClr>
                </a:solidFill>
              </a:rPr>
              <a:t> chemistry was used to synthesize </a:t>
            </a:r>
            <a:r>
              <a:rPr lang="en-US" sz="700" dirty="0" err="1">
                <a:solidFill>
                  <a:schemeClr val="tx2">
                    <a:lumMod val="60000"/>
                    <a:lumOff val="40000"/>
                  </a:schemeClr>
                </a:solidFill>
              </a:rPr>
              <a:t>oligonucleotides</a:t>
            </a:r>
            <a:r>
              <a:rPr lang="en-US" sz="700" dirty="0">
                <a:solidFill>
                  <a:schemeClr val="tx2">
                    <a:lumMod val="60000"/>
                    <a:lumOff val="40000"/>
                  </a:schemeClr>
                </a:solidFill>
              </a:rPr>
              <a:t> with FAM groups. The 5´ FAM was added to the </a:t>
            </a:r>
            <a:r>
              <a:rPr lang="en-US" sz="700" dirty="0" err="1">
                <a:solidFill>
                  <a:schemeClr val="tx2">
                    <a:lumMod val="60000"/>
                    <a:lumOff val="40000"/>
                  </a:schemeClr>
                </a:solidFill>
              </a:rPr>
              <a:t>oligonucleotide</a:t>
            </a:r>
            <a:r>
              <a:rPr lang="en-US" sz="700" dirty="0">
                <a:solidFill>
                  <a:schemeClr val="tx2">
                    <a:lumMod val="60000"/>
                    <a:lumOff val="40000"/>
                  </a:schemeClr>
                </a:solidFill>
              </a:rPr>
              <a:t> as a [(3´,6´-dipivaloylfluoresceinyl)-6-carboxamidohexyl]-l-O-(2-cyanoethyl)-(N,N-</a:t>
            </a:r>
            <a:r>
              <a:rPr lang="en-US" sz="700" dirty="0" err="1">
                <a:solidFill>
                  <a:schemeClr val="tx2">
                    <a:lumMod val="60000"/>
                    <a:lumOff val="40000"/>
                  </a:schemeClr>
                </a:solidFill>
              </a:rPr>
              <a:t>diisopropyl</a:t>
            </a:r>
            <a:r>
              <a:rPr lang="en-US" sz="700" dirty="0">
                <a:solidFill>
                  <a:schemeClr val="tx2">
                    <a:lumMod val="60000"/>
                    <a:lumOff val="40000"/>
                  </a:schemeClr>
                </a:solidFill>
              </a:rPr>
              <a:t>)-</a:t>
            </a:r>
            <a:r>
              <a:rPr lang="en-US" sz="700" dirty="0" err="1">
                <a:solidFill>
                  <a:schemeClr val="tx2">
                    <a:lumMod val="60000"/>
                    <a:lumOff val="40000"/>
                  </a:schemeClr>
                </a:solidFill>
              </a:rPr>
              <a:t>phosphoramidite</a:t>
            </a:r>
            <a:r>
              <a:rPr lang="en-US" sz="700" dirty="0">
                <a:solidFill>
                  <a:schemeClr val="tx2">
                    <a:lumMod val="60000"/>
                    <a:lumOff val="40000"/>
                  </a:schemeClr>
                </a:solidFill>
              </a:rPr>
              <a:t> while the 3´ FAM </a:t>
            </a:r>
            <a:r>
              <a:rPr lang="en-US" sz="700" dirty="0" err="1">
                <a:solidFill>
                  <a:schemeClr val="tx2">
                    <a:lumMod val="60000"/>
                    <a:lumOff val="40000"/>
                  </a:schemeClr>
                </a:solidFill>
              </a:rPr>
              <a:t>oligonucleotides</a:t>
            </a:r>
            <a:r>
              <a:rPr lang="en-US" sz="700" dirty="0">
                <a:solidFill>
                  <a:schemeClr val="tx2">
                    <a:lumMod val="60000"/>
                    <a:lumOff val="40000"/>
                  </a:schemeClr>
                </a:solidFill>
              </a:rPr>
              <a:t> were synthesized using the 1-dimethoxytrityloxy-3-[O-(N-</a:t>
            </a:r>
            <a:r>
              <a:rPr lang="en-US" sz="700" dirty="0" err="1">
                <a:solidFill>
                  <a:schemeClr val="tx2">
                    <a:lumMod val="60000"/>
                    <a:lumOff val="40000"/>
                  </a:schemeClr>
                </a:solidFill>
              </a:rPr>
              <a:t>carboxy</a:t>
            </a:r>
            <a:r>
              <a:rPr lang="en-US" sz="700" dirty="0">
                <a:solidFill>
                  <a:schemeClr val="tx2">
                    <a:lumMod val="60000"/>
                    <a:lumOff val="40000"/>
                  </a:schemeClr>
                </a:solidFill>
              </a:rPr>
              <a:t>-(</a:t>
            </a:r>
            <a:r>
              <a:rPr lang="en-US" sz="700" dirty="0" err="1">
                <a:solidFill>
                  <a:schemeClr val="tx2">
                    <a:lumMod val="60000"/>
                    <a:lumOff val="40000"/>
                  </a:schemeClr>
                </a:solidFill>
              </a:rPr>
              <a:t>di</a:t>
            </a:r>
            <a:r>
              <a:rPr lang="en-US" sz="700" dirty="0">
                <a:solidFill>
                  <a:schemeClr val="tx2">
                    <a:lumMod val="60000"/>
                    <a:lumOff val="40000"/>
                  </a:schemeClr>
                </a:solidFill>
              </a:rPr>
              <a:t>-O-</a:t>
            </a:r>
            <a:r>
              <a:rPr lang="en-US" sz="700" dirty="0" err="1">
                <a:solidFill>
                  <a:schemeClr val="tx2">
                    <a:lumMod val="60000"/>
                    <a:lumOff val="40000"/>
                  </a:schemeClr>
                </a:solidFill>
              </a:rPr>
              <a:t>pivaloyl</a:t>
            </a:r>
            <a:r>
              <a:rPr lang="en-US" sz="700" dirty="0">
                <a:solidFill>
                  <a:schemeClr val="tx2">
                    <a:lumMod val="60000"/>
                    <a:lumOff val="40000"/>
                  </a:schemeClr>
                </a:solidFill>
              </a:rPr>
              <a:t>-</a:t>
            </a:r>
            <a:r>
              <a:rPr lang="en-US" sz="700" dirty="0" err="1">
                <a:solidFill>
                  <a:schemeClr val="tx2">
                    <a:lumMod val="60000"/>
                    <a:lumOff val="40000"/>
                  </a:schemeClr>
                </a:solidFill>
              </a:rPr>
              <a:t>fluorescein</a:t>
            </a:r>
            <a:r>
              <a:rPr lang="en-US" sz="700" dirty="0">
                <a:solidFill>
                  <a:schemeClr val="tx2">
                    <a:lumMod val="60000"/>
                    <a:lumOff val="40000"/>
                  </a:schemeClr>
                </a:solidFill>
              </a:rPr>
              <a:t>)-3-aminopropyl)]-propyl-2-O-succinoyl-long chain </a:t>
            </a:r>
            <a:r>
              <a:rPr lang="en-US" sz="700" dirty="0" err="1">
                <a:solidFill>
                  <a:schemeClr val="tx2">
                    <a:lumMod val="60000"/>
                    <a:lumOff val="40000"/>
                  </a:schemeClr>
                </a:solidFill>
              </a:rPr>
              <a:t>alkylamino</a:t>
            </a:r>
            <a:r>
              <a:rPr lang="en-US" sz="700" dirty="0">
                <a:solidFill>
                  <a:schemeClr val="tx2">
                    <a:lumMod val="60000"/>
                    <a:lumOff val="40000"/>
                  </a:schemeClr>
                </a:solidFill>
              </a:rPr>
              <a:t>-CPG support.</a:t>
            </a:r>
          </a:p>
          <a:p>
            <a:r>
              <a:rPr lang="en-US" sz="700" dirty="0">
                <a:solidFill>
                  <a:schemeClr val="tx2">
                    <a:lumMod val="60000"/>
                    <a:lumOff val="40000"/>
                  </a:schemeClr>
                </a:solidFill>
              </a:rPr>
              <a:t>The S</a:t>
            </a:r>
            <a:r>
              <a:rPr lang="en-US" sz="700" baseline="-25000" dirty="0">
                <a:solidFill>
                  <a:schemeClr val="tx2">
                    <a:lumMod val="60000"/>
                    <a:lumOff val="40000"/>
                  </a:schemeClr>
                </a:solidFill>
              </a:rPr>
              <a:t>p</a:t>
            </a:r>
            <a:r>
              <a:rPr lang="en-US" sz="700" dirty="0">
                <a:solidFill>
                  <a:schemeClr val="tx2">
                    <a:lumMod val="60000"/>
                    <a:lumOff val="40000"/>
                  </a:schemeClr>
                </a:solidFill>
              </a:rPr>
              <a:t> stereoisomer of the </a:t>
            </a:r>
            <a:r>
              <a:rPr lang="en-US" sz="700" dirty="0" err="1">
                <a:solidFill>
                  <a:schemeClr val="tx2">
                    <a:lumMod val="60000"/>
                    <a:lumOff val="40000"/>
                  </a:schemeClr>
                </a:solidFill>
              </a:rPr>
              <a:t>phosphorothioate</a:t>
            </a:r>
            <a:r>
              <a:rPr lang="en-US" sz="700" dirty="0">
                <a:solidFill>
                  <a:schemeClr val="tx2">
                    <a:lumMod val="60000"/>
                    <a:lumOff val="40000"/>
                  </a:schemeClr>
                </a:solidFill>
              </a:rPr>
              <a:t> linkage is known to greatly inhibit cleavage of many nucleases while the </a:t>
            </a:r>
            <a:r>
              <a:rPr lang="en-US" sz="700" dirty="0" err="1">
                <a:solidFill>
                  <a:schemeClr val="tx2">
                    <a:lumMod val="60000"/>
                    <a:lumOff val="40000"/>
                  </a:schemeClr>
                </a:solidFill>
              </a:rPr>
              <a:t>R</a:t>
            </a:r>
            <a:r>
              <a:rPr lang="en-US" sz="700" baseline="-25000" dirty="0" err="1">
                <a:solidFill>
                  <a:schemeClr val="tx2">
                    <a:lumMod val="60000"/>
                    <a:lumOff val="40000"/>
                  </a:schemeClr>
                </a:solidFill>
              </a:rPr>
              <a:t>p</a:t>
            </a:r>
            <a:r>
              <a:rPr lang="en-US" sz="700" dirty="0">
                <a:solidFill>
                  <a:schemeClr val="tx2">
                    <a:lumMod val="60000"/>
                    <a:lumOff val="40000"/>
                  </a:schemeClr>
                </a:solidFill>
              </a:rPr>
              <a:t> stereoisomer shows either no or less inhibition. Synthetic </a:t>
            </a:r>
            <a:r>
              <a:rPr lang="en-US" sz="700" dirty="0" err="1">
                <a:solidFill>
                  <a:schemeClr val="tx2">
                    <a:lumMod val="60000"/>
                    <a:lumOff val="40000"/>
                  </a:schemeClr>
                </a:solidFill>
              </a:rPr>
              <a:t>oligonucleotides</a:t>
            </a:r>
            <a:r>
              <a:rPr lang="en-US" sz="700" dirty="0">
                <a:solidFill>
                  <a:schemeClr val="tx2">
                    <a:lumMod val="60000"/>
                    <a:lumOff val="40000"/>
                  </a:schemeClr>
                </a:solidFill>
              </a:rPr>
              <a:t> containing approximately an equal ratio of both isomers necessitates the use of multiple </a:t>
            </a:r>
            <a:r>
              <a:rPr lang="en-US" sz="700" dirty="0" err="1">
                <a:solidFill>
                  <a:schemeClr val="tx2">
                    <a:lumMod val="60000"/>
                    <a:lumOff val="40000"/>
                  </a:schemeClr>
                </a:solidFill>
              </a:rPr>
              <a:t>phosphorothioates</a:t>
            </a:r>
            <a:r>
              <a:rPr lang="en-US" sz="700" dirty="0">
                <a:solidFill>
                  <a:schemeClr val="tx2">
                    <a:lumMod val="60000"/>
                    <a:lumOff val="40000"/>
                  </a:schemeClr>
                </a:solidFill>
              </a:rPr>
              <a:t> to block cleavage. The presence of 6 consecutive </a:t>
            </a:r>
            <a:r>
              <a:rPr lang="en-US" sz="700" dirty="0" err="1">
                <a:solidFill>
                  <a:schemeClr val="tx2">
                    <a:lumMod val="60000"/>
                    <a:lumOff val="40000"/>
                  </a:schemeClr>
                </a:solidFill>
              </a:rPr>
              <a:t>phosphorothioates</a:t>
            </a:r>
            <a:r>
              <a:rPr lang="en-US" sz="700" dirty="0">
                <a:solidFill>
                  <a:schemeClr val="tx2">
                    <a:lumMod val="60000"/>
                    <a:lumOff val="40000"/>
                  </a:schemeClr>
                </a:solidFill>
              </a:rPr>
              <a:t> on </a:t>
            </a:r>
            <a:r>
              <a:rPr lang="en-US" sz="700" dirty="0" err="1">
                <a:solidFill>
                  <a:schemeClr val="tx2">
                    <a:lumMod val="60000"/>
                    <a:lumOff val="40000"/>
                  </a:schemeClr>
                </a:solidFill>
              </a:rPr>
              <a:t>oligonucleotides</a:t>
            </a:r>
            <a:r>
              <a:rPr lang="en-US" sz="700" dirty="0">
                <a:solidFill>
                  <a:schemeClr val="tx2">
                    <a:lumMod val="60000"/>
                    <a:lumOff val="40000"/>
                  </a:schemeClr>
                </a:solidFill>
              </a:rPr>
              <a:t> of the preferred substrate blocked all </a:t>
            </a:r>
            <a:r>
              <a:rPr lang="en-US" sz="700" dirty="0" err="1">
                <a:solidFill>
                  <a:schemeClr val="tx2">
                    <a:lumMod val="60000"/>
                    <a:lumOff val="40000"/>
                  </a:schemeClr>
                </a:solidFill>
              </a:rPr>
              <a:t>exonucleases</a:t>
            </a:r>
            <a:r>
              <a:rPr lang="en-US" sz="700" dirty="0">
                <a:solidFill>
                  <a:schemeClr val="tx2">
                    <a:lumMod val="60000"/>
                    <a:lumOff val="40000"/>
                  </a:schemeClr>
                </a:solidFill>
              </a:rPr>
              <a:t> effectively (5% or less degradation) except T7 </a:t>
            </a:r>
            <a:r>
              <a:rPr lang="en-US" sz="700" dirty="0" err="1">
                <a:solidFill>
                  <a:schemeClr val="tx2">
                    <a:lumMod val="60000"/>
                    <a:lumOff val="40000"/>
                  </a:schemeClr>
                </a:solidFill>
              </a:rPr>
              <a:t>exonuclease</a:t>
            </a:r>
            <a:r>
              <a:rPr lang="en-US" sz="700" dirty="0">
                <a:solidFill>
                  <a:schemeClr val="tx2">
                    <a:lumMod val="60000"/>
                    <a:lumOff val="40000"/>
                  </a:schemeClr>
                </a:solidFill>
              </a:rPr>
              <a:t> which had approximately 10% cleavage. Analysis of </a:t>
            </a:r>
            <a:r>
              <a:rPr lang="en-US" sz="700" dirty="0" err="1">
                <a:solidFill>
                  <a:schemeClr val="tx2">
                    <a:lumMod val="60000"/>
                    <a:lumOff val="40000"/>
                  </a:schemeClr>
                </a:solidFill>
              </a:rPr>
              <a:t>exonucleases</a:t>
            </a:r>
            <a:r>
              <a:rPr lang="en-US" sz="700" dirty="0">
                <a:solidFill>
                  <a:schemeClr val="tx2">
                    <a:lumMod val="60000"/>
                    <a:lumOff val="40000"/>
                  </a:schemeClr>
                </a:solidFill>
              </a:rPr>
              <a:t> with </a:t>
            </a:r>
            <a:r>
              <a:rPr lang="en-US" sz="700" dirty="0" err="1">
                <a:solidFill>
                  <a:schemeClr val="tx2">
                    <a:lumMod val="60000"/>
                    <a:lumOff val="40000"/>
                  </a:schemeClr>
                </a:solidFill>
              </a:rPr>
              <a:t>oligonucleotides</a:t>
            </a:r>
            <a:r>
              <a:rPr lang="en-US" sz="700" dirty="0">
                <a:solidFill>
                  <a:schemeClr val="tx2">
                    <a:lumMod val="60000"/>
                    <a:lumOff val="40000"/>
                  </a:schemeClr>
                </a:solidFill>
              </a:rPr>
              <a:t> having either one or two consecutive </a:t>
            </a:r>
            <a:r>
              <a:rPr lang="en-US" sz="700" dirty="0" err="1">
                <a:solidFill>
                  <a:schemeClr val="tx2">
                    <a:lumMod val="60000"/>
                    <a:lumOff val="40000"/>
                  </a:schemeClr>
                </a:solidFill>
              </a:rPr>
              <a:t>phosphorothioates</a:t>
            </a:r>
            <a:r>
              <a:rPr lang="en-US" sz="700" dirty="0">
                <a:solidFill>
                  <a:schemeClr val="tx2">
                    <a:lumMod val="60000"/>
                    <a:lumOff val="40000"/>
                  </a:schemeClr>
                </a:solidFill>
              </a:rPr>
              <a:t> revealed significant degradation (not shown).</a:t>
            </a:r>
          </a:p>
          <a:p>
            <a:r>
              <a:rPr lang="en-US" sz="700" dirty="0">
                <a:solidFill>
                  <a:schemeClr val="tx2">
                    <a:lumMod val="60000"/>
                    <a:lumOff val="40000"/>
                  </a:schemeClr>
                </a:solidFill>
              </a:rPr>
              <a:t>The amount of enzyme in units to cleave greater than 90% of 2 µM 35 </a:t>
            </a:r>
            <a:r>
              <a:rPr lang="en-US" sz="700" dirty="0" err="1">
                <a:solidFill>
                  <a:schemeClr val="tx2">
                    <a:lumMod val="60000"/>
                    <a:lumOff val="40000"/>
                  </a:schemeClr>
                </a:solidFill>
              </a:rPr>
              <a:t>mer</a:t>
            </a:r>
            <a:r>
              <a:rPr lang="en-US" sz="700" dirty="0">
                <a:solidFill>
                  <a:schemeClr val="tx2">
                    <a:lumMod val="60000"/>
                    <a:lumOff val="40000"/>
                  </a:schemeClr>
                </a:solidFill>
              </a:rPr>
              <a:t> </a:t>
            </a:r>
            <a:r>
              <a:rPr lang="en-US" sz="700" dirty="0" err="1">
                <a:solidFill>
                  <a:schemeClr val="tx2">
                    <a:lumMod val="60000"/>
                    <a:lumOff val="40000"/>
                  </a:schemeClr>
                </a:solidFill>
              </a:rPr>
              <a:t>oligonucleotide</a:t>
            </a:r>
            <a:r>
              <a:rPr lang="en-US" sz="700" dirty="0">
                <a:solidFill>
                  <a:schemeClr val="tx2">
                    <a:lumMod val="60000"/>
                    <a:lumOff val="40000"/>
                  </a:schemeClr>
                </a:solidFill>
              </a:rPr>
              <a:t> (s) of the preferred substrate (</a:t>
            </a:r>
            <a:r>
              <a:rPr lang="en-US" sz="700" dirty="0" err="1">
                <a:solidFill>
                  <a:schemeClr val="tx2">
                    <a:lumMod val="60000"/>
                    <a:lumOff val="40000"/>
                  </a:schemeClr>
                </a:solidFill>
              </a:rPr>
              <a:t>ss</a:t>
            </a:r>
            <a:r>
              <a:rPr lang="en-US" sz="700" dirty="0">
                <a:solidFill>
                  <a:schemeClr val="tx2">
                    <a:lumMod val="60000"/>
                    <a:lumOff val="40000"/>
                  </a:schemeClr>
                </a:solidFill>
              </a:rPr>
              <a:t> or </a:t>
            </a:r>
            <a:r>
              <a:rPr lang="en-US" sz="700" dirty="0" err="1">
                <a:solidFill>
                  <a:schemeClr val="tx2">
                    <a:lumMod val="60000"/>
                    <a:lumOff val="40000"/>
                  </a:schemeClr>
                </a:solidFill>
              </a:rPr>
              <a:t>dsDNA</a:t>
            </a:r>
            <a:r>
              <a:rPr lang="en-US" sz="700" dirty="0">
                <a:solidFill>
                  <a:schemeClr val="tx2">
                    <a:lumMod val="60000"/>
                    <a:lumOff val="40000"/>
                  </a:schemeClr>
                </a:solidFill>
              </a:rPr>
              <a:t>) in a 10 µl volume using the unit digest reaction conditions. All enzymes tested except for </a:t>
            </a:r>
            <a:r>
              <a:rPr lang="en-US" sz="700" dirty="0" err="1">
                <a:solidFill>
                  <a:schemeClr val="tx2">
                    <a:lumMod val="60000"/>
                    <a:lumOff val="40000"/>
                  </a:schemeClr>
                </a:solidFill>
              </a:rPr>
              <a:t>Exo</a:t>
            </a:r>
            <a:r>
              <a:rPr lang="en-US" sz="700" dirty="0">
                <a:solidFill>
                  <a:schemeClr val="tx2">
                    <a:lumMod val="60000"/>
                    <a:lumOff val="40000"/>
                  </a:schemeClr>
                </a:solidFill>
              </a:rPr>
              <a:t> T and </a:t>
            </a:r>
            <a:r>
              <a:rPr lang="en-US" sz="700" dirty="0" err="1">
                <a:solidFill>
                  <a:schemeClr val="tx2">
                    <a:lumMod val="60000"/>
                    <a:lumOff val="40000"/>
                  </a:schemeClr>
                </a:solidFill>
              </a:rPr>
              <a:t>RecJ</a:t>
            </a:r>
            <a:r>
              <a:rPr lang="en-US" sz="700" baseline="-25000" dirty="0" err="1">
                <a:solidFill>
                  <a:schemeClr val="tx2">
                    <a:lumMod val="60000"/>
                    <a:lumOff val="40000"/>
                  </a:schemeClr>
                </a:solidFill>
              </a:rPr>
              <a:t>f</a:t>
            </a:r>
            <a:r>
              <a:rPr lang="en-US" sz="700" dirty="0">
                <a:solidFill>
                  <a:schemeClr val="tx2">
                    <a:lumMod val="60000"/>
                    <a:lumOff val="40000"/>
                  </a:schemeClr>
                </a:solidFill>
              </a:rPr>
              <a:t> could effectively cleave the substrate to completion.</a:t>
            </a:r>
          </a:p>
          <a:p>
            <a:r>
              <a:rPr lang="en-US" sz="700" dirty="0">
                <a:solidFill>
                  <a:schemeClr val="tx2">
                    <a:lumMod val="60000"/>
                    <a:lumOff val="40000"/>
                  </a:schemeClr>
                </a:solidFill>
              </a:rPr>
              <a:t>Lambda </a:t>
            </a:r>
            <a:r>
              <a:rPr lang="en-US" sz="700" dirty="0" err="1">
                <a:solidFill>
                  <a:schemeClr val="tx2">
                    <a:lumMod val="60000"/>
                    <a:lumOff val="40000"/>
                  </a:schemeClr>
                </a:solidFill>
              </a:rPr>
              <a:t>exonuclease</a:t>
            </a:r>
            <a:r>
              <a:rPr lang="en-US" sz="700" dirty="0">
                <a:solidFill>
                  <a:schemeClr val="tx2">
                    <a:lumMod val="60000"/>
                    <a:lumOff val="40000"/>
                  </a:schemeClr>
                </a:solidFill>
              </a:rPr>
              <a:t> has a strong preference for initiating degradation on </a:t>
            </a:r>
            <a:r>
              <a:rPr lang="en-US" sz="700" dirty="0" err="1">
                <a:solidFill>
                  <a:schemeClr val="tx2">
                    <a:lumMod val="60000"/>
                    <a:lumOff val="40000"/>
                  </a:schemeClr>
                </a:solidFill>
              </a:rPr>
              <a:t>dsDNA</a:t>
            </a:r>
            <a:r>
              <a:rPr lang="en-US" sz="700" dirty="0">
                <a:solidFill>
                  <a:schemeClr val="tx2">
                    <a:lumMod val="60000"/>
                    <a:lumOff val="40000"/>
                  </a:schemeClr>
                </a:solidFill>
              </a:rPr>
              <a:t> containing a 5´ phosphate. Thus, if linear </a:t>
            </a:r>
            <a:r>
              <a:rPr lang="en-US" sz="700" dirty="0" err="1">
                <a:solidFill>
                  <a:schemeClr val="tx2">
                    <a:lumMod val="60000"/>
                    <a:lumOff val="40000"/>
                  </a:schemeClr>
                </a:solidFill>
              </a:rPr>
              <a:t>dsDNA</a:t>
            </a:r>
            <a:r>
              <a:rPr lang="en-US" sz="700" dirty="0">
                <a:solidFill>
                  <a:schemeClr val="tx2">
                    <a:lumMod val="60000"/>
                    <a:lumOff val="40000"/>
                  </a:schemeClr>
                </a:solidFill>
              </a:rPr>
              <a:t> has a 5´ phosphate at one end and lacks a 5´ phosphate on the other end, then lambda </a:t>
            </a:r>
            <a:r>
              <a:rPr lang="en-US" sz="700" dirty="0" err="1">
                <a:solidFill>
                  <a:schemeClr val="tx2">
                    <a:lumMod val="60000"/>
                    <a:lumOff val="40000"/>
                  </a:schemeClr>
                </a:solidFill>
              </a:rPr>
              <a:t>exonuclease</a:t>
            </a:r>
            <a:r>
              <a:rPr lang="en-US" sz="700" dirty="0">
                <a:solidFill>
                  <a:schemeClr val="tx2">
                    <a:lumMod val="60000"/>
                    <a:lumOff val="40000"/>
                  </a:schemeClr>
                </a:solidFill>
              </a:rPr>
              <a:t> will preferentially degrade the DNA from the </a:t>
            </a:r>
            <a:r>
              <a:rPr lang="en-US" sz="700" dirty="0" err="1">
                <a:solidFill>
                  <a:schemeClr val="tx2">
                    <a:lumMod val="60000"/>
                    <a:lumOff val="40000"/>
                  </a:schemeClr>
                </a:solidFill>
              </a:rPr>
              <a:t>phosphorylated</a:t>
            </a:r>
            <a:r>
              <a:rPr lang="en-US" sz="700" dirty="0">
                <a:solidFill>
                  <a:schemeClr val="tx2">
                    <a:lumMod val="60000"/>
                    <a:lumOff val="40000"/>
                  </a:schemeClr>
                </a:solidFill>
              </a:rPr>
              <a:t> end.</a:t>
            </a:r>
          </a:p>
          <a:p>
            <a:r>
              <a:rPr lang="en-US" sz="700" dirty="0">
                <a:solidFill>
                  <a:schemeClr val="tx2">
                    <a:lumMod val="60000"/>
                    <a:lumOff val="40000"/>
                  </a:schemeClr>
                </a:solidFill>
              </a:rPr>
              <a:t>It has been reported that the initial, first product hydrolyzed from </a:t>
            </a:r>
            <a:r>
              <a:rPr lang="en-US" sz="700" dirty="0" err="1">
                <a:solidFill>
                  <a:schemeClr val="tx2">
                    <a:lumMod val="60000"/>
                    <a:lumOff val="40000"/>
                  </a:schemeClr>
                </a:solidFill>
              </a:rPr>
              <a:t>dsDNA</a:t>
            </a:r>
            <a:r>
              <a:rPr lang="en-US" sz="700" dirty="0">
                <a:solidFill>
                  <a:schemeClr val="tx2">
                    <a:lumMod val="60000"/>
                    <a:lumOff val="40000"/>
                  </a:schemeClr>
                </a:solidFill>
              </a:rPr>
              <a:t> by T7 </a:t>
            </a:r>
            <a:r>
              <a:rPr lang="en-US" sz="700" dirty="0" err="1">
                <a:solidFill>
                  <a:schemeClr val="tx2">
                    <a:lumMod val="60000"/>
                    <a:lumOff val="40000"/>
                  </a:schemeClr>
                </a:solidFill>
              </a:rPr>
              <a:t>Exonuclease</a:t>
            </a:r>
            <a:r>
              <a:rPr lang="en-US" sz="700" dirty="0">
                <a:solidFill>
                  <a:schemeClr val="tx2">
                    <a:lumMod val="60000"/>
                    <a:lumOff val="40000"/>
                  </a:schemeClr>
                </a:solidFill>
              </a:rPr>
              <a:t> is a </a:t>
            </a:r>
            <a:r>
              <a:rPr lang="en-US" sz="700" dirty="0" err="1">
                <a:solidFill>
                  <a:schemeClr val="tx2">
                    <a:lumMod val="60000"/>
                    <a:lumOff val="40000"/>
                  </a:schemeClr>
                </a:solidFill>
              </a:rPr>
              <a:t>dinucleotide</a:t>
            </a:r>
            <a:r>
              <a:rPr lang="en-US" sz="700" dirty="0">
                <a:solidFill>
                  <a:schemeClr val="tx2">
                    <a:lumMod val="60000"/>
                    <a:lumOff val="40000"/>
                  </a:schemeClr>
                </a:solidFill>
              </a:rPr>
              <a:t>. Subsequent hydrolytic cleavage releases </a:t>
            </a:r>
            <a:r>
              <a:rPr lang="en-US" sz="700" dirty="0" err="1">
                <a:solidFill>
                  <a:schemeClr val="tx2">
                    <a:lumMod val="60000"/>
                    <a:lumOff val="40000"/>
                  </a:schemeClr>
                </a:solidFill>
              </a:rPr>
              <a:t>dNMP</a:t>
            </a:r>
            <a:r>
              <a:rPr lang="en-US" sz="700" dirty="0">
                <a:solidFill>
                  <a:schemeClr val="tx2">
                    <a:lumMod val="60000"/>
                    <a:lumOff val="40000"/>
                  </a:schemeClr>
                </a:solidFill>
              </a:rPr>
              <a:t>.</a:t>
            </a:r>
          </a:p>
          <a:p>
            <a:r>
              <a:rPr lang="en-US" sz="700" dirty="0" err="1">
                <a:solidFill>
                  <a:schemeClr val="tx2">
                    <a:lumMod val="60000"/>
                    <a:lumOff val="40000"/>
                  </a:schemeClr>
                </a:solidFill>
              </a:rPr>
              <a:t>RecJf</a:t>
            </a:r>
            <a:r>
              <a:rPr lang="en-US" sz="700" dirty="0">
                <a:solidFill>
                  <a:schemeClr val="tx2">
                    <a:lumMod val="60000"/>
                    <a:lumOff val="40000"/>
                  </a:schemeClr>
                </a:solidFill>
              </a:rPr>
              <a:t> is not suitable for making 5´ extensions blunt. </a:t>
            </a:r>
            <a:r>
              <a:rPr lang="en-US" sz="700" dirty="0" err="1">
                <a:solidFill>
                  <a:schemeClr val="tx2">
                    <a:lumMod val="60000"/>
                    <a:lumOff val="40000"/>
                  </a:schemeClr>
                </a:solidFill>
              </a:rPr>
              <a:t>Exo</a:t>
            </a:r>
            <a:r>
              <a:rPr lang="en-US" sz="700" dirty="0">
                <a:solidFill>
                  <a:schemeClr val="tx2">
                    <a:lumMod val="60000"/>
                    <a:lumOff val="40000"/>
                  </a:schemeClr>
                </a:solidFill>
              </a:rPr>
              <a:t> I is not suitable for making 3´ extensions blunt. Both </a:t>
            </a:r>
            <a:r>
              <a:rPr lang="en-US" sz="700" dirty="0" err="1">
                <a:solidFill>
                  <a:schemeClr val="tx2">
                    <a:lumMod val="60000"/>
                    <a:lumOff val="40000"/>
                  </a:schemeClr>
                </a:solidFill>
              </a:rPr>
              <a:t>RecJf</a:t>
            </a:r>
            <a:r>
              <a:rPr lang="en-US" sz="700" dirty="0">
                <a:solidFill>
                  <a:schemeClr val="tx2">
                    <a:lumMod val="60000"/>
                    <a:lumOff val="40000"/>
                  </a:schemeClr>
                </a:solidFill>
              </a:rPr>
              <a:t> and </a:t>
            </a:r>
            <a:r>
              <a:rPr lang="en-US" sz="700" dirty="0" err="1">
                <a:solidFill>
                  <a:schemeClr val="tx2">
                    <a:lumMod val="60000"/>
                    <a:lumOff val="40000"/>
                  </a:schemeClr>
                </a:solidFill>
              </a:rPr>
              <a:t>Exo</a:t>
            </a:r>
            <a:r>
              <a:rPr lang="en-US" sz="700" dirty="0">
                <a:solidFill>
                  <a:schemeClr val="tx2">
                    <a:lumMod val="60000"/>
                    <a:lumOff val="40000"/>
                  </a:schemeClr>
                </a:solidFill>
              </a:rPr>
              <a:t> I require longer length </a:t>
            </a:r>
            <a:r>
              <a:rPr lang="en-US" sz="700" dirty="0" err="1">
                <a:solidFill>
                  <a:schemeClr val="tx2">
                    <a:lumMod val="60000"/>
                    <a:lumOff val="40000"/>
                  </a:schemeClr>
                </a:solidFill>
              </a:rPr>
              <a:t>ssDNA</a:t>
            </a:r>
            <a:r>
              <a:rPr lang="en-US" sz="700" dirty="0">
                <a:solidFill>
                  <a:schemeClr val="tx2">
                    <a:lumMod val="60000"/>
                    <a:lumOff val="40000"/>
                  </a:schemeClr>
                </a:solidFill>
              </a:rPr>
              <a:t> extensions to initiate than those generated by restriction enzymes.</a:t>
            </a:r>
          </a:p>
          <a:p>
            <a:r>
              <a:rPr lang="en-US" sz="700" dirty="0">
                <a:solidFill>
                  <a:schemeClr val="tx2">
                    <a:lumMod val="60000"/>
                    <a:lumOff val="40000"/>
                  </a:schemeClr>
                </a:solidFill>
              </a:rPr>
              <a:t>Depending upon the DNA sequence and amount of </a:t>
            </a:r>
            <a:r>
              <a:rPr lang="en-US" sz="700" dirty="0" err="1">
                <a:solidFill>
                  <a:schemeClr val="tx2">
                    <a:lumMod val="60000"/>
                    <a:lumOff val="40000"/>
                  </a:schemeClr>
                </a:solidFill>
              </a:rPr>
              <a:t>exonuclease</a:t>
            </a:r>
            <a:r>
              <a:rPr lang="en-US" sz="700" dirty="0">
                <a:solidFill>
                  <a:schemeClr val="tx2">
                    <a:lumMod val="60000"/>
                    <a:lumOff val="40000"/>
                  </a:schemeClr>
                </a:solidFill>
              </a:rPr>
              <a:t>, </a:t>
            </a:r>
            <a:r>
              <a:rPr lang="en-US" sz="700" dirty="0" err="1">
                <a:solidFill>
                  <a:schemeClr val="tx2">
                    <a:lumMod val="60000"/>
                    <a:lumOff val="40000"/>
                  </a:schemeClr>
                </a:solidFill>
              </a:rPr>
              <a:t>RecJ</a:t>
            </a:r>
            <a:r>
              <a:rPr lang="en-US" sz="700" baseline="-25000" dirty="0" err="1">
                <a:solidFill>
                  <a:schemeClr val="tx2">
                    <a:lumMod val="60000"/>
                    <a:lumOff val="40000"/>
                  </a:schemeClr>
                </a:solidFill>
              </a:rPr>
              <a:t>f</a:t>
            </a:r>
            <a:r>
              <a:rPr lang="en-US" sz="700" dirty="0">
                <a:solidFill>
                  <a:schemeClr val="tx2">
                    <a:lumMod val="60000"/>
                    <a:lumOff val="40000"/>
                  </a:schemeClr>
                </a:solidFill>
              </a:rPr>
              <a:t>, </a:t>
            </a:r>
            <a:r>
              <a:rPr lang="en-US" sz="700" dirty="0" err="1">
                <a:solidFill>
                  <a:schemeClr val="tx2">
                    <a:lumMod val="60000"/>
                    <a:lumOff val="40000"/>
                  </a:schemeClr>
                </a:solidFill>
              </a:rPr>
              <a:t>Exo</a:t>
            </a:r>
            <a:r>
              <a:rPr lang="en-US" sz="700" dirty="0">
                <a:solidFill>
                  <a:schemeClr val="tx2">
                    <a:lumMod val="60000"/>
                    <a:lumOff val="40000"/>
                  </a:schemeClr>
                </a:solidFill>
              </a:rPr>
              <a:t> I and </a:t>
            </a:r>
            <a:r>
              <a:rPr lang="en-US" sz="700" dirty="0" err="1">
                <a:solidFill>
                  <a:schemeClr val="tx2">
                    <a:lumMod val="60000"/>
                    <a:lumOff val="40000"/>
                  </a:schemeClr>
                </a:solidFill>
              </a:rPr>
              <a:t>Exo</a:t>
            </a:r>
            <a:r>
              <a:rPr lang="en-US" sz="700" dirty="0">
                <a:solidFill>
                  <a:schemeClr val="tx2">
                    <a:lumMod val="60000"/>
                    <a:lumOff val="40000"/>
                  </a:schemeClr>
                </a:solidFill>
              </a:rPr>
              <a:t> T may remove a few nucleotides from flush termini.</a:t>
            </a:r>
          </a:p>
          <a:p>
            <a:r>
              <a:rPr lang="en-US" sz="700" dirty="0" err="1">
                <a:solidFill>
                  <a:schemeClr val="tx2">
                    <a:lumMod val="60000"/>
                    <a:lumOff val="40000"/>
                  </a:schemeClr>
                </a:solidFill>
              </a:rPr>
              <a:t>Exo</a:t>
            </a:r>
            <a:r>
              <a:rPr lang="en-US" sz="700" dirty="0">
                <a:solidFill>
                  <a:schemeClr val="tx2">
                    <a:lumMod val="60000"/>
                    <a:lumOff val="40000"/>
                  </a:schemeClr>
                </a:solidFill>
              </a:rPr>
              <a:t> I releases </a:t>
            </a:r>
            <a:r>
              <a:rPr lang="en-US" sz="700" dirty="0" err="1">
                <a:solidFill>
                  <a:schemeClr val="tx2">
                    <a:lumMod val="60000"/>
                    <a:lumOff val="40000"/>
                  </a:schemeClr>
                </a:solidFill>
              </a:rPr>
              <a:t>dNMP</a:t>
            </a:r>
            <a:r>
              <a:rPr lang="en-US" sz="700" dirty="0">
                <a:solidFill>
                  <a:schemeClr val="tx2">
                    <a:lumMod val="60000"/>
                    <a:lumOff val="40000"/>
                  </a:schemeClr>
                </a:solidFill>
              </a:rPr>
              <a:t> from </a:t>
            </a:r>
            <a:r>
              <a:rPr lang="en-US" sz="700" dirty="0" err="1">
                <a:solidFill>
                  <a:schemeClr val="tx2">
                    <a:lumMod val="60000"/>
                    <a:lumOff val="40000"/>
                  </a:schemeClr>
                </a:solidFill>
              </a:rPr>
              <a:t>ssDNA</a:t>
            </a:r>
            <a:r>
              <a:rPr lang="en-US" sz="700" dirty="0">
                <a:solidFill>
                  <a:schemeClr val="tx2">
                    <a:lumMod val="60000"/>
                    <a:lumOff val="40000"/>
                  </a:schemeClr>
                </a:solidFill>
              </a:rPr>
              <a:t>, except at the last hydrolytic step where a </a:t>
            </a:r>
            <a:r>
              <a:rPr lang="en-US" sz="700" dirty="0" err="1">
                <a:solidFill>
                  <a:schemeClr val="tx2">
                    <a:lumMod val="60000"/>
                    <a:lumOff val="40000"/>
                  </a:schemeClr>
                </a:solidFill>
              </a:rPr>
              <a:t>dinucleotide</a:t>
            </a:r>
            <a:r>
              <a:rPr lang="en-US" sz="700" dirty="0">
                <a:solidFill>
                  <a:schemeClr val="tx2">
                    <a:lumMod val="60000"/>
                    <a:lumOff val="40000"/>
                  </a:schemeClr>
                </a:solidFill>
              </a:rPr>
              <a:t> is produced.</a:t>
            </a:r>
          </a:p>
          <a:p>
            <a:r>
              <a:rPr lang="en-US" sz="700" dirty="0" err="1">
                <a:solidFill>
                  <a:schemeClr val="tx2">
                    <a:lumMod val="60000"/>
                    <a:lumOff val="40000"/>
                  </a:schemeClr>
                </a:solidFill>
              </a:rPr>
              <a:t>Exo</a:t>
            </a:r>
            <a:r>
              <a:rPr lang="en-US" sz="700" dirty="0">
                <a:solidFill>
                  <a:schemeClr val="tx2">
                    <a:lumMod val="60000"/>
                    <a:lumOff val="40000"/>
                  </a:schemeClr>
                </a:solidFill>
              </a:rPr>
              <a:t> T can be used to make 3´ extensions blunt, however, it yields 2-4 fold fewer </a:t>
            </a:r>
            <a:r>
              <a:rPr lang="en-US" sz="700" dirty="0" err="1">
                <a:solidFill>
                  <a:schemeClr val="tx2">
                    <a:lumMod val="60000"/>
                    <a:lumOff val="40000"/>
                  </a:schemeClr>
                </a:solidFill>
              </a:rPr>
              <a:t>ligatable</a:t>
            </a:r>
            <a:r>
              <a:rPr lang="en-US" sz="700" dirty="0">
                <a:solidFill>
                  <a:schemeClr val="tx2">
                    <a:lumMod val="60000"/>
                    <a:lumOff val="40000"/>
                  </a:schemeClr>
                </a:solidFill>
              </a:rPr>
              <a:t> blunt ends when compared to </a:t>
            </a:r>
            <a:r>
              <a:rPr lang="en-US" sz="700" dirty="0" err="1">
                <a:solidFill>
                  <a:schemeClr val="tx2">
                    <a:lumMod val="60000"/>
                    <a:lumOff val="40000"/>
                  </a:schemeClr>
                </a:solidFill>
              </a:rPr>
              <a:t>Klenow</a:t>
            </a:r>
            <a:r>
              <a:rPr lang="en-US" sz="700" dirty="0">
                <a:solidFill>
                  <a:schemeClr val="tx2">
                    <a:lumMod val="60000"/>
                    <a:lumOff val="40000"/>
                  </a:schemeClr>
                </a:solidFill>
              </a:rPr>
              <a:t> polymerase plus </a:t>
            </a:r>
            <a:r>
              <a:rPr lang="en-US" sz="700" dirty="0" err="1">
                <a:solidFill>
                  <a:schemeClr val="tx2">
                    <a:lumMod val="60000"/>
                    <a:lumOff val="40000"/>
                  </a:schemeClr>
                </a:solidFill>
              </a:rPr>
              <a:t>dNTP</a:t>
            </a:r>
            <a:r>
              <a:rPr lang="en-US" sz="700" dirty="0">
                <a:solidFill>
                  <a:schemeClr val="tx2">
                    <a:lumMod val="60000"/>
                    <a:lumOff val="40000"/>
                  </a:schemeClr>
                </a:solidFill>
              </a:rPr>
              <a:t> on a test substrate.</a:t>
            </a:r>
          </a:p>
          <a:p>
            <a:r>
              <a:rPr lang="en-US" sz="700" dirty="0">
                <a:solidFill>
                  <a:schemeClr val="tx2">
                    <a:lumMod val="60000"/>
                    <a:lumOff val="40000"/>
                  </a:schemeClr>
                </a:solidFill>
              </a:rPr>
              <a:t>BAL31 has been reported as having both </a:t>
            </a:r>
            <a:r>
              <a:rPr lang="en-US" sz="700" dirty="0" err="1">
                <a:solidFill>
                  <a:schemeClr val="tx2">
                    <a:lumMod val="60000"/>
                    <a:lumOff val="40000"/>
                  </a:schemeClr>
                </a:solidFill>
              </a:rPr>
              <a:t>ss</a:t>
            </a:r>
            <a:r>
              <a:rPr lang="en-US" sz="700" dirty="0">
                <a:solidFill>
                  <a:schemeClr val="tx2">
                    <a:lumMod val="60000"/>
                    <a:lumOff val="40000"/>
                  </a:schemeClr>
                </a:solidFill>
              </a:rPr>
              <a:t> </a:t>
            </a:r>
            <a:r>
              <a:rPr lang="en-US" sz="700" dirty="0" err="1">
                <a:solidFill>
                  <a:schemeClr val="tx2">
                    <a:lumMod val="60000"/>
                    <a:lumOff val="40000"/>
                  </a:schemeClr>
                </a:solidFill>
              </a:rPr>
              <a:t>endonuclease</a:t>
            </a:r>
            <a:r>
              <a:rPr lang="en-US" sz="700" dirty="0">
                <a:solidFill>
                  <a:schemeClr val="tx2">
                    <a:lumMod val="60000"/>
                    <a:lumOff val="40000"/>
                  </a:schemeClr>
                </a:solidFill>
              </a:rPr>
              <a:t> activity as well as 3´→5´ </a:t>
            </a:r>
            <a:r>
              <a:rPr lang="en-US" sz="700" dirty="0" err="1">
                <a:solidFill>
                  <a:schemeClr val="tx2">
                    <a:lumMod val="60000"/>
                    <a:lumOff val="40000"/>
                  </a:schemeClr>
                </a:solidFill>
              </a:rPr>
              <a:t>ds</a:t>
            </a:r>
            <a:r>
              <a:rPr lang="en-US" sz="700" dirty="0">
                <a:solidFill>
                  <a:schemeClr val="tx2">
                    <a:lumMod val="60000"/>
                    <a:lumOff val="40000"/>
                  </a:schemeClr>
                </a:solidFill>
              </a:rPr>
              <a:t> </a:t>
            </a:r>
            <a:r>
              <a:rPr lang="en-US" sz="700" dirty="0" err="1">
                <a:solidFill>
                  <a:schemeClr val="tx2">
                    <a:lumMod val="60000"/>
                    <a:lumOff val="40000"/>
                  </a:schemeClr>
                </a:solidFill>
              </a:rPr>
              <a:t>exonuclease</a:t>
            </a:r>
            <a:r>
              <a:rPr lang="en-US" sz="700" dirty="0">
                <a:solidFill>
                  <a:schemeClr val="tx2">
                    <a:lumMod val="60000"/>
                    <a:lumOff val="40000"/>
                  </a:schemeClr>
                </a:solidFill>
              </a:rPr>
              <a:t> activity. Thus, any linear DNA is a substrate for BAL31.</a:t>
            </a:r>
          </a:p>
          <a:p>
            <a:r>
              <a:rPr lang="en-US" sz="700" dirty="0">
                <a:solidFill>
                  <a:schemeClr val="tx2">
                    <a:lumMod val="60000"/>
                    <a:lumOff val="40000"/>
                  </a:schemeClr>
                </a:solidFill>
              </a:rPr>
              <a:t>Products of </a:t>
            </a:r>
            <a:r>
              <a:rPr lang="en-US" sz="700" dirty="0" err="1">
                <a:solidFill>
                  <a:schemeClr val="tx2">
                    <a:lumMod val="60000"/>
                    <a:lumOff val="40000"/>
                  </a:schemeClr>
                </a:solidFill>
              </a:rPr>
              <a:t>Micrococcal</a:t>
            </a:r>
            <a:r>
              <a:rPr lang="en-US" sz="700" dirty="0">
                <a:solidFill>
                  <a:schemeClr val="tx2">
                    <a:lumMod val="60000"/>
                    <a:lumOff val="40000"/>
                  </a:schemeClr>
                </a:solidFill>
              </a:rPr>
              <a:t> Nuclease degradation have 3´ phosphates.</a:t>
            </a:r>
          </a:p>
          <a:p>
            <a:r>
              <a:rPr lang="en-US" sz="700" dirty="0">
                <a:solidFill>
                  <a:schemeClr val="tx2">
                    <a:lumMod val="60000"/>
                    <a:lumOff val="40000"/>
                  </a:schemeClr>
                </a:solidFill>
              </a:rPr>
              <a:t>T7 </a:t>
            </a:r>
            <a:r>
              <a:rPr lang="en-US" sz="700" dirty="0" err="1">
                <a:solidFill>
                  <a:schemeClr val="tx2">
                    <a:lumMod val="60000"/>
                    <a:lumOff val="40000"/>
                  </a:schemeClr>
                </a:solidFill>
              </a:rPr>
              <a:t>endonuclease</a:t>
            </a:r>
            <a:r>
              <a:rPr lang="en-US" sz="700" dirty="0">
                <a:solidFill>
                  <a:schemeClr val="tx2">
                    <a:lumMod val="60000"/>
                    <a:lumOff val="40000"/>
                  </a:schemeClr>
                </a:solidFill>
              </a:rPr>
              <a:t> recognizes and cleaves non-perfectly matched DNA, cruciform DNA, Holliday structures or junctions. It will act more slowly on nicked </a:t>
            </a:r>
            <a:r>
              <a:rPr lang="en-US" sz="700" dirty="0" err="1">
                <a:solidFill>
                  <a:schemeClr val="tx2">
                    <a:lumMod val="60000"/>
                    <a:lumOff val="40000"/>
                  </a:schemeClr>
                </a:solidFill>
              </a:rPr>
              <a:t>dsDNA</a:t>
            </a:r>
            <a:r>
              <a:rPr lang="en-US" sz="700" dirty="0">
                <a:solidFill>
                  <a:schemeClr val="tx2">
                    <a:lumMod val="60000"/>
                    <a:lumOff val="40000"/>
                  </a:schemeClr>
                </a:solidFill>
              </a:rPr>
              <a:t>.</a:t>
            </a:r>
          </a:p>
          <a:p>
            <a:endParaRPr lang="en-US" sz="700" dirty="0">
              <a:solidFill>
                <a:schemeClr val="tx2">
                  <a:lumMod val="60000"/>
                  <a:lumOff val="40000"/>
                </a:schemeClr>
              </a:solidFill>
            </a:endParaRPr>
          </a:p>
        </p:txBody>
      </p:sp>
      <p:sp>
        <p:nvSpPr>
          <p:cNvPr id="13" name="Rectangle 12"/>
          <p:cNvSpPr/>
          <p:nvPr/>
        </p:nvSpPr>
        <p:spPr>
          <a:xfrm>
            <a:off x="228600" y="6504801"/>
            <a:ext cx="8915400" cy="276999"/>
          </a:xfrm>
          <a:prstGeom prst="rect">
            <a:avLst/>
          </a:prstGeom>
        </p:spPr>
        <p:txBody>
          <a:bodyPr wrap="square">
            <a:spAutoFit/>
          </a:bodyPr>
          <a:lstStyle/>
          <a:p>
            <a:r>
              <a:rPr lang="en-US" sz="1200" dirty="0">
                <a:solidFill>
                  <a:schemeClr val="tx2">
                    <a:lumMod val="20000"/>
                    <a:lumOff val="80000"/>
                  </a:schemeClr>
                </a:solidFill>
              </a:rPr>
              <a:t>Adapted  from:  http://www.neb.com/nebecomm/tech_reference/modifying_enzymes/prop_exonucleases_endonucleases.asp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3" cstate="print"/>
          <a:srcRect/>
          <a:stretch>
            <a:fillRect/>
          </a:stretch>
        </p:blipFill>
        <p:spPr bwMode="auto">
          <a:xfrm>
            <a:off x="11723" y="381000"/>
            <a:ext cx="9535618" cy="7022206"/>
          </a:xfrm>
          <a:prstGeom prst="rect">
            <a:avLst/>
          </a:prstGeom>
          <a:noFill/>
          <a:ln w="9525">
            <a:noFill/>
            <a:miter lim="800000"/>
            <a:headEnd/>
            <a:tailEnd/>
          </a:ln>
          <a:effectLst/>
        </p:spPr>
      </p:pic>
      <p:pic>
        <p:nvPicPr>
          <p:cNvPr id="4" name="Picture 3" descr="ponder.png"/>
          <p:cNvPicPr>
            <a:picLocks noChangeAspect="1"/>
          </p:cNvPicPr>
          <p:nvPr/>
        </p:nvPicPr>
        <p:blipFill>
          <a:blip r:embed="rId4" cstate="print"/>
          <a:stretch>
            <a:fillRect/>
          </a:stretch>
        </p:blipFill>
        <p:spPr>
          <a:xfrm>
            <a:off x="221048" y="95107"/>
            <a:ext cx="573880" cy="824953"/>
          </a:xfrm>
          <a:prstGeom prst="rect">
            <a:avLst/>
          </a:prstGeom>
        </p:spPr>
      </p:pic>
      <p:sp>
        <p:nvSpPr>
          <p:cNvPr id="5" name="Rectangle 4"/>
          <p:cNvSpPr/>
          <p:nvPr/>
        </p:nvSpPr>
        <p:spPr>
          <a:xfrm>
            <a:off x="938173" y="273729"/>
            <a:ext cx="5008928" cy="646331"/>
          </a:xfrm>
          <a:prstGeom prst="rect">
            <a:avLst/>
          </a:prstGeom>
        </p:spPr>
        <p:txBody>
          <a:bodyPr wrap="none">
            <a:spAutoFit/>
          </a:bodyPr>
          <a:lstStyle/>
          <a:p>
            <a:pPr fontAlgn="auto">
              <a:spcBef>
                <a:spcPts val="0"/>
              </a:spcBef>
              <a:spcAft>
                <a:spcPts val="0"/>
              </a:spcAft>
            </a:pPr>
            <a:r>
              <a:rPr lang="en-US" sz="3600" dirty="0">
                <a:solidFill>
                  <a:prstClr val="black"/>
                </a:solidFill>
                <a:latin typeface="Calibri"/>
              </a:rPr>
              <a:t>Are these arrows 5’ to 3’?</a:t>
            </a:r>
          </a:p>
        </p:txBody>
      </p:sp>
    </p:spTree>
    <p:extLst>
      <p:ext uri="{BB962C8B-B14F-4D97-AF65-F5344CB8AC3E}">
        <p14:creationId xmlns:p14="http://schemas.microsoft.com/office/powerpoint/2010/main" val="7442999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Initiates on DNA with </a:t>
            </a:r>
            <a:r>
              <a:rPr lang="en-US" sz="3200" b="1" dirty="0">
                <a:solidFill>
                  <a:srgbClr val="1F497D">
                    <a:lumMod val="20000"/>
                    <a:lumOff val="80000"/>
                  </a:srgbClr>
                </a:solidFill>
                <a:latin typeface="Rockwell Extra Bold" pitchFamily="18" charset="0"/>
                <a:cs typeface="Arial" pitchFamily="34" charset="0"/>
              </a:rPr>
              <a:t>_____</a:t>
            </a:r>
          </a:p>
        </p:txBody>
      </p:sp>
      <p:sp>
        <p:nvSpPr>
          <p:cNvPr id="4" name="Rectangle 3"/>
          <p:cNvSpPr/>
          <p:nvPr/>
        </p:nvSpPr>
        <p:spPr>
          <a:xfrm>
            <a:off x="457200" y="1066800"/>
            <a:ext cx="3810000" cy="461665"/>
          </a:xfrm>
          <a:prstGeom prst="rect">
            <a:avLst/>
          </a:prstGeom>
        </p:spPr>
        <p:txBody>
          <a:bodyPr wrap="square">
            <a:spAutoFit/>
          </a:bodyPr>
          <a:lstStyle/>
          <a:p>
            <a:r>
              <a:rPr lang="en-US" sz="2400" b="1" dirty="0">
                <a:solidFill>
                  <a:schemeClr val="tx2">
                    <a:lumMod val="20000"/>
                    <a:lumOff val="80000"/>
                  </a:schemeClr>
                </a:solidFill>
              </a:rPr>
              <a:t>5'ext  (a 5’ extension) </a:t>
            </a:r>
          </a:p>
        </p:txBody>
      </p:sp>
      <p:sp>
        <p:nvSpPr>
          <p:cNvPr id="6" name="Rectangle 5"/>
          <p:cNvSpPr/>
          <p:nvPr/>
        </p:nvSpPr>
        <p:spPr>
          <a:xfrm>
            <a:off x="381000" y="2057400"/>
            <a:ext cx="4953000" cy="461665"/>
          </a:xfrm>
          <a:prstGeom prst="rect">
            <a:avLst/>
          </a:prstGeom>
        </p:spPr>
        <p:txBody>
          <a:bodyPr wrap="square">
            <a:spAutoFit/>
          </a:bodyPr>
          <a:lstStyle/>
          <a:p>
            <a:r>
              <a:rPr lang="en-US" sz="2400" dirty="0">
                <a:solidFill>
                  <a:schemeClr val="tx2">
                    <a:lumMod val="20000"/>
                    <a:lumOff val="80000"/>
                  </a:schemeClr>
                </a:solidFill>
              </a:rPr>
              <a:t>case: </a:t>
            </a:r>
            <a:r>
              <a:rPr lang="en-US" sz="2400" dirty="0" err="1">
                <a:solidFill>
                  <a:schemeClr val="tx2">
                    <a:lumMod val="20000"/>
                    <a:lumOff val="80000"/>
                  </a:schemeClr>
                </a:solidFill>
              </a:rPr>
              <a:t>BamHI</a:t>
            </a:r>
            <a:r>
              <a:rPr lang="en-US" sz="2400" dirty="0">
                <a:solidFill>
                  <a:schemeClr val="tx2">
                    <a:lumMod val="20000"/>
                    <a:lumOff val="80000"/>
                  </a:schemeClr>
                </a:solidFill>
              </a:rPr>
              <a:t> Digested DNA</a:t>
            </a:r>
          </a:p>
        </p:txBody>
      </p:sp>
      <p:sp>
        <p:nvSpPr>
          <p:cNvPr id="7" name="TextBox 6"/>
          <p:cNvSpPr txBox="1"/>
          <p:nvPr/>
        </p:nvSpPr>
        <p:spPr>
          <a:xfrm>
            <a:off x="1905000" y="3048000"/>
            <a:ext cx="5486400" cy="830997"/>
          </a:xfrm>
          <a:prstGeom prst="rect">
            <a:avLst/>
          </a:prstGeom>
          <a:noFill/>
        </p:spPr>
        <p:txBody>
          <a:bodyPr wrap="square" rtlCol="0">
            <a:spAutoFit/>
          </a:bodyPr>
          <a:lstStyle/>
          <a:p>
            <a:r>
              <a:rPr lang="en-US" sz="2400" dirty="0">
                <a:solidFill>
                  <a:schemeClr val="tx2">
                    <a:lumMod val="20000"/>
                    <a:lumOff val="80000"/>
                  </a:schemeClr>
                </a:solidFill>
                <a:latin typeface="Courier New" pitchFamily="49" charset="0"/>
                <a:cs typeface="Courier New" pitchFamily="49" charset="0"/>
              </a:rPr>
              <a:t>5’-cttcg</a:t>
            </a:r>
            <a:r>
              <a:rPr lang="en-US" sz="2400" dirty="0">
                <a:solidFill>
                  <a:schemeClr val="accent2">
                    <a:lumMod val="40000"/>
                    <a:lumOff val="60000"/>
                  </a:schemeClr>
                </a:solidFill>
                <a:latin typeface="Courier New" pitchFamily="49" charset="0"/>
                <a:cs typeface="Courier New" pitchFamily="49" charset="0"/>
              </a:rPr>
              <a:t>GGATCC</a:t>
            </a:r>
            <a:r>
              <a:rPr lang="en-US" sz="2400" dirty="0">
                <a:solidFill>
                  <a:schemeClr val="tx2">
                    <a:lumMod val="20000"/>
                    <a:lumOff val="80000"/>
                  </a:schemeClr>
                </a:solidFill>
                <a:latin typeface="Courier New" pitchFamily="49" charset="0"/>
                <a:cs typeface="Courier New" pitchFamily="49" charset="0"/>
              </a:rPr>
              <a:t>gctggcaga…-3’</a:t>
            </a:r>
          </a:p>
          <a:p>
            <a:r>
              <a:rPr lang="en-US" sz="2400" dirty="0">
                <a:solidFill>
                  <a:schemeClr val="tx2">
                    <a:lumMod val="20000"/>
                    <a:lumOff val="80000"/>
                  </a:schemeClr>
                </a:solidFill>
                <a:latin typeface="Courier New" pitchFamily="49" charset="0"/>
                <a:cs typeface="Courier New" pitchFamily="49" charset="0"/>
              </a:rPr>
              <a:t>3’-gaagc</a:t>
            </a:r>
            <a:r>
              <a:rPr lang="en-US" sz="2400" dirty="0">
                <a:solidFill>
                  <a:schemeClr val="accent2">
                    <a:lumMod val="40000"/>
                    <a:lumOff val="60000"/>
                  </a:schemeClr>
                </a:solidFill>
                <a:latin typeface="Courier New" pitchFamily="49" charset="0"/>
                <a:cs typeface="Courier New" pitchFamily="49" charset="0"/>
              </a:rPr>
              <a:t>CCTAGG</a:t>
            </a:r>
            <a:r>
              <a:rPr lang="en-US" sz="2400" dirty="0">
                <a:solidFill>
                  <a:schemeClr val="tx2">
                    <a:lumMod val="20000"/>
                    <a:lumOff val="80000"/>
                  </a:schemeClr>
                </a:solidFill>
                <a:latin typeface="Courier New" pitchFamily="49" charset="0"/>
                <a:cs typeface="Courier New" pitchFamily="49" charset="0"/>
              </a:rPr>
              <a:t>cgaccgtct…-5’</a:t>
            </a:r>
          </a:p>
        </p:txBody>
      </p:sp>
      <p:sp>
        <p:nvSpPr>
          <p:cNvPr id="8" name="TextBox 7"/>
          <p:cNvSpPr txBox="1"/>
          <p:nvPr/>
        </p:nvSpPr>
        <p:spPr>
          <a:xfrm>
            <a:off x="1295400" y="4350603"/>
            <a:ext cx="2971800" cy="830997"/>
          </a:xfrm>
          <a:prstGeom prst="rect">
            <a:avLst/>
          </a:prstGeom>
          <a:noFill/>
        </p:spPr>
        <p:txBody>
          <a:bodyPr wrap="square" rtlCol="0">
            <a:spAutoFit/>
          </a:bodyPr>
          <a:lstStyle/>
          <a:p>
            <a:r>
              <a:rPr lang="en-US" sz="2400" dirty="0">
                <a:solidFill>
                  <a:schemeClr val="tx2">
                    <a:lumMod val="20000"/>
                    <a:lumOff val="80000"/>
                  </a:schemeClr>
                </a:solidFill>
                <a:latin typeface="Courier New" pitchFamily="49" charset="0"/>
                <a:cs typeface="Courier New" pitchFamily="49" charset="0"/>
              </a:rPr>
              <a:t>5’-cttcg</a:t>
            </a:r>
            <a:r>
              <a:rPr lang="en-US" sz="2400" dirty="0">
                <a:solidFill>
                  <a:schemeClr val="accent2">
                    <a:lumMod val="40000"/>
                    <a:lumOff val="60000"/>
                  </a:schemeClr>
                </a:solidFill>
                <a:latin typeface="Courier New" pitchFamily="49" charset="0"/>
                <a:cs typeface="Courier New" pitchFamily="49" charset="0"/>
              </a:rPr>
              <a:t>G</a:t>
            </a:r>
            <a:endParaRPr lang="en-US" sz="2400" dirty="0">
              <a:solidFill>
                <a:schemeClr val="tx2">
                  <a:lumMod val="20000"/>
                  <a:lumOff val="80000"/>
                </a:schemeClr>
              </a:solidFill>
              <a:latin typeface="Courier New" pitchFamily="49" charset="0"/>
              <a:cs typeface="Courier New" pitchFamily="49" charset="0"/>
            </a:endParaRPr>
          </a:p>
          <a:p>
            <a:r>
              <a:rPr lang="en-US" sz="2400" dirty="0">
                <a:solidFill>
                  <a:schemeClr val="tx2">
                    <a:lumMod val="20000"/>
                    <a:lumOff val="80000"/>
                  </a:schemeClr>
                </a:solidFill>
                <a:latin typeface="Courier New" pitchFamily="49" charset="0"/>
                <a:cs typeface="Courier New" pitchFamily="49" charset="0"/>
              </a:rPr>
              <a:t>3’-gaagc</a:t>
            </a:r>
            <a:r>
              <a:rPr lang="en-US" sz="2400" dirty="0">
                <a:solidFill>
                  <a:schemeClr val="accent2">
                    <a:lumMod val="40000"/>
                    <a:lumOff val="60000"/>
                  </a:schemeClr>
                </a:solidFill>
                <a:latin typeface="Courier New" pitchFamily="49" charset="0"/>
                <a:cs typeface="Courier New" pitchFamily="49" charset="0"/>
              </a:rPr>
              <a:t>CCTAG</a:t>
            </a:r>
            <a:endParaRPr lang="en-US" sz="2400" dirty="0">
              <a:solidFill>
                <a:schemeClr val="tx2">
                  <a:lumMod val="20000"/>
                  <a:lumOff val="80000"/>
                </a:schemeClr>
              </a:solidFill>
              <a:latin typeface="Courier New" pitchFamily="49" charset="0"/>
              <a:cs typeface="Courier New" pitchFamily="49" charset="0"/>
            </a:endParaRPr>
          </a:p>
        </p:txBody>
      </p:sp>
      <p:sp>
        <p:nvSpPr>
          <p:cNvPr id="9" name="Rectangle 8"/>
          <p:cNvSpPr/>
          <p:nvPr/>
        </p:nvSpPr>
        <p:spPr>
          <a:xfrm>
            <a:off x="4918390" y="4807803"/>
            <a:ext cx="3502882" cy="830997"/>
          </a:xfrm>
          <a:prstGeom prst="rect">
            <a:avLst/>
          </a:prstGeom>
        </p:spPr>
        <p:txBody>
          <a:bodyPr wrap="none">
            <a:spAutoFit/>
          </a:bodyPr>
          <a:lstStyle/>
          <a:p>
            <a:r>
              <a:rPr lang="en-US" sz="2400" dirty="0" err="1">
                <a:solidFill>
                  <a:schemeClr val="accent2">
                    <a:lumMod val="40000"/>
                    <a:lumOff val="60000"/>
                  </a:schemeClr>
                </a:solidFill>
                <a:latin typeface="Courier New" pitchFamily="49" charset="0"/>
                <a:cs typeface="Courier New" pitchFamily="49" charset="0"/>
              </a:rPr>
              <a:t>GATCC</a:t>
            </a:r>
            <a:r>
              <a:rPr lang="en-US" sz="2400" dirty="0" err="1">
                <a:solidFill>
                  <a:schemeClr val="tx2">
                    <a:lumMod val="20000"/>
                    <a:lumOff val="80000"/>
                  </a:schemeClr>
                </a:solidFill>
                <a:latin typeface="Courier New" pitchFamily="49" charset="0"/>
                <a:cs typeface="Courier New" pitchFamily="49" charset="0"/>
              </a:rPr>
              <a:t>gctggcaga</a:t>
            </a:r>
            <a:r>
              <a:rPr lang="en-US" sz="2400" dirty="0">
                <a:solidFill>
                  <a:srgbClr val="1F497D">
                    <a:lumMod val="20000"/>
                    <a:lumOff val="80000"/>
                  </a:srgbClr>
                </a:solidFill>
                <a:latin typeface="Courier New" pitchFamily="49" charset="0"/>
                <a:cs typeface="Courier New" pitchFamily="49" charset="0"/>
              </a:rPr>
              <a:t>…-3’</a:t>
            </a:r>
          </a:p>
          <a:p>
            <a:r>
              <a:rPr lang="en-US" sz="2400" dirty="0">
                <a:solidFill>
                  <a:schemeClr val="accent2">
                    <a:lumMod val="40000"/>
                    <a:lumOff val="60000"/>
                  </a:schemeClr>
                </a:solidFill>
                <a:latin typeface="Courier New" pitchFamily="49" charset="0"/>
                <a:cs typeface="Courier New" pitchFamily="49" charset="0"/>
              </a:rPr>
              <a:t>    </a:t>
            </a:r>
            <a:r>
              <a:rPr lang="en-US" sz="2400" dirty="0" err="1">
                <a:solidFill>
                  <a:schemeClr val="accent2">
                    <a:lumMod val="40000"/>
                    <a:lumOff val="60000"/>
                  </a:schemeClr>
                </a:solidFill>
                <a:latin typeface="Courier New" pitchFamily="49" charset="0"/>
                <a:cs typeface="Courier New" pitchFamily="49" charset="0"/>
              </a:rPr>
              <a:t>G</a:t>
            </a:r>
            <a:r>
              <a:rPr lang="en-US" sz="2400" dirty="0" err="1">
                <a:solidFill>
                  <a:schemeClr val="tx2">
                    <a:lumMod val="20000"/>
                    <a:lumOff val="80000"/>
                  </a:schemeClr>
                </a:solidFill>
                <a:latin typeface="Courier New" pitchFamily="49" charset="0"/>
                <a:cs typeface="Courier New" pitchFamily="49" charset="0"/>
              </a:rPr>
              <a:t>cgaccgtct</a:t>
            </a:r>
            <a:r>
              <a:rPr lang="en-US" sz="2400" dirty="0">
                <a:solidFill>
                  <a:srgbClr val="1F497D">
                    <a:lumMod val="20000"/>
                    <a:lumOff val="80000"/>
                  </a:srgbClr>
                </a:solidFill>
                <a:latin typeface="Courier New" pitchFamily="49" charset="0"/>
                <a:cs typeface="Courier New" pitchFamily="49" charset="0"/>
              </a:rPr>
              <a:t>…-5’</a:t>
            </a:r>
            <a:endParaRPr lang="en-US" dirty="0"/>
          </a:p>
        </p:txBody>
      </p:sp>
      <p:sp>
        <p:nvSpPr>
          <p:cNvPr id="10" name="Rectangle 9"/>
          <p:cNvSpPr/>
          <p:nvPr/>
        </p:nvSpPr>
        <p:spPr>
          <a:xfrm>
            <a:off x="4232590" y="4731603"/>
            <a:ext cx="492443" cy="707886"/>
          </a:xfrm>
          <a:prstGeom prst="rect">
            <a:avLst/>
          </a:prstGeom>
        </p:spPr>
        <p:txBody>
          <a:bodyPr wrap="none">
            <a:spAutoFit/>
          </a:bodyPr>
          <a:lstStyle/>
          <a:p>
            <a:r>
              <a:rPr lang="en-US" sz="4000" b="1" dirty="0">
                <a:solidFill>
                  <a:srgbClr val="1F497D">
                    <a:lumMod val="20000"/>
                    <a:lumOff val="80000"/>
                  </a:srgbClr>
                </a:solidFill>
                <a:latin typeface="Courier New" pitchFamily="49" charset="0"/>
                <a:cs typeface="Courier New" pitchFamily="49" charset="0"/>
              </a:rPr>
              <a:t>+</a:t>
            </a:r>
            <a:endParaRPr lang="en-US" sz="4000" b="1" dirty="0"/>
          </a:p>
        </p:txBody>
      </p:sp>
      <p:cxnSp>
        <p:nvCxnSpPr>
          <p:cNvPr id="11" name="Straight Arrow Connector 10"/>
          <p:cNvCxnSpPr/>
          <p:nvPr/>
        </p:nvCxnSpPr>
        <p:spPr>
          <a:xfrm rot="5400000">
            <a:off x="4232590" y="4426803"/>
            <a:ext cx="457200" cy="1588"/>
          </a:xfrm>
          <a:prstGeom prst="straightConnector1">
            <a:avLst/>
          </a:prstGeom>
          <a:ln w="38100">
            <a:solidFill>
              <a:schemeClr val="tx2">
                <a:lumMod val="20000"/>
                <a:lumOff val="80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4" cstate="print"/>
          <a:srcRect/>
          <a:stretch>
            <a:fillRect/>
          </a:stretch>
        </p:blipFill>
        <p:spPr bwMode="auto">
          <a:xfrm>
            <a:off x="0" y="0"/>
            <a:ext cx="9535618" cy="7022206"/>
          </a:xfrm>
          <a:prstGeom prst="rect">
            <a:avLst/>
          </a:prstGeom>
          <a:noFill/>
          <a:ln w="9525">
            <a:noFill/>
            <a:miter lim="800000"/>
            <a:headEnd/>
            <a:tailEnd/>
          </a:ln>
          <a:effectLst/>
        </p:spPr>
      </p:pic>
      <p:sp>
        <p:nvSpPr>
          <p:cNvPr id="3" name="Rectangle 2"/>
          <p:cNvSpPr/>
          <p:nvPr/>
        </p:nvSpPr>
        <p:spPr>
          <a:xfrm>
            <a:off x="1981200" y="40386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2362200" y="63246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5943600" y="35052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638800" y="10668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029200" y="26670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p:cNvSpPr/>
          <p:nvPr/>
        </p:nvSpPr>
        <p:spPr>
          <a:xfrm>
            <a:off x="838200" y="3657600"/>
            <a:ext cx="685800" cy="914400"/>
          </a:xfrm>
          <a:prstGeom prst="ellipse">
            <a:avLst/>
          </a:prstGeom>
          <a:solidFill>
            <a:srgbClr val="00B050">
              <a:alpha val="28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257800" y="6096000"/>
            <a:ext cx="3757509" cy="523220"/>
          </a:xfrm>
          <a:prstGeom prst="rect">
            <a:avLst/>
          </a:prstGeom>
        </p:spPr>
        <p:txBody>
          <a:bodyPr wrap="none">
            <a:spAutoFit/>
          </a:bodyPr>
          <a:lstStyle/>
          <a:p>
            <a:pPr lvl="0"/>
            <a:r>
              <a:rPr lang="en-US" sz="2800" dirty="0"/>
              <a:t>..by all </a:t>
            </a:r>
            <a:r>
              <a:rPr lang="en-US" sz="2800" dirty="0" err="1"/>
              <a:t>Exonucleases</a:t>
            </a:r>
            <a:r>
              <a:rPr lang="en-US" sz="2800" dirty="0"/>
              <a:t>?</a:t>
            </a:r>
          </a:p>
        </p:txBody>
      </p:sp>
      <p:pic>
        <p:nvPicPr>
          <p:cNvPr id="10" name="Picture 9" descr="ponder.png"/>
          <p:cNvPicPr>
            <a:picLocks noChangeAspect="1"/>
          </p:cNvPicPr>
          <p:nvPr/>
        </p:nvPicPr>
        <p:blipFill>
          <a:blip r:embed="rId5" cstate="print"/>
          <a:stretch>
            <a:fillRect/>
          </a:stretch>
        </p:blipFill>
        <p:spPr>
          <a:xfrm>
            <a:off x="221048" y="95107"/>
            <a:ext cx="573880" cy="824953"/>
          </a:xfrm>
          <a:prstGeom prst="rect">
            <a:avLst/>
          </a:prstGeom>
        </p:spPr>
      </p:pic>
      <p:sp>
        <p:nvSpPr>
          <p:cNvPr id="11" name="Rectangle 10"/>
          <p:cNvSpPr/>
          <p:nvPr/>
        </p:nvSpPr>
        <p:spPr>
          <a:xfrm>
            <a:off x="938173" y="273729"/>
            <a:ext cx="4743155" cy="646331"/>
          </a:xfrm>
          <a:prstGeom prst="rect">
            <a:avLst/>
          </a:prstGeom>
        </p:spPr>
        <p:txBody>
          <a:bodyPr wrap="none">
            <a:spAutoFit/>
          </a:bodyPr>
          <a:lstStyle/>
          <a:p>
            <a:pPr fontAlgn="auto">
              <a:spcBef>
                <a:spcPts val="0"/>
              </a:spcBef>
              <a:spcAft>
                <a:spcPts val="0"/>
              </a:spcAft>
            </a:pPr>
            <a:r>
              <a:rPr lang="en-US" sz="3600" dirty="0">
                <a:solidFill>
                  <a:prstClr val="black"/>
                </a:solidFill>
                <a:latin typeface="Calibri"/>
              </a:rPr>
              <a:t>Which bond is broken</a:t>
            </a:r>
            <a:r>
              <a:rPr lang="mr-IN" sz="3600" dirty="0">
                <a:solidFill>
                  <a:prstClr val="black"/>
                </a:solidFill>
                <a:latin typeface="Calibri"/>
              </a:rPr>
              <a:t>…</a:t>
            </a:r>
            <a:endParaRPr lang="en-US" sz="3600" dirty="0">
              <a:solidFill>
                <a:prstClr val="black"/>
              </a:solidFill>
              <a:latin typeface="Calibri"/>
            </a:endParaRPr>
          </a:p>
        </p:txBody>
      </p:sp>
    </p:spTree>
    <p:custDataLst>
      <p:tags r:id="rId1"/>
    </p:custDataLst>
    <p:extLst>
      <p:ext uri="{BB962C8B-B14F-4D97-AF65-F5344CB8AC3E}">
        <p14:creationId xmlns:p14="http://schemas.microsoft.com/office/powerpoint/2010/main" val="236036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onder.png"/>
          <p:cNvPicPr>
            <a:picLocks noChangeAspect="1"/>
          </p:cNvPicPr>
          <p:nvPr/>
        </p:nvPicPr>
        <p:blipFill>
          <a:blip r:embed="rId3" cstate="print"/>
          <a:stretch>
            <a:fillRect/>
          </a:stretch>
        </p:blipFill>
        <p:spPr>
          <a:xfrm>
            <a:off x="221048" y="95107"/>
            <a:ext cx="573880" cy="824953"/>
          </a:xfrm>
          <a:prstGeom prst="rect">
            <a:avLst/>
          </a:prstGeom>
        </p:spPr>
      </p:pic>
      <p:sp>
        <p:nvSpPr>
          <p:cNvPr id="5" name="Rectangle 4"/>
          <p:cNvSpPr/>
          <p:nvPr/>
        </p:nvSpPr>
        <p:spPr>
          <a:xfrm>
            <a:off x="938173" y="273729"/>
            <a:ext cx="4912222" cy="646331"/>
          </a:xfrm>
          <a:prstGeom prst="rect">
            <a:avLst/>
          </a:prstGeom>
        </p:spPr>
        <p:txBody>
          <a:bodyPr wrap="none">
            <a:spAutoFit/>
          </a:bodyPr>
          <a:lstStyle/>
          <a:p>
            <a:pPr fontAlgn="auto">
              <a:spcBef>
                <a:spcPts val="0"/>
              </a:spcBef>
              <a:spcAft>
                <a:spcPts val="0"/>
              </a:spcAft>
            </a:pPr>
            <a:r>
              <a:rPr lang="en-US" sz="3600" dirty="0">
                <a:solidFill>
                  <a:prstClr val="black"/>
                </a:solidFill>
                <a:latin typeface="Calibri"/>
              </a:rPr>
              <a:t>Will T5 </a:t>
            </a:r>
            <a:r>
              <a:rPr lang="en-US" sz="3600" dirty="0" err="1">
                <a:solidFill>
                  <a:prstClr val="black"/>
                </a:solidFill>
                <a:latin typeface="Calibri"/>
              </a:rPr>
              <a:t>Exonuclease</a:t>
            </a:r>
            <a:r>
              <a:rPr lang="en-US" sz="3600" dirty="0">
                <a:solidFill>
                  <a:prstClr val="black"/>
                </a:solidFill>
                <a:latin typeface="Calibri"/>
              </a:rPr>
              <a:t> cut?</a:t>
            </a:r>
          </a:p>
        </p:txBody>
      </p:sp>
      <p:sp>
        <p:nvSpPr>
          <p:cNvPr id="6" name="Rectangle 5"/>
          <p:cNvSpPr/>
          <p:nvPr/>
        </p:nvSpPr>
        <p:spPr>
          <a:xfrm>
            <a:off x="1295400" y="1295400"/>
            <a:ext cx="5094501" cy="769441"/>
          </a:xfrm>
          <a:prstGeom prst="rect">
            <a:avLst/>
          </a:prstGeom>
        </p:spPr>
        <p:txBody>
          <a:bodyPr wrap="none">
            <a:spAutoFit/>
          </a:bodyPr>
          <a:lstStyle/>
          <a:p>
            <a:r>
              <a:rPr lang="en-US" sz="2200" dirty="0">
                <a:solidFill>
                  <a:srgbClr val="000000"/>
                </a:solidFill>
                <a:latin typeface="Courier New" pitchFamily="49" charset="0"/>
                <a:cs typeface="Courier New" pitchFamily="49" charset="0"/>
              </a:rPr>
              <a:t>5’-gatttctgGAATTTGACACGTG-3’ </a:t>
            </a:r>
          </a:p>
          <a:p>
            <a:r>
              <a:rPr lang="en-US" sz="2200" dirty="0">
                <a:solidFill>
                  <a:srgbClr val="000000"/>
                </a:solidFill>
                <a:latin typeface="Courier New" pitchFamily="49" charset="0"/>
                <a:cs typeface="Courier New" pitchFamily="49" charset="0"/>
              </a:rPr>
              <a:t>3’-ctaaagacCTTAA-5’</a:t>
            </a:r>
          </a:p>
        </p:txBody>
      </p:sp>
      <p:cxnSp>
        <p:nvCxnSpPr>
          <p:cNvPr id="11" name="Straight Arrow Connector 10"/>
          <p:cNvCxnSpPr/>
          <p:nvPr/>
        </p:nvCxnSpPr>
        <p:spPr>
          <a:xfrm>
            <a:off x="3810000" y="4530804"/>
            <a:ext cx="0" cy="304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886200" y="4454604"/>
            <a:ext cx="1624438" cy="369332"/>
          </a:xfrm>
          <a:prstGeom prst="rect">
            <a:avLst/>
          </a:prstGeom>
        </p:spPr>
        <p:txBody>
          <a:bodyPr wrap="none">
            <a:spAutoFit/>
          </a:bodyPr>
          <a:lstStyle/>
          <a:p>
            <a:r>
              <a:rPr lang="en-US" dirty="0">
                <a:solidFill>
                  <a:prstClr val="black"/>
                </a:solidFill>
                <a:latin typeface="Calibri"/>
                <a:cs typeface="Calibri"/>
              </a:rPr>
              <a:t>T5 </a:t>
            </a:r>
            <a:r>
              <a:rPr lang="en-US" dirty="0" err="1">
                <a:solidFill>
                  <a:prstClr val="black"/>
                </a:solidFill>
                <a:latin typeface="Calibri"/>
                <a:cs typeface="Calibri"/>
              </a:rPr>
              <a:t>Exonuclease</a:t>
            </a:r>
            <a:endParaRPr lang="en-US" dirty="0">
              <a:solidFill>
                <a:prstClr val="black"/>
              </a:solidFill>
              <a:latin typeface="Calibri"/>
              <a:cs typeface="Calibri"/>
            </a:endParaRPr>
          </a:p>
        </p:txBody>
      </p:sp>
      <p:sp>
        <p:nvSpPr>
          <p:cNvPr id="13" name="Rectangle 12"/>
          <p:cNvSpPr/>
          <p:nvPr/>
        </p:nvSpPr>
        <p:spPr>
          <a:xfrm>
            <a:off x="1447800" y="5181600"/>
            <a:ext cx="5094501" cy="769441"/>
          </a:xfrm>
          <a:prstGeom prst="rect">
            <a:avLst/>
          </a:prstGeom>
        </p:spPr>
        <p:txBody>
          <a:bodyPr wrap="none">
            <a:spAutoFit/>
          </a:bodyPr>
          <a:lstStyle/>
          <a:p>
            <a:r>
              <a:rPr lang="en-US" sz="2200" dirty="0">
                <a:solidFill>
                  <a:srgbClr val="000000"/>
                </a:solidFill>
                <a:latin typeface="Courier New" pitchFamily="49" charset="0"/>
                <a:cs typeface="Courier New" pitchFamily="49" charset="0"/>
              </a:rPr>
              <a:t>5’-gatttctgGAATTTGACACGTG-3’ </a:t>
            </a:r>
          </a:p>
          <a:p>
            <a:r>
              <a:rPr lang="en-US" sz="2200" dirty="0">
                <a:solidFill>
                  <a:srgbClr val="000000"/>
                </a:solidFill>
                <a:latin typeface="Courier New" pitchFamily="49" charset="0"/>
                <a:cs typeface="Courier New" pitchFamily="49" charset="0"/>
              </a:rPr>
              <a:t>3’-ctaaagacCTTAA-5’</a:t>
            </a:r>
          </a:p>
        </p:txBody>
      </p:sp>
      <p:sp>
        <p:nvSpPr>
          <p:cNvPr id="15" name="Rectangle 14"/>
          <p:cNvSpPr/>
          <p:nvPr/>
        </p:nvSpPr>
        <p:spPr>
          <a:xfrm>
            <a:off x="-3505200" y="5105400"/>
            <a:ext cx="4953000" cy="533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4800600" y="5638800"/>
            <a:ext cx="4953000" cy="533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9" name="Group 18"/>
          <p:cNvGrpSpPr/>
          <p:nvPr/>
        </p:nvGrpSpPr>
        <p:grpSpPr>
          <a:xfrm>
            <a:off x="457200" y="2286000"/>
            <a:ext cx="8167167" cy="1752600"/>
            <a:chOff x="0" y="1905000"/>
            <a:chExt cx="9167446" cy="1967251"/>
          </a:xfrm>
        </p:grpSpPr>
        <p:pic>
          <p:nvPicPr>
            <p:cNvPr id="17" name="Picture 16"/>
            <p:cNvPicPr>
              <a:picLocks noChangeAspect="1"/>
            </p:cNvPicPr>
            <p:nvPr/>
          </p:nvPicPr>
          <p:blipFill>
            <a:blip r:embed="rId4"/>
            <a:stretch>
              <a:fillRect/>
            </a:stretch>
          </p:blipFill>
          <p:spPr>
            <a:xfrm>
              <a:off x="23446" y="1905000"/>
              <a:ext cx="9144000" cy="1840230"/>
            </a:xfrm>
            <a:prstGeom prst="rect">
              <a:avLst/>
            </a:prstGeom>
          </p:spPr>
        </p:pic>
        <p:pic>
          <p:nvPicPr>
            <p:cNvPr id="18" name="Picture 17"/>
            <p:cNvPicPr>
              <a:picLocks noChangeAspect="1"/>
            </p:cNvPicPr>
            <p:nvPr/>
          </p:nvPicPr>
          <p:blipFill>
            <a:blip r:embed="rId5"/>
            <a:stretch>
              <a:fillRect/>
            </a:stretch>
          </p:blipFill>
          <p:spPr>
            <a:xfrm>
              <a:off x="0" y="3200400"/>
              <a:ext cx="9144000" cy="671851"/>
            </a:xfrm>
            <a:prstGeom prst="rect">
              <a:avLst/>
            </a:prstGeom>
          </p:spPr>
        </p:pic>
      </p:grpSp>
    </p:spTree>
    <p:extLst>
      <p:ext uri="{BB962C8B-B14F-4D97-AF65-F5344CB8AC3E}">
        <p14:creationId xmlns:p14="http://schemas.microsoft.com/office/powerpoint/2010/main" val="1908745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grpId="0" nodeType="clickEffect">
                                  <p:stCondLst>
                                    <p:cond delay="0"/>
                                  </p:stCondLst>
                                  <p:childTnLst>
                                    <p:animMotion origin="layout" path="M -3.33333E-6 6.66667E-6 L 0.53334 6.66667E-6 " pathEditMode="relative" ptsTypes="AA">
                                      <p:cBhvr>
                                        <p:cTn id="18" dur="2000" fill="hold"/>
                                        <p:tgtEl>
                                          <p:spTgt spid="15"/>
                                        </p:tgtEl>
                                        <p:attrNameLst>
                                          <p:attrName>ppt_x</p:attrName>
                                          <p:attrName>ppt_y</p:attrName>
                                        </p:attrNameLst>
                                      </p:cBhvr>
                                    </p:animMotion>
                                  </p:childTnLst>
                                </p:cTn>
                              </p:par>
                              <p:par>
                                <p:cTn id="19" presetID="0" presetClass="path" presetSubtype="0" accel="50000" decel="50000" fill="hold" grpId="0" nodeType="withEffect">
                                  <p:stCondLst>
                                    <p:cond delay="0"/>
                                  </p:stCondLst>
                                  <p:childTnLst>
                                    <p:animMotion origin="layout" path="M 3.33333E-6 -3.33333E-6 L -0.375 -3.33333E-6 " pathEditMode="relative" ptsTypes="AA">
                                      <p:cBhvr>
                                        <p:cTn id="20" dur="2000" fill="hold"/>
                                        <p:tgtEl>
                                          <p:spTgt spid="1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animBg="1"/>
      <p:bldP spid="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latin typeface="Rockwell Extra Bold" pitchFamily="18" charset="0"/>
                <a:cs typeface="Arial" pitchFamily="34" charset="0"/>
              </a:rPr>
              <a:t>T5 </a:t>
            </a:r>
            <a:r>
              <a:rPr lang="en-US" sz="3200" dirty="0" err="1">
                <a:latin typeface="Rockwell Extra Bold" pitchFamily="18" charset="0"/>
                <a:cs typeface="Arial" pitchFamily="34" charset="0"/>
              </a:rPr>
              <a:t>Exonuclease</a:t>
            </a:r>
            <a:r>
              <a:rPr lang="en-US" sz="3200" dirty="0">
                <a:latin typeface="Rockwell Extra Bold" pitchFamily="18" charset="0"/>
                <a:cs typeface="Arial" pitchFamily="34" charset="0"/>
              </a:rPr>
              <a:t> in Gibson Cloning</a:t>
            </a:r>
            <a:endParaRPr lang="en-US" sz="3200" b="1" dirty="0">
              <a:latin typeface="Rockwell Extra Bold" pitchFamily="18" charset="0"/>
              <a:cs typeface="Arial" pitchFamily="34" charset="0"/>
            </a:endParaRPr>
          </a:p>
        </p:txBody>
      </p:sp>
      <p:pic>
        <p:nvPicPr>
          <p:cNvPr id="2" name="Picture 1"/>
          <p:cNvPicPr>
            <a:picLocks noChangeAspect="1"/>
          </p:cNvPicPr>
          <p:nvPr/>
        </p:nvPicPr>
        <p:blipFill>
          <a:blip r:embed="rId3"/>
          <a:stretch>
            <a:fillRect/>
          </a:stretch>
        </p:blipFill>
        <p:spPr>
          <a:xfrm>
            <a:off x="1130300" y="1498600"/>
            <a:ext cx="6870700" cy="3860800"/>
          </a:xfrm>
          <a:prstGeom prst="rect">
            <a:avLst/>
          </a:prstGeom>
        </p:spPr>
      </p:pic>
    </p:spTree>
    <p:extLst>
      <p:ext uri="{BB962C8B-B14F-4D97-AF65-F5344CB8AC3E}">
        <p14:creationId xmlns:p14="http://schemas.microsoft.com/office/powerpoint/2010/main" val="862494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Some Applications of </a:t>
            </a:r>
            <a:r>
              <a:rPr lang="en-US" sz="3200" dirty="0" err="1">
                <a:solidFill>
                  <a:srgbClr val="1F497D">
                    <a:lumMod val="20000"/>
                    <a:lumOff val="80000"/>
                  </a:srgbClr>
                </a:solidFill>
                <a:latin typeface="Rockwell Extra Bold" pitchFamily="18" charset="0"/>
                <a:cs typeface="Arial" pitchFamily="34" charset="0"/>
              </a:rPr>
              <a:t>Exonucleases</a:t>
            </a:r>
            <a:endParaRPr lang="en-US" sz="3200" b="1" dirty="0">
              <a:solidFill>
                <a:srgbClr val="1F497D">
                  <a:lumMod val="20000"/>
                  <a:lumOff val="80000"/>
                </a:srgbClr>
              </a:solidFill>
              <a:latin typeface="Rockwell Extra Bold" pitchFamily="18" charset="0"/>
              <a:cs typeface="Arial" pitchFamily="34" charset="0"/>
            </a:endParaRPr>
          </a:p>
        </p:txBody>
      </p:sp>
      <p:sp>
        <p:nvSpPr>
          <p:cNvPr id="4" name="Rectangle 3"/>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Blunting a sticky end</a:t>
            </a:r>
          </a:p>
        </p:txBody>
      </p:sp>
      <p:sp>
        <p:nvSpPr>
          <p:cNvPr id="5" name="TextBox 4"/>
          <p:cNvSpPr txBox="1"/>
          <p:nvPr/>
        </p:nvSpPr>
        <p:spPr>
          <a:xfrm>
            <a:off x="1905000" y="1676400"/>
            <a:ext cx="5486400" cy="830997"/>
          </a:xfrm>
          <a:prstGeom prst="rect">
            <a:avLst/>
          </a:prstGeom>
          <a:noFill/>
        </p:spPr>
        <p:txBody>
          <a:bodyPr wrap="square" rtlCol="0">
            <a:spAutoFit/>
          </a:bodyPr>
          <a:lstStyle/>
          <a:p>
            <a:r>
              <a:rPr lang="en-US" sz="2400" dirty="0">
                <a:solidFill>
                  <a:schemeClr val="tx2">
                    <a:lumMod val="20000"/>
                    <a:lumOff val="80000"/>
                  </a:schemeClr>
                </a:solidFill>
                <a:latin typeface="Courier New" pitchFamily="49" charset="0"/>
                <a:cs typeface="Courier New" pitchFamily="49" charset="0"/>
              </a:rPr>
              <a:t>5’-cttcg</a:t>
            </a:r>
            <a:r>
              <a:rPr lang="en-US" sz="2400" dirty="0">
                <a:solidFill>
                  <a:schemeClr val="accent2">
                    <a:lumMod val="40000"/>
                    <a:lumOff val="60000"/>
                  </a:schemeClr>
                </a:solidFill>
                <a:latin typeface="Courier New" pitchFamily="49" charset="0"/>
                <a:cs typeface="Courier New" pitchFamily="49" charset="0"/>
              </a:rPr>
              <a:t>GGATCC</a:t>
            </a:r>
            <a:r>
              <a:rPr lang="en-US" sz="2400" dirty="0">
                <a:solidFill>
                  <a:schemeClr val="tx2">
                    <a:lumMod val="20000"/>
                    <a:lumOff val="80000"/>
                  </a:schemeClr>
                </a:solidFill>
                <a:latin typeface="Courier New" pitchFamily="49" charset="0"/>
                <a:cs typeface="Courier New" pitchFamily="49" charset="0"/>
              </a:rPr>
              <a:t>gctggcaga…-3’</a:t>
            </a:r>
          </a:p>
          <a:p>
            <a:r>
              <a:rPr lang="en-US" sz="2400" dirty="0">
                <a:solidFill>
                  <a:schemeClr val="tx2">
                    <a:lumMod val="20000"/>
                    <a:lumOff val="80000"/>
                  </a:schemeClr>
                </a:solidFill>
                <a:latin typeface="Courier New" pitchFamily="49" charset="0"/>
                <a:cs typeface="Courier New" pitchFamily="49" charset="0"/>
              </a:rPr>
              <a:t>3’-gaagc</a:t>
            </a:r>
            <a:r>
              <a:rPr lang="en-US" sz="2400" dirty="0">
                <a:solidFill>
                  <a:schemeClr val="accent2">
                    <a:lumMod val="40000"/>
                    <a:lumOff val="60000"/>
                  </a:schemeClr>
                </a:solidFill>
                <a:latin typeface="Courier New" pitchFamily="49" charset="0"/>
                <a:cs typeface="Courier New" pitchFamily="49" charset="0"/>
              </a:rPr>
              <a:t>CCTAGG</a:t>
            </a:r>
            <a:r>
              <a:rPr lang="en-US" sz="2400" dirty="0">
                <a:solidFill>
                  <a:schemeClr val="tx2">
                    <a:lumMod val="20000"/>
                    <a:lumOff val="80000"/>
                  </a:schemeClr>
                </a:solidFill>
                <a:latin typeface="Courier New" pitchFamily="49" charset="0"/>
                <a:cs typeface="Courier New" pitchFamily="49" charset="0"/>
              </a:rPr>
              <a:t>cgaccgtct…-5’</a:t>
            </a:r>
          </a:p>
        </p:txBody>
      </p:sp>
      <p:sp>
        <p:nvSpPr>
          <p:cNvPr id="6" name="TextBox 5"/>
          <p:cNvSpPr txBox="1"/>
          <p:nvPr/>
        </p:nvSpPr>
        <p:spPr>
          <a:xfrm>
            <a:off x="1295400" y="2979003"/>
            <a:ext cx="2971800" cy="830997"/>
          </a:xfrm>
          <a:prstGeom prst="rect">
            <a:avLst/>
          </a:prstGeom>
          <a:noFill/>
        </p:spPr>
        <p:txBody>
          <a:bodyPr wrap="square" rtlCol="0">
            <a:spAutoFit/>
          </a:bodyPr>
          <a:lstStyle/>
          <a:p>
            <a:r>
              <a:rPr lang="en-US" sz="2400" dirty="0">
                <a:solidFill>
                  <a:schemeClr val="tx2">
                    <a:lumMod val="20000"/>
                    <a:lumOff val="80000"/>
                  </a:schemeClr>
                </a:solidFill>
                <a:latin typeface="Courier New" pitchFamily="49" charset="0"/>
                <a:cs typeface="Courier New" pitchFamily="49" charset="0"/>
              </a:rPr>
              <a:t>5’-cttcg</a:t>
            </a:r>
            <a:r>
              <a:rPr lang="en-US" sz="2400" dirty="0">
                <a:solidFill>
                  <a:schemeClr val="accent2">
                    <a:lumMod val="40000"/>
                    <a:lumOff val="60000"/>
                  </a:schemeClr>
                </a:solidFill>
                <a:latin typeface="Courier New" pitchFamily="49" charset="0"/>
                <a:cs typeface="Courier New" pitchFamily="49" charset="0"/>
              </a:rPr>
              <a:t>G</a:t>
            </a:r>
            <a:endParaRPr lang="en-US" sz="2400" dirty="0">
              <a:solidFill>
                <a:schemeClr val="tx2">
                  <a:lumMod val="20000"/>
                  <a:lumOff val="80000"/>
                </a:schemeClr>
              </a:solidFill>
              <a:latin typeface="Courier New" pitchFamily="49" charset="0"/>
              <a:cs typeface="Courier New" pitchFamily="49" charset="0"/>
            </a:endParaRPr>
          </a:p>
          <a:p>
            <a:r>
              <a:rPr lang="en-US" sz="2400" dirty="0">
                <a:solidFill>
                  <a:schemeClr val="tx2">
                    <a:lumMod val="20000"/>
                    <a:lumOff val="80000"/>
                  </a:schemeClr>
                </a:solidFill>
                <a:latin typeface="Courier New" pitchFamily="49" charset="0"/>
                <a:cs typeface="Courier New" pitchFamily="49" charset="0"/>
              </a:rPr>
              <a:t>3’-gaagc</a:t>
            </a:r>
            <a:r>
              <a:rPr lang="en-US" sz="2400" dirty="0">
                <a:solidFill>
                  <a:schemeClr val="accent2">
                    <a:lumMod val="40000"/>
                    <a:lumOff val="60000"/>
                  </a:schemeClr>
                </a:solidFill>
                <a:latin typeface="Courier New" pitchFamily="49" charset="0"/>
                <a:cs typeface="Courier New" pitchFamily="49" charset="0"/>
              </a:rPr>
              <a:t>CCTAG</a:t>
            </a:r>
            <a:endParaRPr lang="en-US" sz="2400" dirty="0">
              <a:solidFill>
                <a:schemeClr val="tx2">
                  <a:lumMod val="20000"/>
                  <a:lumOff val="80000"/>
                </a:schemeClr>
              </a:solidFill>
              <a:latin typeface="Courier New" pitchFamily="49" charset="0"/>
              <a:cs typeface="Courier New" pitchFamily="49" charset="0"/>
            </a:endParaRPr>
          </a:p>
        </p:txBody>
      </p:sp>
      <p:sp>
        <p:nvSpPr>
          <p:cNvPr id="8" name="Rectangle 7"/>
          <p:cNvSpPr/>
          <p:nvPr/>
        </p:nvSpPr>
        <p:spPr>
          <a:xfrm>
            <a:off x="4918390" y="3436203"/>
            <a:ext cx="3502882" cy="830997"/>
          </a:xfrm>
          <a:prstGeom prst="rect">
            <a:avLst/>
          </a:prstGeom>
        </p:spPr>
        <p:txBody>
          <a:bodyPr wrap="none">
            <a:spAutoFit/>
          </a:bodyPr>
          <a:lstStyle/>
          <a:p>
            <a:r>
              <a:rPr lang="en-US" sz="2400" dirty="0" err="1">
                <a:solidFill>
                  <a:schemeClr val="accent2">
                    <a:lumMod val="40000"/>
                    <a:lumOff val="60000"/>
                  </a:schemeClr>
                </a:solidFill>
                <a:latin typeface="Courier New" pitchFamily="49" charset="0"/>
                <a:cs typeface="Courier New" pitchFamily="49" charset="0"/>
              </a:rPr>
              <a:t>GATCC</a:t>
            </a:r>
            <a:r>
              <a:rPr lang="en-US" sz="2400" dirty="0" err="1">
                <a:solidFill>
                  <a:schemeClr val="tx2">
                    <a:lumMod val="20000"/>
                    <a:lumOff val="80000"/>
                  </a:schemeClr>
                </a:solidFill>
                <a:latin typeface="Courier New" pitchFamily="49" charset="0"/>
                <a:cs typeface="Courier New" pitchFamily="49" charset="0"/>
              </a:rPr>
              <a:t>gctggcaga</a:t>
            </a:r>
            <a:r>
              <a:rPr lang="en-US" sz="2400" dirty="0">
                <a:solidFill>
                  <a:srgbClr val="1F497D">
                    <a:lumMod val="20000"/>
                    <a:lumOff val="80000"/>
                  </a:srgbClr>
                </a:solidFill>
                <a:latin typeface="Courier New" pitchFamily="49" charset="0"/>
                <a:cs typeface="Courier New" pitchFamily="49" charset="0"/>
              </a:rPr>
              <a:t>…-3’</a:t>
            </a:r>
          </a:p>
          <a:p>
            <a:r>
              <a:rPr lang="en-US" sz="2400" dirty="0">
                <a:solidFill>
                  <a:schemeClr val="accent2">
                    <a:lumMod val="40000"/>
                    <a:lumOff val="60000"/>
                  </a:schemeClr>
                </a:solidFill>
                <a:latin typeface="Courier New" pitchFamily="49" charset="0"/>
                <a:cs typeface="Courier New" pitchFamily="49" charset="0"/>
              </a:rPr>
              <a:t>    </a:t>
            </a:r>
            <a:r>
              <a:rPr lang="en-US" sz="2400" dirty="0" err="1">
                <a:solidFill>
                  <a:schemeClr val="accent2">
                    <a:lumMod val="40000"/>
                    <a:lumOff val="60000"/>
                  </a:schemeClr>
                </a:solidFill>
                <a:latin typeface="Courier New" pitchFamily="49" charset="0"/>
                <a:cs typeface="Courier New" pitchFamily="49" charset="0"/>
              </a:rPr>
              <a:t>G</a:t>
            </a:r>
            <a:r>
              <a:rPr lang="en-US" sz="2400" dirty="0" err="1">
                <a:solidFill>
                  <a:schemeClr val="tx2">
                    <a:lumMod val="20000"/>
                    <a:lumOff val="80000"/>
                  </a:schemeClr>
                </a:solidFill>
                <a:latin typeface="Courier New" pitchFamily="49" charset="0"/>
                <a:cs typeface="Courier New" pitchFamily="49" charset="0"/>
              </a:rPr>
              <a:t>cgaccgtct</a:t>
            </a:r>
            <a:r>
              <a:rPr lang="en-US" sz="2400" dirty="0">
                <a:solidFill>
                  <a:srgbClr val="1F497D">
                    <a:lumMod val="20000"/>
                    <a:lumOff val="80000"/>
                  </a:srgbClr>
                </a:solidFill>
                <a:latin typeface="Courier New" pitchFamily="49" charset="0"/>
                <a:cs typeface="Courier New" pitchFamily="49" charset="0"/>
              </a:rPr>
              <a:t>…-5’</a:t>
            </a:r>
            <a:endParaRPr lang="en-US" dirty="0"/>
          </a:p>
        </p:txBody>
      </p:sp>
      <p:sp>
        <p:nvSpPr>
          <p:cNvPr id="9" name="Rectangle 8"/>
          <p:cNvSpPr/>
          <p:nvPr/>
        </p:nvSpPr>
        <p:spPr>
          <a:xfrm>
            <a:off x="4232590" y="3360003"/>
            <a:ext cx="492443" cy="707886"/>
          </a:xfrm>
          <a:prstGeom prst="rect">
            <a:avLst/>
          </a:prstGeom>
        </p:spPr>
        <p:txBody>
          <a:bodyPr wrap="none">
            <a:spAutoFit/>
          </a:bodyPr>
          <a:lstStyle/>
          <a:p>
            <a:r>
              <a:rPr lang="en-US" sz="4000" b="1" dirty="0">
                <a:solidFill>
                  <a:srgbClr val="1F497D">
                    <a:lumMod val="20000"/>
                    <a:lumOff val="80000"/>
                  </a:srgbClr>
                </a:solidFill>
                <a:latin typeface="Courier New" pitchFamily="49" charset="0"/>
                <a:cs typeface="Courier New" pitchFamily="49" charset="0"/>
              </a:rPr>
              <a:t>+</a:t>
            </a:r>
            <a:endParaRPr lang="en-US" sz="4000" b="1" dirty="0"/>
          </a:p>
        </p:txBody>
      </p:sp>
      <p:cxnSp>
        <p:nvCxnSpPr>
          <p:cNvPr id="10" name="Straight Arrow Connector 9"/>
          <p:cNvCxnSpPr/>
          <p:nvPr/>
        </p:nvCxnSpPr>
        <p:spPr>
          <a:xfrm rot="5400000">
            <a:off x="4232590" y="2894806"/>
            <a:ext cx="457200" cy="1588"/>
          </a:xfrm>
          <a:prstGeom prst="straightConnector1">
            <a:avLst/>
          </a:prstGeom>
          <a:ln w="38100">
            <a:solidFill>
              <a:schemeClr val="tx2">
                <a:lumMod val="20000"/>
                <a:lumOff val="80000"/>
              </a:schemeClr>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295400" y="4884003"/>
            <a:ext cx="2971800" cy="830997"/>
          </a:xfrm>
          <a:prstGeom prst="rect">
            <a:avLst/>
          </a:prstGeom>
          <a:noFill/>
        </p:spPr>
        <p:txBody>
          <a:bodyPr wrap="square" rtlCol="0">
            <a:spAutoFit/>
          </a:bodyPr>
          <a:lstStyle/>
          <a:p>
            <a:r>
              <a:rPr lang="en-US" sz="2400" dirty="0">
                <a:solidFill>
                  <a:schemeClr val="tx2">
                    <a:lumMod val="20000"/>
                    <a:lumOff val="80000"/>
                  </a:schemeClr>
                </a:solidFill>
                <a:latin typeface="Courier New" pitchFamily="49" charset="0"/>
                <a:cs typeface="Courier New" pitchFamily="49" charset="0"/>
              </a:rPr>
              <a:t>5’-cttcg</a:t>
            </a:r>
            <a:r>
              <a:rPr lang="en-US" sz="2400" dirty="0">
                <a:solidFill>
                  <a:schemeClr val="accent2">
                    <a:lumMod val="40000"/>
                    <a:lumOff val="60000"/>
                  </a:schemeClr>
                </a:solidFill>
                <a:latin typeface="Courier New" pitchFamily="49" charset="0"/>
                <a:cs typeface="Courier New" pitchFamily="49" charset="0"/>
              </a:rPr>
              <a:t>G</a:t>
            </a:r>
            <a:endParaRPr lang="en-US" sz="2400" dirty="0">
              <a:solidFill>
                <a:schemeClr val="tx2">
                  <a:lumMod val="20000"/>
                  <a:lumOff val="80000"/>
                </a:schemeClr>
              </a:solidFill>
              <a:latin typeface="Courier New" pitchFamily="49" charset="0"/>
              <a:cs typeface="Courier New" pitchFamily="49" charset="0"/>
            </a:endParaRPr>
          </a:p>
          <a:p>
            <a:r>
              <a:rPr lang="en-US" sz="2400" dirty="0">
                <a:solidFill>
                  <a:schemeClr val="tx2">
                    <a:lumMod val="20000"/>
                    <a:lumOff val="80000"/>
                  </a:schemeClr>
                </a:solidFill>
                <a:latin typeface="Courier New" pitchFamily="49" charset="0"/>
                <a:cs typeface="Courier New" pitchFamily="49" charset="0"/>
              </a:rPr>
              <a:t>3’-gaagc</a:t>
            </a:r>
            <a:r>
              <a:rPr lang="en-US" sz="2400" dirty="0">
                <a:solidFill>
                  <a:schemeClr val="accent2">
                    <a:lumMod val="40000"/>
                    <a:lumOff val="60000"/>
                  </a:schemeClr>
                </a:solidFill>
                <a:latin typeface="Courier New" pitchFamily="49" charset="0"/>
                <a:cs typeface="Courier New" pitchFamily="49" charset="0"/>
              </a:rPr>
              <a:t>C</a:t>
            </a:r>
            <a:endParaRPr lang="en-US" sz="2400" dirty="0">
              <a:solidFill>
                <a:schemeClr val="tx2">
                  <a:lumMod val="20000"/>
                  <a:lumOff val="80000"/>
                </a:schemeClr>
              </a:solidFill>
              <a:latin typeface="Courier New" pitchFamily="49" charset="0"/>
              <a:cs typeface="Courier New" pitchFamily="49" charset="0"/>
            </a:endParaRPr>
          </a:p>
        </p:txBody>
      </p:sp>
      <p:sp>
        <p:nvSpPr>
          <p:cNvPr id="12" name="Rectangle 11"/>
          <p:cNvSpPr/>
          <p:nvPr/>
        </p:nvSpPr>
        <p:spPr>
          <a:xfrm>
            <a:off x="4918390" y="5341203"/>
            <a:ext cx="2765501" cy="830997"/>
          </a:xfrm>
          <a:prstGeom prst="rect">
            <a:avLst/>
          </a:prstGeom>
        </p:spPr>
        <p:txBody>
          <a:bodyPr wrap="none">
            <a:spAutoFit/>
          </a:bodyPr>
          <a:lstStyle/>
          <a:p>
            <a:r>
              <a:rPr lang="en-US" sz="2400" dirty="0" err="1">
                <a:solidFill>
                  <a:schemeClr val="accent2">
                    <a:lumMod val="40000"/>
                    <a:lumOff val="60000"/>
                  </a:schemeClr>
                </a:solidFill>
                <a:latin typeface="Courier New" pitchFamily="49" charset="0"/>
                <a:cs typeface="Courier New" pitchFamily="49" charset="0"/>
              </a:rPr>
              <a:t>C</a:t>
            </a:r>
            <a:r>
              <a:rPr lang="en-US" sz="2400" dirty="0" err="1">
                <a:solidFill>
                  <a:schemeClr val="tx2">
                    <a:lumMod val="20000"/>
                    <a:lumOff val="80000"/>
                  </a:schemeClr>
                </a:solidFill>
                <a:latin typeface="Courier New" pitchFamily="49" charset="0"/>
                <a:cs typeface="Courier New" pitchFamily="49" charset="0"/>
              </a:rPr>
              <a:t>gctggcaga</a:t>
            </a:r>
            <a:r>
              <a:rPr lang="en-US" sz="2400" dirty="0">
                <a:solidFill>
                  <a:srgbClr val="1F497D">
                    <a:lumMod val="20000"/>
                    <a:lumOff val="80000"/>
                  </a:srgbClr>
                </a:solidFill>
                <a:latin typeface="Courier New" pitchFamily="49" charset="0"/>
                <a:cs typeface="Courier New" pitchFamily="49" charset="0"/>
              </a:rPr>
              <a:t>…-3’</a:t>
            </a:r>
          </a:p>
          <a:p>
            <a:r>
              <a:rPr lang="en-US" sz="2400" dirty="0" err="1">
                <a:solidFill>
                  <a:schemeClr val="accent2">
                    <a:lumMod val="40000"/>
                    <a:lumOff val="60000"/>
                  </a:schemeClr>
                </a:solidFill>
                <a:latin typeface="Courier New" pitchFamily="49" charset="0"/>
                <a:cs typeface="Courier New" pitchFamily="49" charset="0"/>
              </a:rPr>
              <a:t>G</a:t>
            </a:r>
            <a:r>
              <a:rPr lang="en-US" sz="2400" dirty="0" err="1">
                <a:solidFill>
                  <a:schemeClr val="tx2">
                    <a:lumMod val="20000"/>
                    <a:lumOff val="80000"/>
                  </a:schemeClr>
                </a:solidFill>
                <a:latin typeface="Courier New" pitchFamily="49" charset="0"/>
                <a:cs typeface="Courier New" pitchFamily="49" charset="0"/>
              </a:rPr>
              <a:t>cgaccgtct</a:t>
            </a:r>
            <a:r>
              <a:rPr lang="en-US" sz="2400" dirty="0">
                <a:solidFill>
                  <a:srgbClr val="1F497D">
                    <a:lumMod val="20000"/>
                    <a:lumOff val="80000"/>
                  </a:srgbClr>
                </a:solidFill>
                <a:latin typeface="Courier New" pitchFamily="49" charset="0"/>
                <a:cs typeface="Courier New" pitchFamily="49" charset="0"/>
              </a:rPr>
              <a:t>…-5’</a:t>
            </a:r>
            <a:endParaRPr lang="en-US" dirty="0"/>
          </a:p>
        </p:txBody>
      </p:sp>
      <p:sp>
        <p:nvSpPr>
          <p:cNvPr id="13" name="Rectangle 12"/>
          <p:cNvSpPr/>
          <p:nvPr/>
        </p:nvSpPr>
        <p:spPr>
          <a:xfrm>
            <a:off x="3886200" y="5265003"/>
            <a:ext cx="492443" cy="707886"/>
          </a:xfrm>
          <a:prstGeom prst="rect">
            <a:avLst/>
          </a:prstGeom>
        </p:spPr>
        <p:txBody>
          <a:bodyPr wrap="none">
            <a:spAutoFit/>
          </a:bodyPr>
          <a:lstStyle/>
          <a:p>
            <a:r>
              <a:rPr lang="en-US" sz="4000" b="1" dirty="0">
                <a:solidFill>
                  <a:srgbClr val="1F497D">
                    <a:lumMod val="20000"/>
                    <a:lumOff val="80000"/>
                  </a:srgbClr>
                </a:solidFill>
                <a:latin typeface="Courier New" pitchFamily="49" charset="0"/>
                <a:cs typeface="Courier New" pitchFamily="49" charset="0"/>
              </a:rPr>
              <a:t>+</a:t>
            </a:r>
            <a:endParaRPr lang="en-US" sz="4000" b="1" dirty="0"/>
          </a:p>
        </p:txBody>
      </p:sp>
      <p:cxnSp>
        <p:nvCxnSpPr>
          <p:cNvPr id="14" name="Straight Arrow Connector 13"/>
          <p:cNvCxnSpPr/>
          <p:nvPr/>
        </p:nvCxnSpPr>
        <p:spPr>
          <a:xfrm rot="5400000">
            <a:off x="4232590" y="4799806"/>
            <a:ext cx="457200" cy="1588"/>
          </a:xfrm>
          <a:prstGeom prst="straightConnector1">
            <a:avLst/>
          </a:prstGeom>
          <a:ln w="38100">
            <a:solidFill>
              <a:schemeClr val="tx2">
                <a:lumMod val="20000"/>
                <a:lumOff val="80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648200" y="2667000"/>
            <a:ext cx="1160895" cy="461665"/>
          </a:xfrm>
          <a:prstGeom prst="rect">
            <a:avLst/>
          </a:prstGeom>
          <a:noFill/>
        </p:spPr>
        <p:txBody>
          <a:bodyPr wrap="none" rtlCol="0">
            <a:spAutoFit/>
          </a:bodyPr>
          <a:lstStyle/>
          <a:p>
            <a:r>
              <a:rPr lang="en-US" sz="2400" b="1" dirty="0" err="1">
                <a:solidFill>
                  <a:schemeClr val="tx2">
                    <a:lumMod val="20000"/>
                    <a:lumOff val="80000"/>
                  </a:schemeClr>
                </a:solidFill>
              </a:rPr>
              <a:t>BamHI</a:t>
            </a:r>
            <a:endParaRPr lang="en-US" sz="2400" b="1" dirty="0">
              <a:solidFill>
                <a:schemeClr val="tx2">
                  <a:lumMod val="20000"/>
                  <a:lumOff val="80000"/>
                </a:schemeClr>
              </a:solidFill>
            </a:endParaRPr>
          </a:p>
        </p:txBody>
      </p:sp>
      <p:sp>
        <p:nvSpPr>
          <p:cNvPr id="16" name="TextBox 15"/>
          <p:cNvSpPr txBox="1"/>
          <p:nvPr/>
        </p:nvSpPr>
        <p:spPr>
          <a:xfrm>
            <a:off x="4648200" y="4567535"/>
            <a:ext cx="3280065" cy="461665"/>
          </a:xfrm>
          <a:prstGeom prst="rect">
            <a:avLst/>
          </a:prstGeom>
          <a:noFill/>
        </p:spPr>
        <p:txBody>
          <a:bodyPr wrap="none" rtlCol="0">
            <a:spAutoFit/>
          </a:bodyPr>
          <a:lstStyle/>
          <a:p>
            <a:r>
              <a:rPr lang="en-US" sz="2400" b="1" dirty="0" err="1">
                <a:solidFill>
                  <a:schemeClr val="tx2">
                    <a:lumMod val="20000"/>
                    <a:lumOff val="80000"/>
                  </a:schemeClr>
                </a:solidFill>
              </a:rPr>
              <a:t>Mung</a:t>
            </a:r>
            <a:r>
              <a:rPr lang="en-US" sz="2400" b="1" dirty="0">
                <a:solidFill>
                  <a:schemeClr val="tx2">
                    <a:lumMod val="20000"/>
                    <a:lumOff val="80000"/>
                  </a:schemeClr>
                </a:solidFill>
              </a:rPr>
              <a:t> Bean Nuclease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1349514"/>
            <a:ext cx="9144000" cy="707886"/>
          </a:xfrm>
          <a:prstGeom prst="rect">
            <a:avLst/>
          </a:prstGeom>
          <a:noFill/>
          <a:ln w="9525">
            <a:noFill/>
            <a:miter lim="800000"/>
            <a:headEnd/>
            <a:tailEnd/>
          </a:ln>
        </p:spPr>
        <p:txBody>
          <a:bodyPr wrap="square">
            <a:spAutoFit/>
          </a:bodyPr>
          <a:lstStyle/>
          <a:p>
            <a:pPr algn="ctr"/>
            <a:r>
              <a:rPr lang="en-US" sz="4000" dirty="0">
                <a:solidFill>
                  <a:schemeClr val="bg1"/>
                </a:solidFill>
                <a:latin typeface="Rockwell Extra Bold" pitchFamily="18" charset="0"/>
                <a:cs typeface="Arial" pitchFamily="34" charset="0"/>
              </a:rPr>
              <a:t>DNA Polymerases</a:t>
            </a:r>
          </a:p>
        </p:txBody>
      </p:sp>
      <p:sp>
        <p:nvSpPr>
          <p:cNvPr id="7" name="Rectangle 5"/>
          <p:cNvSpPr>
            <a:spLocks noChangeArrowheads="1"/>
          </p:cNvSpPr>
          <p:nvPr/>
        </p:nvSpPr>
        <p:spPr bwMode="auto">
          <a:xfrm>
            <a:off x="2819400" y="2895600"/>
            <a:ext cx="4495799" cy="1200329"/>
          </a:xfrm>
          <a:prstGeom prst="rect">
            <a:avLst/>
          </a:prstGeom>
          <a:noFill/>
          <a:ln w="9525">
            <a:noFill/>
            <a:miter lim="800000"/>
            <a:headEnd/>
            <a:tailEnd/>
          </a:ln>
        </p:spPr>
        <p:txBody>
          <a:bodyPr wrap="square">
            <a:spAutoFit/>
          </a:bodyPr>
          <a:lstStyle/>
          <a:p>
            <a:r>
              <a:rPr lang="en-US" sz="2400" dirty="0">
                <a:solidFill>
                  <a:schemeClr val="bg1"/>
                </a:solidFill>
                <a:latin typeface="Calibri" pitchFamily="34" charset="0"/>
              </a:rPr>
              <a:t>Enzymes that add </a:t>
            </a:r>
            <a:r>
              <a:rPr lang="en-US" sz="2400" dirty="0" err="1">
                <a:solidFill>
                  <a:schemeClr val="bg1"/>
                </a:solidFill>
                <a:latin typeface="Calibri" pitchFamily="34" charset="0"/>
              </a:rPr>
              <a:t>dNTPs</a:t>
            </a:r>
            <a:r>
              <a:rPr lang="en-US" sz="2400" dirty="0">
                <a:solidFill>
                  <a:schemeClr val="bg1"/>
                </a:solidFill>
                <a:latin typeface="Calibri" pitchFamily="34" charset="0"/>
              </a:rPr>
              <a:t> to recessed 3’ DNA ends (5’ extensions)</a:t>
            </a:r>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DNA Polymerase I</a:t>
            </a:r>
            <a:endParaRPr lang="en-US" sz="3200" b="1" dirty="0">
              <a:solidFill>
                <a:srgbClr val="1F497D">
                  <a:lumMod val="20000"/>
                  <a:lumOff val="80000"/>
                </a:srgbClr>
              </a:solidFill>
              <a:latin typeface="Rockwell Extra Bold" pitchFamily="18" charset="0"/>
              <a:cs typeface="Arial" pitchFamily="34" charset="0"/>
            </a:endParaRPr>
          </a:p>
        </p:txBody>
      </p:sp>
      <p:pic>
        <p:nvPicPr>
          <p:cNvPr id="108545" name="Picture 1"/>
          <p:cNvPicPr>
            <a:picLocks noChangeAspect="1" noChangeArrowheads="1"/>
          </p:cNvPicPr>
          <p:nvPr/>
        </p:nvPicPr>
        <p:blipFill>
          <a:blip r:embed="rId3" cstate="print"/>
          <a:srcRect/>
          <a:stretch>
            <a:fillRect/>
          </a:stretch>
        </p:blipFill>
        <p:spPr bwMode="auto">
          <a:xfrm>
            <a:off x="2286000" y="3429000"/>
            <a:ext cx="5181600" cy="3454400"/>
          </a:xfrm>
          <a:prstGeom prst="rect">
            <a:avLst/>
          </a:prstGeom>
          <a:noFill/>
          <a:ln w="9525">
            <a:noFill/>
            <a:miter lim="800000"/>
            <a:headEnd/>
            <a:tailEnd/>
          </a:ln>
          <a:effectLst/>
        </p:spPr>
      </p:pic>
      <p:sp>
        <p:nvSpPr>
          <p:cNvPr id="5" name="Rectangle 4"/>
          <p:cNvSpPr/>
          <p:nvPr/>
        </p:nvSpPr>
        <p:spPr>
          <a:xfrm>
            <a:off x="304800" y="990600"/>
            <a:ext cx="7467600" cy="1938992"/>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Involved in replication and DNA repair</a:t>
            </a:r>
          </a:p>
          <a:p>
            <a:pPr marL="457200" indent="-457200">
              <a:buFont typeface="Wingdings" pitchFamily="2" charset="2"/>
              <a:buChar char="§"/>
            </a:pPr>
            <a:r>
              <a:rPr lang="en-US" sz="2400" dirty="0">
                <a:solidFill>
                  <a:srgbClr val="1F497D">
                    <a:lumMod val="20000"/>
                    <a:lumOff val="80000"/>
                  </a:srgbClr>
                </a:solidFill>
                <a:latin typeface="Calibri" pitchFamily="34" charset="0"/>
              </a:rPr>
              <a:t>Has multiple domains each doing different things</a:t>
            </a:r>
          </a:p>
          <a:p>
            <a:pPr marL="457200" indent="-457200">
              <a:buFont typeface="Wingdings" pitchFamily="2" charset="2"/>
              <a:buChar char="§"/>
            </a:pPr>
            <a:r>
              <a:rPr lang="en-US" sz="2400" dirty="0">
                <a:solidFill>
                  <a:srgbClr val="1F497D">
                    <a:lumMod val="20000"/>
                    <a:lumOff val="80000"/>
                  </a:srgbClr>
                </a:solidFill>
                <a:latin typeface="Calibri" pitchFamily="34" charset="0"/>
              </a:rPr>
              <a:t>“</a:t>
            </a:r>
            <a:r>
              <a:rPr lang="en-US" sz="2400" dirty="0" err="1">
                <a:solidFill>
                  <a:srgbClr val="1F497D">
                    <a:lumMod val="20000"/>
                    <a:lumOff val="80000"/>
                  </a:srgbClr>
                </a:solidFill>
                <a:latin typeface="Calibri" pitchFamily="34" charset="0"/>
              </a:rPr>
              <a:t>Klenow</a:t>
            </a:r>
            <a:r>
              <a:rPr lang="en-US" sz="2400" dirty="0">
                <a:solidFill>
                  <a:srgbClr val="1F497D">
                    <a:lumMod val="20000"/>
                    <a:lumOff val="80000"/>
                  </a:srgbClr>
                </a:solidFill>
                <a:latin typeface="Calibri" pitchFamily="34" charset="0"/>
              </a:rPr>
              <a:t> Fragment” includes only the synthesis domain</a:t>
            </a:r>
          </a:p>
          <a:p>
            <a:pPr marL="457200" indent="-457200">
              <a:buFont typeface="Wingdings" pitchFamily="2" charset="2"/>
              <a:buChar char="§"/>
            </a:pPr>
            <a:r>
              <a:rPr lang="en-US" sz="2400" dirty="0">
                <a:solidFill>
                  <a:srgbClr val="1F497D">
                    <a:lumMod val="20000"/>
                    <a:lumOff val="80000"/>
                  </a:srgbClr>
                </a:solidFill>
                <a:latin typeface="Calibri" pitchFamily="34" charset="0"/>
              </a:rPr>
              <a:t>Most </a:t>
            </a:r>
            <a:r>
              <a:rPr lang="en-US" sz="2400" dirty="0" err="1">
                <a:solidFill>
                  <a:srgbClr val="1F497D">
                    <a:lumMod val="20000"/>
                    <a:lumOff val="80000"/>
                  </a:srgbClr>
                </a:solidFill>
                <a:latin typeface="Calibri" pitchFamily="34" charset="0"/>
              </a:rPr>
              <a:t>thermostable</a:t>
            </a:r>
            <a:r>
              <a:rPr lang="en-US" sz="2400" dirty="0">
                <a:solidFill>
                  <a:srgbClr val="1F497D">
                    <a:lumMod val="20000"/>
                    <a:lumOff val="80000"/>
                  </a:srgbClr>
                </a:solidFill>
                <a:latin typeface="Calibri" pitchFamily="34" charset="0"/>
              </a:rPr>
              <a:t> polymerases are </a:t>
            </a:r>
            <a:r>
              <a:rPr lang="en-US" sz="2400" dirty="0" err="1">
                <a:solidFill>
                  <a:srgbClr val="1F497D">
                    <a:lumMod val="20000"/>
                    <a:lumOff val="80000"/>
                  </a:srgbClr>
                </a:solidFill>
                <a:latin typeface="Calibri" pitchFamily="34" charset="0"/>
              </a:rPr>
              <a:t>homologs</a:t>
            </a:r>
            <a:r>
              <a:rPr lang="en-US" sz="2400" dirty="0">
                <a:solidFill>
                  <a:srgbClr val="1F497D">
                    <a:lumMod val="20000"/>
                    <a:lumOff val="80000"/>
                  </a:srgbClr>
                </a:solidFill>
                <a:latin typeface="Calibri" pitchFamily="34" charset="0"/>
              </a:rPr>
              <a:t> of DNA Polymerase I or several subunits thereof</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8600" y="1371600"/>
            <a:ext cx="8686800" cy="3886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Distinguishing Features</a:t>
            </a:r>
            <a:endParaRPr lang="en-US" sz="3200" b="1" dirty="0">
              <a:solidFill>
                <a:srgbClr val="1F497D">
                  <a:lumMod val="20000"/>
                  <a:lumOff val="80000"/>
                </a:srgbClr>
              </a:solidFill>
              <a:latin typeface="Rockwell Extra Bold" pitchFamily="18" charset="0"/>
              <a:cs typeface="Arial" pitchFamily="34" charset="0"/>
            </a:endParaRPr>
          </a:p>
        </p:txBody>
      </p:sp>
      <p:graphicFrame>
        <p:nvGraphicFramePr>
          <p:cNvPr id="106498" name="Object 2"/>
          <p:cNvGraphicFramePr>
            <a:graphicFrameLocks noChangeAspect="1"/>
          </p:cNvGraphicFramePr>
          <p:nvPr/>
        </p:nvGraphicFramePr>
        <p:xfrm>
          <a:off x="209550" y="1376363"/>
          <a:ext cx="8691742" cy="3881437"/>
        </p:xfrm>
        <a:graphic>
          <a:graphicData uri="http://schemas.openxmlformats.org/presentationml/2006/ole">
            <mc:AlternateContent xmlns:mc="http://schemas.openxmlformats.org/markup-compatibility/2006">
              <mc:Choice xmlns:v="urn:schemas-microsoft-com:vml" Requires="v">
                <p:oleObj name="Worksheet" r:id="rId3" imgW="6229446" imgH="2781429" progId="Excel.Sheet.8">
                  <p:embed/>
                </p:oleObj>
              </mc:Choice>
              <mc:Fallback>
                <p:oleObj name="Worksheet" r:id="rId3" imgW="6229446" imgH="2781429" progId="Excel.Sheet.8">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550" y="1376363"/>
                        <a:ext cx="8691742" cy="38814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7" name="Rectangle 6"/>
          <p:cNvSpPr/>
          <p:nvPr/>
        </p:nvSpPr>
        <p:spPr>
          <a:xfrm>
            <a:off x="1143000" y="5715000"/>
            <a:ext cx="7010400" cy="461665"/>
          </a:xfrm>
          <a:prstGeom prst="rect">
            <a:avLst/>
          </a:prstGeom>
        </p:spPr>
        <p:txBody>
          <a:bodyPr wrap="square">
            <a:spAutoFit/>
          </a:bodyPr>
          <a:lstStyle/>
          <a:p>
            <a:r>
              <a:rPr lang="en-US" sz="1200" dirty="0">
                <a:solidFill>
                  <a:srgbClr val="1F497D">
                    <a:lumMod val="20000"/>
                    <a:lumOff val="80000"/>
                  </a:srgbClr>
                </a:solidFill>
              </a:rPr>
              <a:t>Adapted  from: http://www.neb.com/nebecomm/tech_reference/polymerases/properties_dna_polymerases.asp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5'—&gt;3' </a:t>
            </a:r>
            <a:r>
              <a:rPr lang="en-US" sz="3200" dirty="0" err="1">
                <a:solidFill>
                  <a:srgbClr val="1F497D">
                    <a:lumMod val="20000"/>
                    <a:lumOff val="80000"/>
                  </a:srgbClr>
                </a:solidFill>
                <a:latin typeface="Rockwell Extra Bold" pitchFamily="18" charset="0"/>
                <a:cs typeface="Arial" pitchFamily="34" charset="0"/>
              </a:rPr>
              <a:t>Exonuclease</a:t>
            </a:r>
            <a:r>
              <a:rPr lang="en-US" sz="3200" dirty="0">
                <a:solidFill>
                  <a:srgbClr val="1F497D">
                    <a:lumMod val="20000"/>
                    <a:lumOff val="80000"/>
                  </a:srgbClr>
                </a:solidFill>
                <a:latin typeface="Rockwell Extra Bold" pitchFamily="18" charset="0"/>
                <a:cs typeface="Arial" pitchFamily="34" charset="0"/>
              </a:rPr>
              <a:t> Activity</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830997"/>
          </a:xfrm>
          <a:prstGeom prst="rect">
            <a:avLst/>
          </a:prstGeom>
        </p:spPr>
        <p:txBody>
          <a:bodyPr wrap="square">
            <a:spAutoFit/>
          </a:bodyPr>
          <a:lstStyle/>
          <a:p>
            <a:r>
              <a:rPr lang="en-US" sz="2400" b="1" dirty="0">
                <a:solidFill>
                  <a:schemeClr val="tx2">
                    <a:lumMod val="20000"/>
                    <a:lumOff val="80000"/>
                  </a:schemeClr>
                </a:solidFill>
              </a:rPr>
              <a:t>This behavior is pretty rare</a:t>
            </a:r>
          </a:p>
          <a:p>
            <a:r>
              <a:rPr lang="en-US" sz="2400" b="1" dirty="0" err="1">
                <a:solidFill>
                  <a:schemeClr val="tx2">
                    <a:lumMod val="20000"/>
                    <a:lumOff val="80000"/>
                  </a:schemeClr>
                </a:solidFill>
              </a:rPr>
              <a:t>Taq</a:t>
            </a:r>
            <a:r>
              <a:rPr lang="en-US" sz="2400" b="1" dirty="0">
                <a:solidFill>
                  <a:schemeClr val="tx2">
                    <a:lumMod val="20000"/>
                    <a:lumOff val="80000"/>
                  </a:schemeClr>
                </a:solidFill>
              </a:rPr>
              <a:t> and </a:t>
            </a:r>
            <a:r>
              <a:rPr lang="en-US" sz="2400" b="1" i="1" dirty="0">
                <a:solidFill>
                  <a:schemeClr val="tx2">
                    <a:lumMod val="20000"/>
                    <a:lumOff val="80000"/>
                  </a:schemeClr>
                </a:solidFill>
              </a:rPr>
              <a:t>E. coli </a:t>
            </a:r>
            <a:r>
              <a:rPr lang="en-US" sz="2400" b="1" dirty="0" err="1">
                <a:solidFill>
                  <a:schemeClr val="tx2">
                    <a:lumMod val="20000"/>
                    <a:lumOff val="80000"/>
                  </a:schemeClr>
                </a:solidFill>
              </a:rPr>
              <a:t>pol</a:t>
            </a:r>
            <a:r>
              <a:rPr lang="en-US" sz="2400" b="1" dirty="0">
                <a:solidFill>
                  <a:schemeClr val="tx2">
                    <a:lumMod val="20000"/>
                    <a:lumOff val="80000"/>
                  </a:schemeClr>
                </a:solidFill>
              </a:rPr>
              <a:t> 1 have it</a:t>
            </a:r>
          </a:p>
        </p:txBody>
      </p:sp>
      <p:cxnSp>
        <p:nvCxnSpPr>
          <p:cNvPr id="23" name="Straight Connector 22"/>
          <p:cNvCxnSpPr/>
          <p:nvPr/>
        </p:nvCxnSpPr>
        <p:spPr>
          <a:xfrm>
            <a:off x="1066800" y="4419601"/>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066800" y="44196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10800000" flipV="1">
            <a:off x="5334001" y="4190999"/>
            <a:ext cx="2667001" cy="1"/>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flipH="1">
            <a:off x="7696201" y="38862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0800000" flipV="1">
            <a:off x="1066800" y="4190999"/>
            <a:ext cx="1600202" cy="1"/>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flipH="1">
            <a:off x="2362200" y="38862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5'—&gt;3' </a:t>
            </a:r>
            <a:r>
              <a:rPr lang="en-US" sz="3200" dirty="0" err="1">
                <a:solidFill>
                  <a:srgbClr val="1F497D">
                    <a:lumMod val="20000"/>
                    <a:lumOff val="80000"/>
                  </a:srgbClr>
                </a:solidFill>
                <a:latin typeface="Rockwell Extra Bold" pitchFamily="18" charset="0"/>
                <a:cs typeface="Arial" pitchFamily="34" charset="0"/>
              </a:rPr>
              <a:t>Exonuclease</a:t>
            </a:r>
            <a:r>
              <a:rPr lang="en-US" sz="3200" dirty="0">
                <a:solidFill>
                  <a:srgbClr val="1F497D">
                    <a:lumMod val="20000"/>
                    <a:lumOff val="80000"/>
                  </a:srgbClr>
                </a:solidFill>
                <a:latin typeface="Rockwell Extra Bold" pitchFamily="18" charset="0"/>
                <a:cs typeface="Arial" pitchFamily="34" charset="0"/>
              </a:rPr>
              <a:t> Activity</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830997"/>
          </a:xfrm>
          <a:prstGeom prst="rect">
            <a:avLst/>
          </a:prstGeom>
        </p:spPr>
        <p:txBody>
          <a:bodyPr wrap="square">
            <a:spAutoFit/>
          </a:bodyPr>
          <a:lstStyle/>
          <a:p>
            <a:r>
              <a:rPr lang="en-US" sz="2400" b="1" dirty="0">
                <a:solidFill>
                  <a:schemeClr val="tx2">
                    <a:lumMod val="20000"/>
                    <a:lumOff val="80000"/>
                  </a:schemeClr>
                </a:solidFill>
              </a:rPr>
              <a:t>This behavior is pretty rare</a:t>
            </a:r>
          </a:p>
          <a:p>
            <a:r>
              <a:rPr lang="en-US" sz="2400" b="1" dirty="0" err="1">
                <a:solidFill>
                  <a:schemeClr val="tx2">
                    <a:lumMod val="20000"/>
                    <a:lumOff val="80000"/>
                  </a:schemeClr>
                </a:solidFill>
              </a:rPr>
              <a:t>Taq</a:t>
            </a:r>
            <a:r>
              <a:rPr lang="en-US" sz="2400" b="1" dirty="0">
                <a:solidFill>
                  <a:schemeClr val="tx2">
                    <a:lumMod val="20000"/>
                    <a:lumOff val="80000"/>
                  </a:schemeClr>
                </a:solidFill>
              </a:rPr>
              <a:t> and </a:t>
            </a:r>
            <a:r>
              <a:rPr lang="en-US" sz="2400" b="1" i="1" dirty="0">
                <a:solidFill>
                  <a:schemeClr val="tx2">
                    <a:lumMod val="20000"/>
                    <a:lumOff val="80000"/>
                  </a:schemeClr>
                </a:solidFill>
              </a:rPr>
              <a:t>E. coli </a:t>
            </a:r>
            <a:r>
              <a:rPr lang="en-US" sz="2400" b="1" dirty="0" err="1">
                <a:solidFill>
                  <a:schemeClr val="tx2">
                    <a:lumMod val="20000"/>
                    <a:lumOff val="80000"/>
                  </a:schemeClr>
                </a:solidFill>
              </a:rPr>
              <a:t>pol</a:t>
            </a:r>
            <a:r>
              <a:rPr lang="en-US" sz="2400" b="1" dirty="0">
                <a:solidFill>
                  <a:schemeClr val="tx2">
                    <a:lumMod val="20000"/>
                    <a:lumOff val="80000"/>
                  </a:schemeClr>
                </a:solidFill>
              </a:rPr>
              <a:t> 1 have it</a:t>
            </a:r>
          </a:p>
        </p:txBody>
      </p:sp>
      <p:cxnSp>
        <p:nvCxnSpPr>
          <p:cNvPr id="23" name="Straight Connector 22"/>
          <p:cNvCxnSpPr/>
          <p:nvPr/>
        </p:nvCxnSpPr>
        <p:spPr>
          <a:xfrm>
            <a:off x="1066800" y="4419601"/>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066800" y="44196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10800000" flipV="1">
            <a:off x="5334001" y="4190999"/>
            <a:ext cx="2667001" cy="1"/>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flipH="1">
            <a:off x="7696201" y="38862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0800000" flipV="1">
            <a:off x="1066800" y="4190998"/>
            <a:ext cx="2514600" cy="1"/>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flipH="1">
            <a:off x="3276598" y="38862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5'—&gt;3' </a:t>
            </a:r>
            <a:r>
              <a:rPr lang="en-US" sz="3200" dirty="0" err="1">
                <a:solidFill>
                  <a:srgbClr val="1F497D">
                    <a:lumMod val="20000"/>
                    <a:lumOff val="80000"/>
                  </a:srgbClr>
                </a:solidFill>
                <a:latin typeface="Rockwell Extra Bold" pitchFamily="18" charset="0"/>
                <a:cs typeface="Arial" pitchFamily="34" charset="0"/>
              </a:rPr>
              <a:t>Exonuclease</a:t>
            </a:r>
            <a:r>
              <a:rPr lang="en-US" sz="3200" dirty="0">
                <a:solidFill>
                  <a:srgbClr val="1F497D">
                    <a:lumMod val="20000"/>
                    <a:lumOff val="80000"/>
                  </a:srgbClr>
                </a:solidFill>
                <a:latin typeface="Rockwell Extra Bold" pitchFamily="18" charset="0"/>
                <a:cs typeface="Arial" pitchFamily="34" charset="0"/>
              </a:rPr>
              <a:t> Activity</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830997"/>
          </a:xfrm>
          <a:prstGeom prst="rect">
            <a:avLst/>
          </a:prstGeom>
        </p:spPr>
        <p:txBody>
          <a:bodyPr wrap="square">
            <a:spAutoFit/>
          </a:bodyPr>
          <a:lstStyle/>
          <a:p>
            <a:r>
              <a:rPr lang="en-US" sz="2400" b="1" dirty="0">
                <a:solidFill>
                  <a:schemeClr val="tx2">
                    <a:lumMod val="20000"/>
                    <a:lumOff val="80000"/>
                  </a:schemeClr>
                </a:solidFill>
              </a:rPr>
              <a:t>This behavior is pretty rare</a:t>
            </a:r>
          </a:p>
          <a:p>
            <a:r>
              <a:rPr lang="en-US" sz="2400" b="1" dirty="0" err="1">
                <a:solidFill>
                  <a:schemeClr val="tx2">
                    <a:lumMod val="20000"/>
                    <a:lumOff val="80000"/>
                  </a:schemeClr>
                </a:solidFill>
              </a:rPr>
              <a:t>Taq</a:t>
            </a:r>
            <a:r>
              <a:rPr lang="en-US" sz="2400" b="1" dirty="0">
                <a:solidFill>
                  <a:schemeClr val="tx2">
                    <a:lumMod val="20000"/>
                    <a:lumOff val="80000"/>
                  </a:schemeClr>
                </a:solidFill>
              </a:rPr>
              <a:t> and </a:t>
            </a:r>
            <a:r>
              <a:rPr lang="en-US" sz="2400" b="1" i="1" dirty="0">
                <a:solidFill>
                  <a:schemeClr val="tx2">
                    <a:lumMod val="20000"/>
                    <a:lumOff val="80000"/>
                  </a:schemeClr>
                </a:solidFill>
              </a:rPr>
              <a:t>E. coli </a:t>
            </a:r>
            <a:r>
              <a:rPr lang="en-US" sz="2400" b="1" dirty="0" err="1">
                <a:solidFill>
                  <a:schemeClr val="tx2">
                    <a:lumMod val="20000"/>
                    <a:lumOff val="80000"/>
                  </a:schemeClr>
                </a:solidFill>
              </a:rPr>
              <a:t>pol</a:t>
            </a:r>
            <a:r>
              <a:rPr lang="en-US" sz="2400" b="1" dirty="0">
                <a:solidFill>
                  <a:schemeClr val="tx2">
                    <a:lumMod val="20000"/>
                    <a:lumOff val="80000"/>
                  </a:schemeClr>
                </a:solidFill>
              </a:rPr>
              <a:t> 1 have it</a:t>
            </a:r>
          </a:p>
        </p:txBody>
      </p:sp>
      <p:cxnSp>
        <p:nvCxnSpPr>
          <p:cNvPr id="23" name="Straight Connector 22"/>
          <p:cNvCxnSpPr/>
          <p:nvPr/>
        </p:nvCxnSpPr>
        <p:spPr>
          <a:xfrm>
            <a:off x="1066800" y="4419601"/>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066800" y="44196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10800000" flipV="1">
            <a:off x="5334001" y="4190999"/>
            <a:ext cx="2667001" cy="1"/>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flipH="1">
            <a:off x="7696201" y="38862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0800000" flipV="1">
            <a:off x="1066800" y="4190998"/>
            <a:ext cx="3429000" cy="2"/>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flipH="1">
            <a:off x="4190998" y="38862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5'—&gt;3' </a:t>
            </a:r>
            <a:r>
              <a:rPr lang="en-US" sz="3200" dirty="0" err="1">
                <a:solidFill>
                  <a:srgbClr val="1F497D">
                    <a:lumMod val="20000"/>
                    <a:lumOff val="80000"/>
                  </a:srgbClr>
                </a:solidFill>
                <a:latin typeface="Rockwell Extra Bold" pitchFamily="18" charset="0"/>
                <a:cs typeface="Arial" pitchFamily="34" charset="0"/>
              </a:rPr>
              <a:t>Exonuclease</a:t>
            </a:r>
            <a:r>
              <a:rPr lang="en-US" sz="3200" dirty="0">
                <a:solidFill>
                  <a:srgbClr val="1F497D">
                    <a:lumMod val="20000"/>
                    <a:lumOff val="80000"/>
                  </a:srgbClr>
                </a:solidFill>
                <a:latin typeface="Rockwell Extra Bold" pitchFamily="18" charset="0"/>
                <a:cs typeface="Arial" pitchFamily="34" charset="0"/>
              </a:rPr>
              <a:t> Activity</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830997"/>
          </a:xfrm>
          <a:prstGeom prst="rect">
            <a:avLst/>
          </a:prstGeom>
        </p:spPr>
        <p:txBody>
          <a:bodyPr wrap="square">
            <a:spAutoFit/>
          </a:bodyPr>
          <a:lstStyle/>
          <a:p>
            <a:r>
              <a:rPr lang="en-US" sz="2400" b="1" dirty="0">
                <a:solidFill>
                  <a:schemeClr val="tx2">
                    <a:lumMod val="20000"/>
                    <a:lumOff val="80000"/>
                  </a:schemeClr>
                </a:solidFill>
              </a:rPr>
              <a:t>This behavior is pretty rare</a:t>
            </a:r>
          </a:p>
          <a:p>
            <a:r>
              <a:rPr lang="en-US" sz="2400" b="1" dirty="0" err="1">
                <a:solidFill>
                  <a:schemeClr val="tx2">
                    <a:lumMod val="20000"/>
                    <a:lumOff val="80000"/>
                  </a:schemeClr>
                </a:solidFill>
              </a:rPr>
              <a:t>Taq</a:t>
            </a:r>
            <a:r>
              <a:rPr lang="en-US" sz="2400" b="1" dirty="0">
                <a:solidFill>
                  <a:schemeClr val="tx2">
                    <a:lumMod val="20000"/>
                    <a:lumOff val="80000"/>
                  </a:schemeClr>
                </a:solidFill>
              </a:rPr>
              <a:t> and </a:t>
            </a:r>
            <a:r>
              <a:rPr lang="en-US" sz="2400" b="1" i="1" dirty="0">
                <a:solidFill>
                  <a:schemeClr val="tx2">
                    <a:lumMod val="20000"/>
                    <a:lumOff val="80000"/>
                  </a:schemeClr>
                </a:solidFill>
              </a:rPr>
              <a:t>E. coli </a:t>
            </a:r>
            <a:r>
              <a:rPr lang="en-US" sz="2400" b="1" dirty="0" err="1">
                <a:solidFill>
                  <a:schemeClr val="tx2">
                    <a:lumMod val="20000"/>
                    <a:lumOff val="80000"/>
                  </a:schemeClr>
                </a:solidFill>
              </a:rPr>
              <a:t>pol</a:t>
            </a:r>
            <a:r>
              <a:rPr lang="en-US" sz="2400" b="1" dirty="0">
                <a:solidFill>
                  <a:schemeClr val="tx2">
                    <a:lumMod val="20000"/>
                    <a:lumOff val="80000"/>
                  </a:schemeClr>
                </a:solidFill>
              </a:rPr>
              <a:t> 1 have it</a:t>
            </a:r>
          </a:p>
        </p:txBody>
      </p:sp>
      <p:cxnSp>
        <p:nvCxnSpPr>
          <p:cNvPr id="23" name="Straight Connector 22"/>
          <p:cNvCxnSpPr/>
          <p:nvPr/>
        </p:nvCxnSpPr>
        <p:spPr>
          <a:xfrm>
            <a:off x="1066800" y="4419601"/>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066800" y="44196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10800000" flipV="1">
            <a:off x="5334001" y="4190999"/>
            <a:ext cx="2667001" cy="1"/>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flipH="1">
            <a:off x="7696201" y="38862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0800000" flipV="1">
            <a:off x="1066800" y="4190998"/>
            <a:ext cx="4267200" cy="2"/>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flipH="1">
            <a:off x="5029198" y="38862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4409135" y="3244334"/>
            <a:ext cx="2016899" cy="461665"/>
          </a:xfrm>
          <a:prstGeom prst="rect">
            <a:avLst/>
          </a:prstGeom>
        </p:spPr>
        <p:txBody>
          <a:bodyPr wrap="none">
            <a:spAutoFit/>
          </a:bodyPr>
          <a:lstStyle/>
          <a:p>
            <a:r>
              <a:rPr lang="en-US" sz="2400" b="1" dirty="0">
                <a:solidFill>
                  <a:srgbClr val="1F497D">
                    <a:lumMod val="20000"/>
                    <a:lumOff val="80000"/>
                  </a:srgbClr>
                </a:solidFill>
                <a:latin typeface="Segoe Script" pitchFamily="34" charset="0"/>
              </a:rPr>
              <a:t>Now what?</a:t>
            </a:r>
            <a:endParaRPr lang="en-US" dirty="0">
              <a:latin typeface="Segoe Script"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5'—&gt;3' </a:t>
            </a:r>
            <a:r>
              <a:rPr lang="en-US" sz="3200" dirty="0" err="1">
                <a:solidFill>
                  <a:srgbClr val="1F497D">
                    <a:lumMod val="20000"/>
                    <a:lumOff val="80000"/>
                  </a:srgbClr>
                </a:solidFill>
                <a:latin typeface="Rockwell Extra Bold" pitchFamily="18" charset="0"/>
                <a:cs typeface="Arial" pitchFamily="34" charset="0"/>
              </a:rPr>
              <a:t>Exonuclease</a:t>
            </a:r>
            <a:r>
              <a:rPr lang="en-US" sz="3200" dirty="0">
                <a:solidFill>
                  <a:srgbClr val="1F497D">
                    <a:lumMod val="20000"/>
                    <a:lumOff val="80000"/>
                  </a:srgbClr>
                </a:solidFill>
                <a:latin typeface="Rockwell Extra Bold" pitchFamily="18" charset="0"/>
                <a:cs typeface="Arial" pitchFamily="34" charset="0"/>
              </a:rPr>
              <a:t> Activity</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830997"/>
          </a:xfrm>
          <a:prstGeom prst="rect">
            <a:avLst/>
          </a:prstGeom>
        </p:spPr>
        <p:txBody>
          <a:bodyPr wrap="square">
            <a:spAutoFit/>
          </a:bodyPr>
          <a:lstStyle/>
          <a:p>
            <a:r>
              <a:rPr lang="en-US" sz="2400" b="1" dirty="0">
                <a:solidFill>
                  <a:schemeClr val="tx2">
                    <a:lumMod val="20000"/>
                    <a:lumOff val="80000"/>
                  </a:schemeClr>
                </a:solidFill>
              </a:rPr>
              <a:t>This behavior is pretty rare</a:t>
            </a:r>
          </a:p>
          <a:p>
            <a:r>
              <a:rPr lang="en-US" sz="2400" b="1" dirty="0" err="1">
                <a:solidFill>
                  <a:schemeClr val="tx2">
                    <a:lumMod val="20000"/>
                    <a:lumOff val="80000"/>
                  </a:schemeClr>
                </a:solidFill>
              </a:rPr>
              <a:t>Taq</a:t>
            </a:r>
            <a:r>
              <a:rPr lang="en-US" sz="2400" b="1" dirty="0">
                <a:solidFill>
                  <a:schemeClr val="tx2">
                    <a:lumMod val="20000"/>
                    <a:lumOff val="80000"/>
                  </a:schemeClr>
                </a:solidFill>
              </a:rPr>
              <a:t> and </a:t>
            </a:r>
            <a:r>
              <a:rPr lang="en-US" sz="2400" b="1" i="1" dirty="0">
                <a:solidFill>
                  <a:schemeClr val="tx2">
                    <a:lumMod val="20000"/>
                    <a:lumOff val="80000"/>
                  </a:schemeClr>
                </a:solidFill>
              </a:rPr>
              <a:t>E. coli </a:t>
            </a:r>
            <a:r>
              <a:rPr lang="en-US" sz="2400" b="1" dirty="0" err="1">
                <a:solidFill>
                  <a:schemeClr val="tx2">
                    <a:lumMod val="20000"/>
                    <a:lumOff val="80000"/>
                  </a:schemeClr>
                </a:solidFill>
              </a:rPr>
              <a:t>pol</a:t>
            </a:r>
            <a:r>
              <a:rPr lang="en-US" sz="2400" b="1" dirty="0">
                <a:solidFill>
                  <a:schemeClr val="tx2">
                    <a:lumMod val="20000"/>
                    <a:lumOff val="80000"/>
                  </a:schemeClr>
                </a:solidFill>
              </a:rPr>
              <a:t> 1 have it</a:t>
            </a:r>
          </a:p>
        </p:txBody>
      </p:sp>
      <p:cxnSp>
        <p:nvCxnSpPr>
          <p:cNvPr id="23" name="Straight Connector 22"/>
          <p:cNvCxnSpPr/>
          <p:nvPr/>
        </p:nvCxnSpPr>
        <p:spPr>
          <a:xfrm>
            <a:off x="1066800" y="4419601"/>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066800" y="44196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10800000" flipV="1">
            <a:off x="6019801" y="4190998"/>
            <a:ext cx="1981203" cy="1"/>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flipH="1">
            <a:off x="7696201" y="38862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0800000">
            <a:off x="1066800" y="4191000"/>
            <a:ext cx="48768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flipH="1">
            <a:off x="5638800" y="38862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5'—&gt;3' </a:t>
            </a:r>
            <a:r>
              <a:rPr lang="en-US" sz="3200" dirty="0" err="1">
                <a:solidFill>
                  <a:srgbClr val="1F497D">
                    <a:lumMod val="20000"/>
                    <a:lumOff val="80000"/>
                  </a:srgbClr>
                </a:solidFill>
                <a:latin typeface="Rockwell Extra Bold" pitchFamily="18" charset="0"/>
                <a:cs typeface="Arial" pitchFamily="34" charset="0"/>
              </a:rPr>
              <a:t>Exonuclease</a:t>
            </a:r>
            <a:r>
              <a:rPr lang="en-US" sz="3200" dirty="0">
                <a:solidFill>
                  <a:srgbClr val="1F497D">
                    <a:lumMod val="20000"/>
                    <a:lumOff val="80000"/>
                  </a:srgbClr>
                </a:solidFill>
                <a:latin typeface="Rockwell Extra Bold" pitchFamily="18" charset="0"/>
                <a:cs typeface="Arial" pitchFamily="34" charset="0"/>
              </a:rPr>
              <a:t> Activity</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830997"/>
          </a:xfrm>
          <a:prstGeom prst="rect">
            <a:avLst/>
          </a:prstGeom>
        </p:spPr>
        <p:txBody>
          <a:bodyPr wrap="square">
            <a:spAutoFit/>
          </a:bodyPr>
          <a:lstStyle/>
          <a:p>
            <a:r>
              <a:rPr lang="en-US" sz="2400" b="1" dirty="0">
                <a:solidFill>
                  <a:schemeClr val="tx2">
                    <a:lumMod val="20000"/>
                    <a:lumOff val="80000"/>
                  </a:schemeClr>
                </a:solidFill>
              </a:rPr>
              <a:t>This behavior is pretty rare</a:t>
            </a:r>
          </a:p>
          <a:p>
            <a:r>
              <a:rPr lang="en-US" sz="2400" b="1" dirty="0" err="1">
                <a:solidFill>
                  <a:schemeClr val="tx2">
                    <a:lumMod val="20000"/>
                    <a:lumOff val="80000"/>
                  </a:schemeClr>
                </a:solidFill>
              </a:rPr>
              <a:t>Taq</a:t>
            </a:r>
            <a:r>
              <a:rPr lang="en-US" sz="2400" b="1" dirty="0">
                <a:solidFill>
                  <a:schemeClr val="tx2">
                    <a:lumMod val="20000"/>
                    <a:lumOff val="80000"/>
                  </a:schemeClr>
                </a:solidFill>
              </a:rPr>
              <a:t> and </a:t>
            </a:r>
            <a:r>
              <a:rPr lang="en-US" sz="2400" b="1" i="1" dirty="0">
                <a:solidFill>
                  <a:schemeClr val="tx2">
                    <a:lumMod val="20000"/>
                    <a:lumOff val="80000"/>
                  </a:schemeClr>
                </a:solidFill>
              </a:rPr>
              <a:t>E. coli </a:t>
            </a:r>
            <a:r>
              <a:rPr lang="en-US" sz="2400" b="1" dirty="0" err="1">
                <a:solidFill>
                  <a:schemeClr val="tx2">
                    <a:lumMod val="20000"/>
                    <a:lumOff val="80000"/>
                  </a:schemeClr>
                </a:solidFill>
              </a:rPr>
              <a:t>pol</a:t>
            </a:r>
            <a:r>
              <a:rPr lang="en-US" sz="2400" b="1" dirty="0">
                <a:solidFill>
                  <a:schemeClr val="tx2">
                    <a:lumMod val="20000"/>
                    <a:lumOff val="80000"/>
                  </a:schemeClr>
                </a:solidFill>
              </a:rPr>
              <a:t> 1 have it</a:t>
            </a:r>
          </a:p>
        </p:txBody>
      </p:sp>
      <p:cxnSp>
        <p:nvCxnSpPr>
          <p:cNvPr id="23" name="Straight Connector 22"/>
          <p:cNvCxnSpPr/>
          <p:nvPr/>
        </p:nvCxnSpPr>
        <p:spPr>
          <a:xfrm>
            <a:off x="1066800" y="4419601"/>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066800" y="44196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10800000" flipV="1">
            <a:off x="6934201" y="4190998"/>
            <a:ext cx="1066805" cy="2"/>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flipH="1">
            <a:off x="7696201" y="38862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0800000">
            <a:off x="1066800" y="4191000"/>
            <a:ext cx="58674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flipH="1">
            <a:off x="6629400" y="38862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5'—&gt;3' </a:t>
            </a:r>
            <a:r>
              <a:rPr lang="en-US" sz="3200" dirty="0" err="1">
                <a:solidFill>
                  <a:srgbClr val="1F497D">
                    <a:lumMod val="20000"/>
                    <a:lumOff val="80000"/>
                  </a:srgbClr>
                </a:solidFill>
                <a:latin typeface="Rockwell Extra Bold" pitchFamily="18" charset="0"/>
                <a:cs typeface="Arial" pitchFamily="34" charset="0"/>
              </a:rPr>
              <a:t>Exonuclease</a:t>
            </a:r>
            <a:r>
              <a:rPr lang="en-US" sz="3200" dirty="0">
                <a:solidFill>
                  <a:srgbClr val="1F497D">
                    <a:lumMod val="20000"/>
                    <a:lumOff val="80000"/>
                  </a:srgbClr>
                </a:solidFill>
                <a:latin typeface="Rockwell Extra Bold" pitchFamily="18" charset="0"/>
                <a:cs typeface="Arial" pitchFamily="34" charset="0"/>
              </a:rPr>
              <a:t> Activity</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830997"/>
          </a:xfrm>
          <a:prstGeom prst="rect">
            <a:avLst/>
          </a:prstGeom>
        </p:spPr>
        <p:txBody>
          <a:bodyPr wrap="square">
            <a:spAutoFit/>
          </a:bodyPr>
          <a:lstStyle/>
          <a:p>
            <a:r>
              <a:rPr lang="en-US" sz="2400" b="1" dirty="0">
                <a:solidFill>
                  <a:schemeClr val="tx2">
                    <a:lumMod val="20000"/>
                    <a:lumOff val="80000"/>
                  </a:schemeClr>
                </a:solidFill>
              </a:rPr>
              <a:t>This behavior is pretty rare</a:t>
            </a:r>
          </a:p>
          <a:p>
            <a:r>
              <a:rPr lang="en-US" sz="2400" b="1" dirty="0" err="1">
                <a:solidFill>
                  <a:schemeClr val="tx2">
                    <a:lumMod val="20000"/>
                    <a:lumOff val="80000"/>
                  </a:schemeClr>
                </a:solidFill>
              </a:rPr>
              <a:t>Taq</a:t>
            </a:r>
            <a:r>
              <a:rPr lang="en-US" sz="2400" b="1" dirty="0">
                <a:solidFill>
                  <a:schemeClr val="tx2">
                    <a:lumMod val="20000"/>
                    <a:lumOff val="80000"/>
                  </a:schemeClr>
                </a:solidFill>
              </a:rPr>
              <a:t> and </a:t>
            </a:r>
            <a:r>
              <a:rPr lang="en-US" sz="2400" b="1" i="1" dirty="0">
                <a:solidFill>
                  <a:schemeClr val="tx2">
                    <a:lumMod val="20000"/>
                    <a:lumOff val="80000"/>
                  </a:schemeClr>
                </a:solidFill>
              </a:rPr>
              <a:t>E. coli </a:t>
            </a:r>
            <a:r>
              <a:rPr lang="en-US" sz="2400" b="1" dirty="0" err="1">
                <a:solidFill>
                  <a:schemeClr val="tx2">
                    <a:lumMod val="20000"/>
                    <a:lumOff val="80000"/>
                  </a:schemeClr>
                </a:solidFill>
              </a:rPr>
              <a:t>pol</a:t>
            </a:r>
            <a:r>
              <a:rPr lang="en-US" sz="2400" b="1" dirty="0">
                <a:solidFill>
                  <a:schemeClr val="tx2">
                    <a:lumMod val="20000"/>
                    <a:lumOff val="80000"/>
                  </a:schemeClr>
                </a:solidFill>
              </a:rPr>
              <a:t> 1 have it</a:t>
            </a:r>
          </a:p>
        </p:txBody>
      </p:sp>
      <p:cxnSp>
        <p:nvCxnSpPr>
          <p:cNvPr id="23" name="Straight Connector 22"/>
          <p:cNvCxnSpPr/>
          <p:nvPr/>
        </p:nvCxnSpPr>
        <p:spPr>
          <a:xfrm>
            <a:off x="1066800" y="4419601"/>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066800" y="44196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flipH="1">
            <a:off x="7696201" y="38862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0800000">
            <a:off x="1066800" y="4191000"/>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Strand Displacement</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The more common scenario</a:t>
            </a:r>
          </a:p>
        </p:txBody>
      </p:sp>
      <p:cxnSp>
        <p:nvCxnSpPr>
          <p:cNvPr id="23" name="Straight Connector 22"/>
          <p:cNvCxnSpPr/>
          <p:nvPr/>
        </p:nvCxnSpPr>
        <p:spPr>
          <a:xfrm>
            <a:off x="1066800" y="4419601"/>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066800" y="44196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10800000" flipV="1">
            <a:off x="5334001" y="4190999"/>
            <a:ext cx="2667001" cy="1"/>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flipH="1">
            <a:off x="7696201" y="38862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0800000" flipV="1">
            <a:off x="1066800" y="4190999"/>
            <a:ext cx="1600202" cy="1"/>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flipH="1">
            <a:off x="2362200" y="38862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Strand Displacement</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The more common scenario</a:t>
            </a:r>
          </a:p>
        </p:txBody>
      </p:sp>
      <p:cxnSp>
        <p:nvCxnSpPr>
          <p:cNvPr id="10" name="Straight Connector 9"/>
          <p:cNvCxnSpPr/>
          <p:nvPr/>
        </p:nvCxnSpPr>
        <p:spPr>
          <a:xfrm>
            <a:off x="1066800" y="4419601"/>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6200000" flipH="1">
            <a:off x="1066800" y="44196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0800000" flipV="1">
            <a:off x="5334001" y="4190999"/>
            <a:ext cx="2667001" cy="1"/>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flipH="1">
            <a:off x="7696201" y="38862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flipV="1">
            <a:off x="1066800" y="4190998"/>
            <a:ext cx="2514600" cy="1"/>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5400000" flipH="1">
            <a:off x="3276598" y="38862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Strand Displacement</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The more common scenario</a:t>
            </a:r>
          </a:p>
        </p:txBody>
      </p:sp>
      <p:cxnSp>
        <p:nvCxnSpPr>
          <p:cNvPr id="4" name="Straight Connector 3"/>
          <p:cNvCxnSpPr/>
          <p:nvPr/>
        </p:nvCxnSpPr>
        <p:spPr>
          <a:xfrm>
            <a:off x="1066800" y="4419601"/>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rot="16200000" flipH="1">
            <a:off x="1066800" y="44196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rot="10800000" flipV="1">
            <a:off x="5334001" y="4190999"/>
            <a:ext cx="2667001" cy="1"/>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5400000" flipH="1">
            <a:off x="7696201" y="38862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10800000" flipV="1">
            <a:off x="1066800" y="4190998"/>
            <a:ext cx="3429000" cy="2"/>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5400000" flipH="1">
            <a:off x="4190998" y="38862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Strand Displacement</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The more common scenario</a:t>
            </a:r>
          </a:p>
        </p:txBody>
      </p:sp>
      <p:cxnSp>
        <p:nvCxnSpPr>
          <p:cNvPr id="4" name="Straight Connector 3"/>
          <p:cNvCxnSpPr/>
          <p:nvPr/>
        </p:nvCxnSpPr>
        <p:spPr>
          <a:xfrm>
            <a:off x="1066800" y="4419601"/>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rot="16200000" flipH="1">
            <a:off x="1066800" y="44196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rot="10800000" flipV="1">
            <a:off x="5334001" y="4190999"/>
            <a:ext cx="2667001" cy="1"/>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5400000" flipH="1">
            <a:off x="7696201" y="38862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10800000" flipV="1">
            <a:off x="1066800" y="4190998"/>
            <a:ext cx="4267200" cy="2"/>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5400000" flipH="1">
            <a:off x="5029198" y="38862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4409135" y="3244334"/>
            <a:ext cx="2016899" cy="461665"/>
          </a:xfrm>
          <a:prstGeom prst="rect">
            <a:avLst/>
          </a:prstGeom>
        </p:spPr>
        <p:txBody>
          <a:bodyPr wrap="none">
            <a:spAutoFit/>
          </a:bodyPr>
          <a:lstStyle/>
          <a:p>
            <a:r>
              <a:rPr lang="en-US" sz="2400" b="1" dirty="0">
                <a:solidFill>
                  <a:srgbClr val="1F497D">
                    <a:lumMod val="20000"/>
                    <a:lumOff val="80000"/>
                  </a:srgbClr>
                </a:solidFill>
                <a:latin typeface="Segoe Script" pitchFamily="34" charset="0"/>
              </a:rPr>
              <a:t>Now what?</a:t>
            </a:r>
            <a:endParaRPr lang="en-US" dirty="0">
              <a:latin typeface="Segoe Script"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Strand Displacement</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The more common scenario</a:t>
            </a:r>
          </a:p>
        </p:txBody>
      </p:sp>
      <p:cxnSp>
        <p:nvCxnSpPr>
          <p:cNvPr id="4" name="Straight Connector 3"/>
          <p:cNvCxnSpPr/>
          <p:nvPr/>
        </p:nvCxnSpPr>
        <p:spPr>
          <a:xfrm>
            <a:off x="1066800" y="4419601"/>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rot="16200000" flipH="1">
            <a:off x="1066800" y="44196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rot="10800000" flipV="1">
            <a:off x="6172201" y="4190998"/>
            <a:ext cx="1828803" cy="1"/>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5400000" flipH="1">
            <a:off x="7696201" y="38862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10800000">
            <a:off x="1066800" y="4191000"/>
            <a:ext cx="49530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5400000" flipH="1">
            <a:off x="5715000" y="38862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6200000" flipV="1">
            <a:off x="5753101" y="3771899"/>
            <a:ext cx="762002" cy="76203"/>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Strand Displacement</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The more common scenario</a:t>
            </a:r>
          </a:p>
        </p:txBody>
      </p:sp>
      <p:cxnSp>
        <p:nvCxnSpPr>
          <p:cNvPr id="4" name="Straight Connector 3"/>
          <p:cNvCxnSpPr/>
          <p:nvPr/>
        </p:nvCxnSpPr>
        <p:spPr>
          <a:xfrm>
            <a:off x="1066800" y="4419601"/>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rot="16200000" flipH="1">
            <a:off x="1066800" y="44196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rot="10800000" flipV="1">
            <a:off x="7162801" y="4190998"/>
            <a:ext cx="838205" cy="2"/>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5400000" flipH="1">
            <a:off x="7696201" y="38862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10800000">
            <a:off x="1066800" y="4191000"/>
            <a:ext cx="60198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5400000" flipH="1">
            <a:off x="6781800" y="38862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16200000" flipV="1">
            <a:off x="6324601" y="3352799"/>
            <a:ext cx="1524000" cy="152402"/>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Strand Displacement</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The more common scenario</a:t>
            </a:r>
          </a:p>
        </p:txBody>
      </p:sp>
      <p:cxnSp>
        <p:nvCxnSpPr>
          <p:cNvPr id="4" name="Straight Connector 3"/>
          <p:cNvCxnSpPr/>
          <p:nvPr/>
        </p:nvCxnSpPr>
        <p:spPr>
          <a:xfrm>
            <a:off x="1066800" y="4419601"/>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rot="16200000" flipH="1">
            <a:off x="1066800" y="44196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10800000">
            <a:off x="1066800" y="4191000"/>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5400000" flipH="1">
            <a:off x="7696200" y="3886201"/>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flipV="1">
            <a:off x="5334001" y="2666999"/>
            <a:ext cx="2667001" cy="1"/>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flipH="1">
            <a:off x="7696201" y="23622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Rolling Circle Amplification (RCF)</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Phi29 is the pro at this</a:t>
            </a:r>
          </a:p>
        </p:txBody>
      </p:sp>
      <p:sp>
        <p:nvSpPr>
          <p:cNvPr id="10" name="Oval 9"/>
          <p:cNvSpPr/>
          <p:nvPr/>
        </p:nvSpPr>
        <p:spPr>
          <a:xfrm>
            <a:off x="2438400" y="2362200"/>
            <a:ext cx="3581400" cy="3581400"/>
          </a:xfrm>
          <a:prstGeom prst="ellipse">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2514600" y="2438400"/>
            <a:ext cx="3429000" cy="3429000"/>
          </a:xfrm>
          <a:prstGeom prst="ellipse">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02386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Rolling Circle Amplification (RCF)</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Phi29 is the pro at this</a:t>
            </a:r>
          </a:p>
        </p:txBody>
      </p:sp>
      <p:sp>
        <p:nvSpPr>
          <p:cNvPr id="10" name="Oval 9"/>
          <p:cNvSpPr/>
          <p:nvPr/>
        </p:nvSpPr>
        <p:spPr>
          <a:xfrm>
            <a:off x="2438400" y="2362200"/>
            <a:ext cx="3581400" cy="3581400"/>
          </a:xfrm>
          <a:prstGeom prst="ellipse">
            <a:avLst/>
          </a:prstGeom>
          <a:no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2514600" y="2438400"/>
            <a:ext cx="3429000" cy="3429000"/>
          </a:xfrm>
          <a:prstGeom prst="ellipse">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701987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3.33333E-6 -5.55556E-6 L -0.23334 -5.55556E-6 " pathEditMode="relative" ptsTypes="AA">
                                      <p:cBhvr>
                                        <p:cTn id="6" dur="1000" fill="hold"/>
                                        <p:tgtEl>
                                          <p:spTgt spid="13"/>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3.33333E-6 -4.44444E-6 L 0.24167 -4.44444E-6 " pathEditMode="relative" ptsTypes="AA">
                                      <p:cBhvr>
                                        <p:cTn id="8" dur="1000" fill="hold"/>
                                        <p:tgtEl>
                                          <p:spTgt spid="1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Rolling Circle Amplification (RCF)</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Phi29 is the pro at this</a:t>
            </a:r>
          </a:p>
        </p:txBody>
      </p:sp>
      <p:sp>
        <p:nvSpPr>
          <p:cNvPr id="10" name="Oval 9"/>
          <p:cNvSpPr/>
          <p:nvPr/>
        </p:nvSpPr>
        <p:spPr>
          <a:xfrm>
            <a:off x="4648200" y="2362200"/>
            <a:ext cx="3581400" cy="3581400"/>
          </a:xfrm>
          <a:prstGeom prst="ellipse">
            <a:avLst/>
          </a:prstGeom>
          <a:no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381000" y="2438400"/>
            <a:ext cx="3429000" cy="3429000"/>
          </a:xfrm>
          <a:prstGeom prst="ellipse">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127560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6.66667E-6 -4.44444E-6 L -0.55001 -4.44444E-6 " pathEditMode="relative" ptsTypes="AA">
                                      <p:cBhvr>
                                        <p:cTn id="6" dur="2000" fill="hold"/>
                                        <p:tgtEl>
                                          <p:spTgt spid="13"/>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6.66667E-6 -5.55556E-6 L -0.20834 -5.55556E-6 " pathEditMode="relative" ptsTypes="AA">
                                      <p:cBhvr>
                                        <p:cTn id="8" dur="2000" fill="hold"/>
                                        <p:tgtEl>
                                          <p:spTgt spid="1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Rolling Circle Amplification (RCF)</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Phi29 is the pro at this</a:t>
            </a:r>
          </a:p>
        </p:txBody>
      </p:sp>
      <p:sp>
        <p:nvSpPr>
          <p:cNvPr id="10" name="Oval 9"/>
          <p:cNvSpPr/>
          <p:nvPr/>
        </p:nvSpPr>
        <p:spPr>
          <a:xfrm>
            <a:off x="2743200" y="2362200"/>
            <a:ext cx="3581400" cy="3581400"/>
          </a:xfrm>
          <a:prstGeom prst="ellipse">
            <a:avLst/>
          </a:prstGeom>
          <a:no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c 6"/>
          <p:cNvSpPr/>
          <p:nvPr/>
        </p:nvSpPr>
        <p:spPr>
          <a:xfrm>
            <a:off x="2514600" y="2133600"/>
            <a:ext cx="4038600" cy="4038600"/>
          </a:xfrm>
          <a:prstGeom prst="arc">
            <a:avLst>
              <a:gd name="adj1" fmla="val 16200000"/>
              <a:gd name="adj2" fmla="val 17938872"/>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 name="Straight Connector 8"/>
          <p:cNvCxnSpPr>
            <a:stCxn id="7" idx="2"/>
          </p:cNvCxnSpPr>
          <p:nvPr/>
        </p:nvCxnSpPr>
        <p:spPr>
          <a:xfrm flipH="1" flipV="1">
            <a:off x="5486400" y="2133600"/>
            <a:ext cx="25897" cy="252859"/>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10692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Rolling Circle Amplification (RCF)</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Phi29 is the pro at this</a:t>
            </a:r>
          </a:p>
        </p:txBody>
      </p:sp>
      <p:sp>
        <p:nvSpPr>
          <p:cNvPr id="10" name="Oval 9"/>
          <p:cNvSpPr/>
          <p:nvPr/>
        </p:nvSpPr>
        <p:spPr>
          <a:xfrm>
            <a:off x="2743200" y="2362200"/>
            <a:ext cx="3581400" cy="3581400"/>
          </a:xfrm>
          <a:prstGeom prst="ellipse">
            <a:avLst/>
          </a:prstGeom>
          <a:no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c 6"/>
          <p:cNvSpPr/>
          <p:nvPr/>
        </p:nvSpPr>
        <p:spPr>
          <a:xfrm>
            <a:off x="2514600" y="2133600"/>
            <a:ext cx="4038600" cy="4038600"/>
          </a:xfrm>
          <a:prstGeom prst="arc">
            <a:avLst>
              <a:gd name="adj1" fmla="val 16200000"/>
              <a:gd name="adj2" fmla="val 2072169"/>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 name="Straight Connector 7"/>
          <p:cNvCxnSpPr>
            <a:stCxn id="7" idx="2"/>
          </p:cNvCxnSpPr>
          <p:nvPr/>
        </p:nvCxnSpPr>
        <p:spPr>
          <a:xfrm rot="5400000" flipH="1" flipV="1">
            <a:off x="6279121" y="5099815"/>
            <a:ext cx="116094" cy="279664"/>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47022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Rolling Circle Amplification (RCF)</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Phi29 is the pro at this</a:t>
            </a:r>
          </a:p>
        </p:txBody>
      </p:sp>
      <p:sp>
        <p:nvSpPr>
          <p:cNvPr id="10" name="Oval 9"/>
          <p:cNvSpPr/>
          <p:nvPr/>
        </p:nvSpPr>
        <p:spPr>
          <a:xfrm>
            <a:off x="2743200" y="2362200"/>
            <a:ext cx="3581400" cy="3581400"/>
          </a:xfrm>
          <a:prstGeom prst="ellipse">
            <a:avLst/>
          </a:prstGeom>
          <a:no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c 6"/>
          <p:cNvSpPr/>
          <p:nvPr/>
        </p:nvSpPr>
        <p:spPr>
          <a:xfrm>
            <a:off x="2514600" y="2133600"/>
            <a:ext cx="4038600" cy="4038600"/>
          </a:xfrm>
          <a:prstGeom prst="arc">
            <a:avLst>
              <a:gd name="adj1" fmla="val 16200000"/>
              <a:gd name="adj2" fmla="val 8672509"/>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 name="Straight Connector 7"/>
          <p:cNvCxnSpPr/>
          <p:nvPr/>
        </p:nvCxnSpPr>
        <p:spPr>
          <a:xfrm rot="5400000">
            <a:off x="2743200" y="5410200"/>
            <a:ext cx="228600" cy="762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80623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Rolling Circle Amplification (RCF)</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Phi29 is the pro at this</a:t>
            </a:r>
          </a:p>
        </p:txBody>
      </p:sp>
      <p:sp>
        <p:nvSpPr>
          <p:cNvPr id="10" name="Oval 9"/>
          <p:cNvSpPr/>
          <p:nvPr/>
        </p:nvSpPr>
        <p:spPr>
          <a:xfrm>
            <a:off x="2743200" y="2362200"/>
            <a:ext cx="3581400" cy="3581400"/>
          </a:xfrm>
          <a:prstGeom prst="ellipse">
            <a:avLst/>
          </a:prstGeom>
          <a:no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c 6"/>
          <p:cNvSpPr/>
          <p:nvPr/>
        </p:nvSpPr>
        <p:spPr>
          <a:xfrm>
            <a:off x="2514600" y="2133600"/>
            <a:ext cx="4038600" cy="4038600"/>
          </a:xfrm>
          <a:prstGeom prst="arc">
            <a:avLst>
              <a:gd name="adj1" fmla="val 16200000"/>
              <a:gd name="adj2" fmla="val 16036347"/>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1" name="Straight Connector 10"/>
          <p:cNvCxnSpPr/>
          <p:nvPr/>
        </p:nvCxnSpPr>
        <p:spPr>
          <a:xfrm rot="16200000" flipV="1">
            <a:off x="4267200" y="1981200"/>
            <a:ext cx="152400" cy="1524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24845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Rolling Circle Amplification (RCF)</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Phi29 is the pro at this</a:t>
            </a:r>
          </a:p>
        </p:txBody>
      </p:sp>
      <p:sp>
        <p:nvSpPr>
          <p:cNvPr id="10" name="Oval 9"/>
          <p:cNvSpPr/>
          <p:nvPr/>
        </p:nvSpPr>
        <p:spPr>
          <a:xfrm>
            <a:off x="2743200" y="2362200"/>
            <a:ext cx="3581400" cy="3581400"/>
          </a:xfrm>
          <a:prstGeom prst="ellipse">
            <a:avLst/>
          </a:prstGeom>
          <a:no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c 6"/>
          <p:cNvSpPr/>
          <p:nvPr/>
        </p:nvSpPr>
        <p:spPr>
          <a:xfrm>
            <a:off x="2514600" y="2133600"/>
            <a:ext cx="4038600" cy="4038600"/>
          </a:xfrm>
          <a:prstGeom prst="arc">
            <a:avLst>
              <a:gd name="adj1" fmla="val 16200000"/>
              <a:gd name="adj2" fmla="val 16036347"/>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1" name="Straight Connector 10"/>
          <p:cNvCxnSpPr/>
          <p:nvPr/>
        </p:nvCxnSpPr>
        <p:spPr>
          <a:xfrm rot="16200000" flipV="1">
            <a:off x="4267200" y="1981200"/>
            <a:ext cx="152400" cy="1524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49125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Rolling Circle Amplification (RCF)</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Phi29 is the pro at this</a:t>
            </a:r>
          </a:p>
        </p:txBody>
      </p:sp>
      <p:sp>
        <p:nvSpPr>
          <p:cNvPr id="10" name="Oval 9"/>
          <p:cNvSpPr/>
          <p:nvPr/>
        </p:nvSpPr>
        <p:spPr>
          <a:xfrm>
            <a:off x="2743200" y="2362200"/>
            <a:ext cx="3581400" cy="3581400"/>
          </a:xfrm>
          <a:prstGeom prst="ellipse">
            <a:avLst/>
          </a:prstGeom>
          <a:no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c 6"/>
          <p:cNvSpPr/>
          <p:nvPr/>
        </p:nvSpPr>
        <p:spPr>
          <a:xfrm>
            <a:off x="2514600" y="2133600"/>
            <a:ext cx="4038600" cy="4038600"/>
          </a:xfrm>
          <a:prstGeom prst="arc">
            <a:avLst>
              <a:gd name="adj1" fmla="val 851374"/>
              <a:gd name="adj2" fmla="val 597905"/>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Freeform 7"/>
          <p:cNvSpPr/>
          <p:nvPr/>
        </p:nvSpPr>
        <p:spPr>
          <a:xfrm>
            <a:off x="6500191" y="3120887"/>
            <a:ext cx="2365513" cy="1520687"/>
          </a:xfrm>
          <a:custGeom>
            <a:avLst/>
            <a:gdLst>
              <a:gd name="connsiteX0" fmla="*/ 0 w 2365513"/>
              <a:gd name="connsiteY0" fmla="*/ 1520687 h 1520687"/>
              <a:gd name="connsiteX1" fmla="*/ 675861 w 2365513"/>
              <a:gd name="connsiteY1" fmla="*/ 1351722 h 1520687"/>
              <a:gd name="connsiteX2" fmla="*/ 1103244 w 2365513"/>
              <a:gd name="connsiteY2" fmla="*/ 536713 h 1520687"/>
              <a:gd name="connsiteX3" fmla="*/ 2365513 w 2365513"/>
              <a:gd name="connsiteY3" fmla="*/ 0 h 1520687"/>
            </a:gdLst>
            <a:ahLst/>
            <a:cxnLst>
              <a:cxn ang="0">
                <a:pos x="connsiteX0" y="connsiteY0"/>
              </a:cxn>
              <a:cxn ang="0">
                <a:pos x="connsiteX1" y="connsiteY1"/>
              </a:cxn>
              <a:cxn ang="0">
                <a:pos x="connsiteX2" y="connsiteY2"/>
              </a:cxn>
              <a:cxn ang="0">
                <a:pos x="connsiteX3" y="connsiteY3"/>
              </a:cxn>
            </a:cxnLst>
            <a:rect l="l" t="t" r="r" b="b"/>
            <a:pathLst>
              <a:path w="2365513" h="1520687">
                <a:moveTo>
                  <a:pt x="0" y="1520687"/>
                </a:moveTo>
                <a:cubicBezTo>
                  <a:pt x="245993" y="1518202"/>
                  <a:pt x="491987" y="1515718"/>
                  <a:pt x="675861" y="1351722"/>
                </a:cubicBezTo>
                <a:cubicBezTo>
                  <a:pt x="859735" y="1187726"/>
                  <a:pt x="821635" y="762000"/>
                  <a:pt x="1103244" y="536713"/>
                </a:cubicBezTo>
                <a:cubicBezTo>
                  <a:pt x="1384853" y="311426"/>
                  <a:pt x="2160104" y="92765"/>
                  <a:pt x="2365513" y="0"/>
                </a:cubicBezTo>
              </a:path>
            </a:pathLst>
          </a:cu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Connector 11"/>
          <p:cNvCxnSpPr>
            <a:stCxn id="7" idx="2"/>
          </p:cNvCxnSpPr>
          <p:nvPr/>
        </p:nvCxnSpPr>
        <p:spPr>
          <a:xfrm rot="5400000" flipH="1" flipV="1">
            <a:off x="6572800" y="4293336"/>
            <a:ext cx="158936" cy="259064"/>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6406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Rolling Circle Amplification (RCF)</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Phi29 is the pro at this</a:t>
            </a:r>
          </a:p>
        </p:txBody>
      </p:sp>
      <p:sp>
        <p:nvSpPr>
          <p:cNvPr id="10" name="Oval 9"/>
          <p:cNvSpPr/>
          <p:nvPr/>
        </p:nvSpPr>
        <p:spPr>
          <a:xfrm>
            <a:off x="2743200" y="2362200"/>
            <a:ext cx="3581400" cy="3581400"/>
          </a:xfrm>
          <a:prstGeom prst="ellipse">
            <a:avLst/>
          </a:prstGeom>
          <a:no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c 6"/>
          <p:cNvSpPr/>
          <p:nvPr/>
        </p:nvSpPr>
        <p:spPr>
          <a:xfrm>
            <a:off x="2514600" y="2133600"/>
            <a:ext cx="4038600" cy="4038600"/>
          </a:xfrm>
          <a:prstGeom prst="arc">
            <a:avLst>
              <a:gd name="adj1" fmla="val 9092923"/>
              <a:gd name="adj2" fmla="val 8789600"/>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Freeform 8"/>
          <p:cNvSpPr/>
          <p:nvPr/>
        </p:nvSpPr>
        <p:spPr>
          <a:xfrm>
            <a:off x="2418522" y="3160643"/>
            <a:ext cx="6129130" cy="3733800"/>
          </a:xfrm>
          <a:custGeom>
            <a:avLst/>
            <a:gdLst>
              <a:gd name="connsiteX0" fmla="*/ 354495 w 6129130"/>
              <a:gd name="connsiteY0" fmla="*/ 1958009 h 3733800"/>
              <a:gd name="connsiteX1" fmla="*/ 86139 w 6129130"/>
              <a:gd name="connsiteY1" fmla="*/ 2753140 h 3733800"/>
              <a:gd name="connsiteX2" fmla="*/ 871330 w 6129130"/>
              <a:gd name="connsiteY2" fmla="*/ 3240157 h 3733800"/>
              <a:gd name="connsiteX3" fmla="*/ 3763617 w 6129130"/>
              <a:gd name="connsiteY3" fmla="*/ 3140766 h 3733800"/>
              <a:gd name="connsiteX4" fmla="*/ 4906617 w 6129130"/>
              <a:gd name="connsiteY4" fmla="*/ 3548270 h 3733800"/>
              <a:gd name="connsiteX5" fmla="*/ 5334000 w 6129130"/>
              <a:gd name="connsiteY5" fmla="*/ 2027583 h 3733800"/>
              <a:gd name="connsiteX6" fmla="*/ 4916556 w 6129130"/>
              <a:gd name="connsiteY6" fmla="*/ 954157 h 3733800"/>
              <a:gd name="connsiteX7" fmla="*/ 6129130 w 6129130"/>
              <a:gd name="connsiteY7" fmla="*/ 0 h 373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9130" h="3733800">
                <a:moveTo>
                  <a:pt x="354495" y="1958009"/>
                </a:moveTo>
                <a:cubicBezTo>
                  <a:pt x="177247" y="2248729"/>
                  <a:pt x="0" y="2539449"/>
                  <a:pt x="86139" y="2753140"/>
                </a:cubicBezTo>
                <a:cubicBezTo>
                  <a:pt x="172278" y="2966831"/>
                  <a:pt x="258417" y="3175553"/>
                  <a:pt x="871330" y="3240157"/>
                </a:cubicBezTo>
                <a:cubicBezTo>
                  <a:pt x="1484243" y="3304761"/>
                  <a:pt x="3091069" y="3089414"/>
                  <a:pt x="3763617" y="3140766"/>
                </a:cubicBezTo>
                <a:cubicBezTo>
                  <a:pt x="4436165" y="3192118"/>
                  <a:pt x="4644887" y="3733800"/>
                  <a:pt x="4906617" y="3548270"/>
                </a:cubicBezTo>
                <a:cubicBezTo>
                  <a:pt x="5168347" y="3362740"/>
                  <a:pt x="5332344" y="2459935"/>
                  <a:pt x="5334000" y="2027583"/>
                </a:cubicBezTo>
                <a:cubicBezTo>
                  <a:pt x="5335656" y="1595231"/>
                  <a:pt x="4784034" y="1292087"/>
                  <a:pt x="4916556" y="954157"/>
                </a:cubicBezTo>
                <a:cubicBezTo>
                  <a:pt x="5049078" y="616227"/>
                  <a:pt x="5968447" y="228600"/>
                  <a:pt x="6129130" y="0"/>
                </a:cubicBezTo>
              </a:path>
            </a:pathLst>
          </a:cu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3" name="Straight Connector 12"/>
          <p:cNvCxnSpPr>
            <a:stCxn id="7" idx="2"/>
          </p:cNvCxnSpPr>
          <p:nvPr/>
        </p:nvCxnSpPr>
        <p:spPr>
          <a:xfrm rot="16200000" flipH="1" flipV="1">
            <a:off x="2687292" y="5399728"/>
            <a:ext cx="294980" cy="30763"/>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14509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Rolling Circle Amplification (RCF)</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924800" cy="461665"/>
          </a:xfrm>
          <a:prstGeom prst="rect">
            <a:avLst/>
          </a:prstGeom>
        </p:spPr>
        <p:txBody>
          <a:bodyPr wrap="square">
            <a:spAutoFit/>
          </a:bodyPr>
          <a:lstStyle/>
          <a:p>
            <a:r>
              <a:rPr lang="en-US" sz="2400" b="1" dirty="0">
                <a:solidFill>
                  <a:schemeClr val="tx2">
                    <a:lumMod val="20000"/>
                    <a:lumOff val="80000"/>
                  </a:schemeClr>
                </a:solidFill>
              </a:rPr>
              <a:t>Phi29 is the pro at this</a:t>
            </a:r>
          </a:p>
        </p:txBody>
      </p:sp>
      <p:sp>
        <p:nvSpPr>
          <p:cNvPr id="10" name="Oval 9"/>
          <p:cNvSpPr/>
          <p:nvPr/>
        </p:nvSpPr>
        <p:spPr>
          <a:xfrm>
            <a:off x="2743200" y="2362200"/>
            <a:ext cx="3581400" cy="3581400"/>
          </a:xfrm>
          <a:prstGeom prst="ellipse">
            <a:avLst/>
          </a:prstGeom>
          <a:no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c 6"/>
          <p:cNvSpPr/>
          <p:nvPr/>
        </p:nvSpPr>
        <p:spPr>
          <a:xfrm>
            <a:off x="2514600" y="2133600"/>
            <a:ext cx="4038600" cy="4038600"/>
          </a:xfrm>
          <a:prstGeom prst="arc">
            <a:avLst>
              <a:gd name="adj1" fmla="val 2758680"/>
              <a:gd name="adj2" fmla="val 2393666"/>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Connector 11"/>
          <p:cNvCxnSpPr>
            <a:stCxn id="7" idx="2"/>
          </p:cNvCxnSpPr>
          <p:nvPr/>
        </p:nvCxnSpPr>
        <p:spPr>
          <a:xfrm rot="5400000" flipH="1" flipV="1">
            <a:off x="6184966" y="5308396"/>
            <a:ext cx="37829" cy="24143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3" name="Freeform 12"/>
          <p:cNvSpPr/>
          <p:nvPr/>
        </p:nvSpPr>
        <p:spPr>
          <a:xfrm>
            <a:off x="5913783" y="1406387"/>
            <a:ext cx="3528391" cy="5280992"/>
          </a:xfrm>
          <a:custGeom>
            <a:avLst/>
            <a:gdLst>
              <a:gd name="connsiteX0" fmla="*/ 0 w 3528391"/>
              <a:gd name="connsiteY0" fmla="*/ 4199283 h 5280992"/>
              <a:gd name="connsiteX1" fmla="*/ 417443 w 3528391"/>
              <a:gd name="connsiteY1" fmla="*/ 4358309 h 5280992"/>
              <a:gd name="connsiteX2" fmla="*/ 188843 w 3528391"/>
              <a:gd name="connsiteY2" fmla="*/ 4765813 h 5280992"/>
              <a:gd name="connsiteX3" fmla="*/ 1441174 w 3528391"/>
              <a:gd name="connsiteY3" fmla="*/ 4735996 h 5280992"/>
              <a:gd name="connsiteX4" fmla="*/ 2196547 w 3528391"/>
              <a:gd name="connsiteY4" fmla="*/ 3712265 h 5280992"/>
              <a:gd name="connsiteX5" fmla="*/ 2594113 w 3528391"/>
              <a:gd name="connsiteY5" fmla="*/ 2300909 h 5280992"/>
              <a:gd name="connsiteX6" fmla="*/ 1202634 w 3528391"/>
              <a:gd name="connsiteY6" fmla="*/ 1853648 h 5280992"/>
              <a:gd name="connsiteX7" fmla="*/ 1600200 w 3528391"/>
              <a:gd name="connsiteY7" fmla="*/ 3265004 h 5280992"/>
              <a:gd name="connsiteX8" fmla="*/ 914400 w 3528391"/>
              <a:gd name="connsiteY8" fmla="*/ 3761961 h 5280992"/>
              <a:gd name="connsiteX9" fmla="*/ 815008 w 3528391"/>
              <a:gd name="connsiteY9" fmla="*/ 2698474 h 5280992"/>
              <a:gd name="connsiteX10" fmla="*/ 775252 w 3528391"/>
              <a:gd name="connsiteY10" fmla="*/ 1406387 h 5280992"/>
              <a:gd name="connsiteX11" fmla="*/ 109330 w 3528391"/>
              <a:gd name="connsiteY11" fmla="*/ 412474 h 5280992"/>
              <a:gd name="connsiteX12" fmla="*/ 1133060 w 3528391"/>
              <a:gd name="connsiteY12" fmla="*/ 124239 h 5280992"/>
              <a:gd name="connsiteX13" fmla="*/ 2027582 w 3528391"/>
              <a:gd name="connsiteY13" fmla="*/ 1157909 h 5280992"/>
              <a:gd name="connsiteX14" fmla="*/ 2792895 w 3528391"/>
              <a:gd name="connsiteY14" fmla="*/ 859735 h 5280992"/>
              <a:gd name="connsiteX15" fmla="*/ 2365513 w 3528391"/>
              <a:gd name="connsiteY15" fmla="*/ 1535596 h 5280992"/>
              <a:gd name="connsiteX16" fmla="*/ 1311965 w 3528391"/>
              <a:gd name="connsiteY16" fmla="*/ 1346752 h 5280992"/>
              <a:gd name="connsiteX17" fmla="*/ 2286000 w 3528391"/>
              <a:gd name="connsiteY17" fmla="*/ 1734378 h 5280992"/>
              <a:gd name="connsiteX18" fmla="*/ 3041374 w 3528391"/>
              <a:gd name="connsiteY18" fmla="*/ 1784074 h 5280992"/>
              <a:gd name="connsiteX19" fmla="*/ 3150704 w 3528391"/>
              <a:gd name="connsiteY19" fmla="*/ 3274943 h 5280992"/>
              <a:gd name="connsiteX20" fmla="*/ 2703443 w 3528391"/>
              <a:gd name="connsiteY20" fmla="*/ 3503543 h 5280992"/>
              <a:gd name="connsiteX21" fmla="*/ 2166730 w 3528391"/>
              <a:gd name="connsiteY21" fmla="*/ 4258917 h 5280992"/>
              <a:gd name="connsiteX22" fmla="*/ 2643808 w 3528391"/>
              <a:gd name="connsiteY22" fmla="*/ 4626665 h 5280992"/>
              <a:gd name="connsiteX23" fmla="*/ 2932043 w 3528391"/>
              <a:gd name="connsiteY23" fmla="*/ 4666422 h 5280992"/>
              <a:gd name="connsiteX24" fmla="*/ 2196547 w 3528391"/>
              <a:gd name="connsiteY24" fmla="*/ 5133561 h 5280992"/>
              <a:gd name="connsiteX25" fmla="*/ 1620078 w 3528391"/>
              <a:gd name="connsiteY25" fmla="*/ 4924839 h 5280992"/>
              <a:gd name="connsiteX26" fmla="*/ 1033669 w 3528391"/>
              <a:gd name="connsiteY26" fmla="*/ 4954656 h 5280992"/>
              <a:gd name="connsiteX27" fmla="*/ 1500808 w 3528391"/>
              <a:gd name="connsiteY27" fmla="*/ 5193196 h 5280992"/>
              <a:gd name="connsiteX28" fmla="*/ 2146852 w 3528391"/>
              <a:gd name="connsiteY28" fmla="*/ 5272709 h 5280992"/>
              <a:gd name="connsiteX29" fmla="*/ 2882347 w 3528391"/>
              <a:gd name="connsiteY29" fmla="*/ 5143500 h 5280992"/>
              <a:gd name="connsiteX30" fmla="*/ 3240156 w 3528391"/>
              <a:gd name="connsiteY30" fmla="*/ 4974535 h 5280992"/>
              <a:gd name="connsiteX31" fmla="*/ 3011556 w 3528391"/>
              <a:gd name="connsiteY31" fmla="*/ 4258917 h 5280992"/>
              <a:gd name="connsiteX32" fmla="*/ 2713382 w 3528391"/>
              <a:gd name="connsiteY32" fmla="*/ 3712265 h 5280992"/>
              <a:gd name="connsiteX33" fmla="*/ 2951921 w 3528391"/>
              <a:gd name="connsiteY33" fmla="*/ 3622813 h 5280992"/>
              <a:gd name="connsiteX34" fmla="*/ 3528391 w 3528391"/>
              <a:gd name="connsiteY34" fmla="*/ 3592996 h 528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528391" h="5280992">
                <a:moveTo>
                  <a:pt x="0" y="4199283"/>
                </a:moveTo>
                <a:cubicBezTo>
                  <a:pt x="192984" y="4231585"/>
                  <a:pt x="385969" y="4263887"/>
                  <a:pt x="417443" y="4358309"/>
                </a:cubicBezTo>
                <a:cubicBezTo>
                  <a:pt x="448917" y="4452731"/>
                  <a:pt x="18221" y="4702865"/>
                  <a:pt x="188843" y="4765813"/>
                </a:cubicBezTo>
                <a:cubicBezTo>
                  <a:pt x="359465" y="4828761"/>
                  <a:pt x="1106557" y="4911587"/>
                  <a:pt x="1441174" y="4735996"/>
                </a:cubicBezTo>
                <a:cubicBezTo>
                  <a:pt x="1775791" y="4560405"/>
                  <a:pt x="2004391" y="4118113"/>
                  <a:pt x="2196547" y="3712265"/>
                </a:cubicBezTo>
                <a:cubicBezTo>
                  <a:pt x="2388703" y="3306417"/>
                  <a:pt x="2759765" y="2610678"/>
                  <a:pt x="2594113" y="2300909"/>
                </a:cubicBezTo>
                <a:cubicBezTo>
                  <a:pt x="2428461" y="1991140"/>
                  <a:pt x="1368286" y="1692966"/>
                  <a:pt x="1202634" y="1853648"/>
                </a:cubicBezTo>
                <a:cubicBezTo>
                  <a:pt x="1036982" y="2014330"/>
                  <a:pt x="1648239" y="2946952"/>
                  <a:pt x="1600200" y="3265004"/>
                </a:cubicBezTo>
                <a:cubicBezTo>
                  <a:pt x="1552161" y="3583056"/>
                  <a:pt x="1045265" y="3856383"/>
                  <a:pt x="914400" y="3761961"/>
                </a:cubicBezTo>
                <a:cubicBezTo>
                  <a:pt x="783535" y="3667539"/>
                  <a:pt x="838199" y="3091070"/>
                  <a:pt x="815008" y="2698474"/>
                </a:cubicBezTo>
                <a:cubicBezTo>
                  <a:pt x="791817" y="2305878"/>
                  <a:pt x="892865" y="1787387"/>
                  <a:pt x="775252" y="1406387"/>
                </a:cubicBezTo>
                <a:cubicBezTo>
                  <a:pt x="657639" y="1025387"/>
                  <a:pt x="49695" y="626165"/>
                  <a:pt x="109330" y="412474"/>
                </a:cubicBezTo>
                <a:cubicBezTo>
                  <a:pt x="168965" y="198783"/>
                  <a:pt x="813351" y="0"/>
                  <a:pt x="1133060" y="124239"/>
                </a:cubicBezTo>
                <a:cubicBezTo>
                  <a:pt x="1452769" y="248478"/>
                  <a:pt x="1750943" y="1035326"/>
                  <a:pt x="2027582" y="1157909"/>
                </a:cubicBezTo>
                <a:cubicBezTo>
                  <a:pt x="2304221" y="1280492"/>
                  <a:pt x="2736573" y="796787"/>
                  <a:pt x="2792895" y="859735"/>
                </a:cubicBezTo>
                <a:cubicBezTo>
                  <a:pt x="2849217" y="922683"/>
                  <a:pt x="2612335" y="1454426"/>
                  <a:pt x="2365513" y="1535596"/>
                </a:cubicBezTo>
                <a:cubicBezTo>
                  <a:pt x="2118691" y="1616766"/>
                  <a:pt x="1325217" y="1313622"/>
                  <a:pt x="1311965" y="1346752"/>
                </a:cubicBezTo>
                <a:cubicBezTo>
                  <a:pt x="1298713" y="1379882"/>
                  <a:pt x="1997765" y="1661491"/>
                  <a:pt x="2286000" y="1734378"/>
                </a:cubicBezTo>
                <a:cubicBezTo>
                  <a:pt x="2574235" y="1807265"/>
                  <a:pt x="2897257" y="1527313"/>
                  <a:pt x="3041374" y="1784074"/>
                </a:cubicBezTo>
                <a:cubicBezTo>
                  <a:pt x="3185491" y="2040835"/>
                  <a:pt x="3207026" y="2988365"/>
                  <a:pt x="3150704" y="3274943"/>
                </a:cubicBezTo>
                <a:cubicBezTo>
                  <a:pt x="3094382" y="3561521"/>
                  <a:pt x="2867439" y="3339547"/>
                  <a:pt x="2703443" y="3503543"/>
                </a:cubicBezTo>
                <a:cubicBezTo>
                  <a:pt x="2539447" y="3667539"/>
                  <a:pt x="2176669" y="4071730"/>
                  <a:pt x="2166730" y="4258917"/>
                </a:cubicBezTo>
                <a:cubicBezTo>
                  <a:pt x="2156791" y="4446104"/>
                  <a:pt x="2516256" y="4558748"/>
                  <a:pt x="2643808" y="4626665"/>
                </a:cubicBezTo>
                <a:cubicBezTo>
                  <a:pt x="2771360" y="4694582"/>
                  <a:pt x="3006587" y="4581939"/>
                  <a:pt x="2932043" y="4666422"/>
                </a:cubicBezTo>
                <a:cubicBezTo>
                  <a:pt x="2857500" y="4750905"/>
                  <a:pt x="2415208" y="5090491"/>
                  <a:pt x="2196547" y="5133561"/>
                </a:cubicBezTo>
                <a:cubicBezTo>
                  <a:pt x="1977886" y="5176631"/>
                  <a:pt x="1813891" y="4954656"/>
                  <a:pt x="1620078" y="4924839"/>
                </a:cubicBezTo>
                <a:cubicBezTo>
                  <a:pt x="1426265" y="4895022"/>
                  <a:pt x="1053547" y="4909930"/>
                  <a:pt x="1033669" y="4954656"/>
                </a:cubicBezTo>
                <a:cubicBezTo>
                  <a:pt x="1013791" y="4999382"/>
                  <a:pt x="1315278" y="5140187"/>
                  <a:pt x="1500808" y="5193196"/>
                </a:cubicBezTo>
                <a:cubicBezTo>
                  <a:pt x="1686338" y="5246205"/>
                  <a:pt x="1916596" y="5280992"/>
                  <a:pt x="2146852" y="5272709"/>
                </a:cubicBezTo>
                <a:cubicBezTo>
                  <a:pt x="2377109" y="5264426"/>
                  <a:pt x="2700130" y="5193196"/>
                  <a:pt x="2882347" y="5143500"/>
                </a:cubicBezTo>
                <a:cubicBezTo>
                  <a:pt x="3064564" y="5093804"/>
                  <a:pt x="3218621" y="5121966"/>
                  <a:pt x="3240156" y="4974535"/>
                </a:cubicBezTo>
                <a:cubicBezTo>
                  <a:pt x="3261691" y="4827104"/>
                  <a:pt x="3099352" y="4469295"/>
                  <a:pt x="3011556" y="4258917"/>
                </a:cubicBezTo>
                <a:cubicBezTo>
                  <a:pt x="2923760" y="4048539"/>
                  <a:pt x="2723321" y="3818282"/>
                  <a:pt x="2713382" y="3712265"/>
                </a:cubicBezTo>
                <a:cubicBezTo>
                  <a:pt x="2703443" y="3606248"/>
                  <a:pt x="2816086" y="3642691"/>
                  <a:pt x="2951921" y="3622813"/>
                </a:cubicBezTo>
                <a:cubicBezTo>
                  <a:pt x="3087756" y="3602935"/>
                  <a:pt x="3397526" y="3597965"/>
                  <a:pt x="3528391" y="3592996"/>
                </a:cubicBezTo>
              </a:path>
            </a:pathLst>
          </a:cu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8335756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Kunkel Mutagenesis</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010400" cy="830997"/>
          </a:xfrm>
          <a:prstGeom prst="rect">
            <a:avLst/>
          </a:prstGeom>
        </p:spPr>
        <p:txBody>
          <a:bodyPr wrap="square">
            <a:spAutoFit/>
          </a:bodyPr>
          <a:lstStyle/>
          <a:p>
            <a:r>
              <a:rPr lang="en-US" sz="2400" b="1" dirty="0">
                <a:solidFill>
                  <a:schemeClr val="tx2">
                    <a:lumMod val="20000"/>
                    <a:lumOff val="80000"/>
                  </a:schemeClr>
                </a:solidFill>
              </a:rPr>
              <a:t>Use T4 DNA Polymerase</a:t>
            </a:r>
          </a:p>
          <a:p>
            <a:r>
              <a:rPr lang="en-US" sz="2400" b="1" dirty="0">
                <a:solidFill>
                  <a:schemeClr val="tx2">
                    <a:lumMod val="20000"/>
                    <a:lumOff val="80000"/>
                  </a:schemeClr>
                </a:solidFill>
              </a:rPr>
              <a:t> (no 5’-3’ </a:t>
            </a:r>
            <a:r>
              <a:rPr lang="en-US" sz="2400" b="1" dirty="0" err="1">
                <a:solidFill>
                  <a:schemeClr val="tx2">
                    <a:lumMod val="20000"/>
                    <a:lumOff val="80000"/>
                  </a:schemeClr>
                </a:solidFill>
              </a:rPr>
              <a:t>Exo</a:t>
            </a:r>
            <a:r>
              <a:rPr lang="en-US" sz="2400" b="1" dirty="0">
                <a:solidFill>
                  <a:schemeClr val="tx2">
                    <a:lumMod val="20000"/>
                    <a:lumOff val="80000"/>
                  </a:schemeClr>
                </a:solidFill>
              </a:rPr>
              <a:t> or displacement)</a:t>
            </a:r>
          </a:p>
        </p:txBody>
      </p:sp>
      <p:sp>
        <p:nvSpPr>
          <p:cNvPr id="8" name="Oval 7"/>
          <p:cNvSpPr/>
          <p:nvPr/>
        </p:nvSpPr>
        <p:spPr>
          <a:xfrm>
            <a:off x="2743200" y="2362200"/>
            <a:ext cx="3581400" cy="3581400"/>
          </a:xfrm>
          <a:prstGeom prst="ellipse">
            <a:avLst/>
          </a:prstGeom>
          <a:no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Kunkel Mutagenesis</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010400" cy="830997"/>
          </a:xfrm>
          <a:prstGeom prst="rect">
            <a:avLst/>
          </a:prstGeom>
        </p:spPr>
        <p:txBody>
          <a:bodyPr wrap="square">
            <a:spAutoFit/>
          </a:bodyPr>
          <a:lstStyle/>
          <a:p>
            <a:r>
              <a:rPr lang="en-US" sz="2400" b="1" dirty="0">
                <a:solidFill>
                  <a:schemeClr val="tx2">
                    <a:lumMod val="20000"/>
                    <a:lumOff val="80000"/>
                  </a:schemeClr>
                </a:solidFill>
              </a:rPr>
              <a:t>Use T4 DNA Polymerase</a:t>
            </a:r>
          </a:p>
          <a:p>
            <a:r>
              <a:rPr lang="en-US" sz="2400" b="1" dirty="0">
                <a:solidFill>
                  <a:schemeClr val="tx2">
                    <a:lumMod val="20000"/>
                    <a:lumOff val="80000"/>
                  </a:schemeClr>
                </a:solidFill>
              </a:rPr>
              <a:t> (no 5’-3’ </a:t>
            </a:r>
            <a:r>
              <a:rPr lang="en-US" sz="2400" b="1" dirty="0" err="1">
                <a:solidFill>
                  <a:schemeClr val="tx2">
                    <a:lumMod val="20000"/>
                    <a:lumOff val="80000"/>
                  </a:schemeClr>
                </a:solidFill>
              </a:rPr>
              <a:t>Exo</a:t>
            </a:r>
            <a:r>
              <a:rPr lang="en-US" sz="2400" b="1" dirty="0">
                <a:solidFill>
                  <a:schemeClr val="tx2">
                    <a:lumMod val="20000"/>
                    <a:lumOff val="80000"/>
                  </a:schemeClr>
                </a:solidFill>
              </a:rPr>
              <a:t> or displacement)</a:t>
            </a:r>
          </a:p>
        </p:txBody>
      </p:sp>
      <p:sp>
        <p:nvSpPr>
          <p:cNvPr id="8" name="Oval 7"/>
          <p:cNvSpPr/>
          <p:nvPr/>
        </p:nvSpPr>
        <p:spPr>
          <a:xfrm>
            <a:off x="2743200" y="2362200"/>
            <a:ext cx="3581400" cy="3581400"/>
          </a:xfrm>
          <a:prstGeom prst="ellipse">
            <a:avLst/>
          </a:prstGeom>
          <a:no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c 8"/>
          <p:cNvSpPr/>
          <p:nvPr/>
        </p:nvSpPr>
        <p:spPr>
          <a:xfrm>
            <a:off x="2514600" y="2133600"/>
            <a:ext cx="4038600" cy="4038600"/>
          </a:xfrm>
          <a:prstGeom prst="arc">
            <a:avLst>
              <a:gd name="adj1" fmla="val 16200000"/>
              <a:gd name="adj2" fmla="val 17938872"/>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Connector 11"/>
          <p:cNvCxnSpPr>
            <a:stCxn id="9" idx="2"/>
          </p:cNvCxnSpPr>
          <p:nvPr/>
        </p:nvCxnSpPr>
        <p:spPr>
          <a:xfrm flipH="1" flipV="1">
            <a:off x="5486400" y="2133600"/>
            <a:ext cx="25897" cy="252859"/>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4876800" y="1981200"/>
            <a:ext cx="356188" cy="461665"/>
          </a:xfrm>
          <a:prstGeom prst="rect">
            <a:avLst/>
          </a:prstGeom>
        </p:spPr>
        <p:txBody>
          <a:bodyPr wrap="none">
            <a:spAutoFit/>
          </a:bodyPr>
          <a:lstStyle/>
          <a:p>
            <a:r>
              <a:rPr lang="en-US" sz="2400" b="1" dirty="0">
                <a:solidFill>
                  <a:srgbClr val="FF0000"/>
                </a:solidFill>
              </a:rPr>
              <a:t>x</a:t>
            </a:r>
            <a:endParaRPr lang="en-US" dirty="0">
              <a:solidFill>
                <a:srgbClr val="FF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Kunkel Mutagenesis</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010400" cy="830997"/>
          </a:xfrm>
          <a:prstGeom prst="rect">
            <a:avLst/>
          </a:prstGeom>
        </p:spPr>
        <p:txBody>
          <a:bodyPr wrap="square">
            <a:spAutoFit/>
          </a:bodyPr>
          <a:lstStyle/>
          <a:p>
            <a:r>
              <a:rPr lang="en-US" sz="2400" b="1" dirty="0">
                <a:solidFill>
                  <a:schemeClr val="tx2">
                    <a:lumMod val="20000"/>
                    <a:lumOff val="80000"/>
                  </a:schemeClr>
                </a:solidFill>
              </a:rPr>
              <a:t>Use T4 DNA Polymerase</a:t>
            </a:r>
          </a:p>
          <a:p>
            <a:r>
              <a:rPr lang="en-US" sz="2400" b="1" dirty="0">
                <a:solidFill>
                  <a:schemeClr val="tx2">
                    <a:lumMod val="20000"/>
                    <a:lumOff val="80000"/>
                  </a:schemeClr>
                </a:solidFill>
              </a:rPr>
              <a:t> (no 5’-3’ </a:t>
            </a:r>
            <a:r>
              <a:rPr lang="en-US" sz="2400" b="1" dirty="0" err="1">
                <a:solidFill>
                  <a:schemeClr val="tx2">
                    <a:lumMod val="20000"/>
                    <a:lumOff val="80000"/>
                  </a:schemeClr>
                </a:solidFill>
              </a:rPr>
              <a:t>Exo</a:t>
            </a:r>
            <a:r>
              <a:rPr lang="en-US" sz="2400" b="1" dirty="0">
                <a:solidFill>
                  <a:schemeClr val="tx2">
                    <a:lumMod val="20000"/>
                    <a:lumOff val="80000"/>
                  </a:schemeClr>
                </a:solidFill>
              </a:rPr>
              <a:t> or displacement)</a:t>
            </a:r>
          </a:p>
        </p:txBody>
      </p:sp>
      <p:sp>
        <p:nvSpPr>
          <p:cNvPr id="8" name="Oval 7"/>
          <p:cNvSpPr/>
          <p:nvPr/>
        </p:nvSpPr>
        <p:spPr>
          <a:xfrm>
            <a:off x="2743200" y="2362200"/>
            <a:ext cx="3581400" cy="3581400"/>
          </a:xfrm>
          <a:prstGeom prst="ellipse">
            <a:avLst/>
          </a:prstGeom>
          <a:no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c 8"/>
          <p:cNvSpPr/>
          <p:nvPr/>
        </p:nvSpPr>
        <p:spPr>
          <a:xfrm>
            <a:off x="2514600" y="2133600"/>
            <a:ext cx="4038600" cy="4038600"/>
          </a:xfrm>
          <a:prstGeom prst="arc">
            <a:avLst>
              <a:gd name="adj1" fmla="val 16200000"/>
              <a:gd name="adj2" fmla="val 7532649"/>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Connector 11"/>
          <p:cNvCxnSpPr>
            <a:stCxn id="9" idx="2"/>
          </p:cNvCxnSpPr>
          <p:nvPr/>
        </p:nvCxnSpPr>
        <p:spPr>
          <a:xfrm rot="10800000" flipH="1" flipV="1">
            <a:off x="3360020" y="5795938"/>
            <a:ext cx="68980" cy="376261"/>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4876800" y="1981200"/>
            <a:ext cx="356188" cy="461665"/>
          </a:xfrm>
          <a:prstGeom prst="rect">
            <a:avLst/>
          </a:prstGeom>
        </p:spPr>
        <p:txBody>
          <a:bodyPr wrap="none">
            <a:spAutoFit/>
          </a:bodyPr>
          <a:lstStyle/>
          <a:p>
            <a:r>
              <a:rPr lang="en-US" sz="2400" b="1" dirty="0">
                <a:solidFill>
                  <a:srgbClr val="FF0000"/>
                </a:solidFill>
              </a:rPr>
              <a:t>x</a:t>
            </a:r>
            <a:endParaRPr lang="en-US" dirty="0">
              <a:solidFill>
                <a:srgbClr val="FF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Kunkel Mutagenesis</a:t>
            </a:r>
            <a:endParaRPr lang="en-US" sz="3200" b="1" dirty="0">
              <a:solidFill>
                <a:srgbClr val="1F497D">
                  <a:lumMod val="20000"/>
                  <a:lumOff val="80000"/>
                </a:srgbClr>
              </a:solidFill>
              <a:latin typeface="Rockwell Extra Bold" pitchFamily="18" charset="0"/>
              <a:cs typeface="Arial" pitchFamily="34" charset="0"/>
            </a:endParaRPr>
          </a:p>
        </p:txBody>
      </p:sp>
      <p:sp>
        <p:nvSpPr>
          <p:cNvPr id="21" name="Rectangle 20"/>
          <p:cNvSpPr/>
          <p:nvPr/>
        </p:nvSpPr>
        <p:spPr>
          <a:xfrm>
            <a:off x="457200" y="1066800"/>
            <a:ext cx="7010400" cy="830997"/>
          </a:xfrm>
          <a:prstGeom prst="rect">
            <a:avLst/>
          </a:prstGeom>
        </p:spPr>
        <p:txBody>
          <a:bodyPr wrap="square">
            <a:spAutoFit/>
          </a:bodyPr>
          <a:lstStyle/>
          <a:p>
            <a:r>
              <a:rPr lang="en-US" sz="2400" b="1" dirty="0">
                <a:solidFill>
                  <a:schemeClr val="tx2">
                    <a:lumMod val="20000"/>
                    <a:lumOff val="80000"/>
                  </a:schemeClr>
                </a:solidFill>
              </a:rPr>
              <a:t>Use T4 DNA Polymerase</a:t>
            </a:r>
          </a:p>
          <a:p>
            <a:r>
              <a:rPr lang="en-US" sz="2400" b="1" dirty="0">
                <a:solidFill>
                  <a:schemeClr val="tx2">
                    <a:lumMod val="20000"/>
                    <a:lumOff val="80000"/>
                  </a:schemeClr>
                </a:solidFill>
              </a:rPr>
              <a:t> (no 5’-3’ </a:t>
            </a:r>
            <a:r>
              <a:rPr lang="en-US" sz="2400" b="1" dirty="0" err="1">
                <a:solidFill>
                  <a:schemeClr val="tx2">
                    <a:lumMod val="20000"/>
                    <a:lumOff val="80000"/>
                  </a:schemeClr>
                </a:solidFill>
              </a:rPr>
              <a:t>Exo</a:t>
            </a:r>
            <a:r>
              <a:rPr lang="en-US" sz="2400" b="1" dirty="0">
                <a:solidFill>
                  <a:schemeClr val="tx2">
                    <a:lumMod val="20000"/>
                    <a:lumOff val="80000"/>
                  </a:schemeClr>
                </a:solidFill>
              </a:rPr>
              <a:t> or displacement)</a:t>
            </a:r>
          </a:p>
        </p:txBody>
      </p:sp>
      <p:sp>
        <p:nvSpPr>
          <p:cNvPr id="8" name="Oval 7"/>
          <p:cNvSpPr/>
          <p:nvPr/>
        </p:nvSpPr>
        <p:spPr>
          <a:xfrm>
            <a:off x="2743200" y="2362200"/>
            <a:ext cx="3581400" cy="3581400"/>
          </a:xfrm>
          <a:prstGeom prst="ellipse">
            <a:avLst/>
          </a:prstGeom>
          <a:no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c 8"/>
          <p:cNvSpPr/>
          <p:nvPr/>
        </p:nvSpPr>
        <p:spPr>
          <a:xfrm>
            <a:off x="2514600" y="2133600"/>
            <a:ext cx="4038600" cy="4038600"/>
          </a:xfrm>
          <a:prstGeom prst="arc">
            <a:avLst>
              <a:gd name="adj1" fmla="val 16200000"/>
              <a:gd name="adj2" fmla="val 15918777"/>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Connector 11"/>
          <p:cNvCxnSpPr>
            <a:stCxn id="9" idx="2"/>
          </p:cNvCxnSpPr>
          <p:nvPr/>
        </p:nvCxnSpPr>
        <p:spPr>
          <a:xfrm flipH="1" flipV="1">
            <a:off x="4038600" y="1981200"/>
            <a:ext cx="330298" cy="159153"/>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4876800" y="1981200"/>
            <a:ext cx="356188" cy="461665"/>
          </a:xfrm>
          <a:prstGeom prst="rect">
            <a:avLst/>
          </a:prstGeom>
        </p:spPr>
        <p:txBody>
          <a:bodyPr wrap="none">
            <a:spAutoFit/>
          </a:bodyPr>
          <a:lstStyle/>
          <a:p>
            <a:r>
              <a:rPr lang="en-US" sz="2400" b="1" dirty="0">
                <a:solidFill>
                  <a:srgbClr val="FF0000"/>
                </a:solidFill>
              </a:rPr>
              <a:t>x</a:t>
            </a:r>
            <a:endParaRPr lang="en-US" dirty="0">
              <a:solidFill>
                <a:srgbClr val="FF000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3’ to 5’ </a:t>
            </a:r>
            <a:r>
              <a:rPr lang="en-US" sz="3200" dirty="0" err="1">
                <a:solidFill>
                  <a:srgbClr val="1F497D">
                    <a:lumMod val="20000"/>
                    <a:lumOff val="80000"/>
                  </a:srgbClr>
                </a:solidFill>
                <a:latin typeface="Rockwell Extra Bold" pitchFamily="18" charset="0"/>
                <a:cs typeface="Arial" pitchFamily="34" charset="0"/>
              </a:rPr>
              <a:t>Exonuclease</a:t>
            </a:r>
            <a:r>
              <a:rPr lang="en-US" sz="3200" dirty="0">
                <a:solidFill>
                  <a:srgbClr val="1F497D">
                    <a:lumMod val="20000"/>
                    <a:lumOff val="80000"/>
                  </a:srgbClr>
                </a:solidFill>
                <a:latin typeface="Rockwell Extra Bold" pitchFamily="18" charset="0"/>
                <a:cs typeface="Arial" pitchFamily="34" charset="0"/>
              </a:rPr>
              <a:t> Activity</a:t>
            </a:r>
            <a:endParaRPr lang="en-US" sz="3200" b="1" dirty="0">
              <a:solidFill>
                <a:srgbClr val="1F497D">
                  <a:lumMod val="20000"/>
                  <a:lumOff val="80000"/>
                </a:srgbClr>
              </a:solidFill>
              <a:latin typeface="Rockwell Extra Bold" pitchFamily="18" charset="0"/>
              <a:cs typeface="Arial" pitchFamily="34" charset="0"/>
            </a:endParaRPr>
          </a:p>
        </p:txBody>
      </p:sp>
      <p:cxnSp>
        <p:nvCxnSpPr>
          <p:cNvPr id="8" name="Straight Connector 7"/>
          <p:cNvCxnSpPr/>
          <p:nvPr/>
        </p:nvCxnSpPr>
        <p:spPr>
          <a:xfrm>
            <a:off x="1066800" y="4876800"/>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1066800" y="48768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0800000">
            <a:off x="1066800" y="4648199"/>
            <a:ext cx="49530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flipH="1">
            <a:off x="5715000" y="43434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5" name="Left Arrow 14"/>
          <p:cNvSpPr/>
          <p:nvPr/>
        </p:nvSpPr>
        <p:spPr>
          <a:xfrm>
            <a:off x="4572000" y="3886199"/>
            <a:ext cx="2438400" cy="533400"/>
          </a:xfrm>
          <a:prstGeom prst="leftArrow">
            <a:avLst/>
          </a:prstGeom>
          <a:solidFill>
            <a:schemeClr val="accent2">
              <a:lumMod val="40000"/>
              <a:lumOff val="6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304800" y="1371600"/>
            <a:ext cx="7543800" cy="2308324"/>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“Proofreading Activity”</a:t>
            </a:r>
          </a:p>
          <a:p>
            <a:pPr marL="457200" indent="-457200">
              <a:buFont typeface="Wingdings" pitchFamily="2" charset="2"/>
              <a:buChar char="§"/>
            </a:pPr>
            <a:r>
              <a:rPr lang="en-US" sz="2400" dirty="0">
                <a:solidFill>
                  <a:srgbClr val="1F497D">
                    <a:lumMod val="20000"/>
                    <a:lumOff val="80000"/>
                  </a:srgbClr>
                </a:solidFill>
                <a:latin typeface="Calibri" pitchFamily="34" charset="0"/>
              </a:rPr>
              <a:t>Major component determining fidelity</a:t>
            </a:r>
          </a:p>
          <a:p>
            <a:pPr marL="457200" indent="-457200">
              <a:buFont typeface="Wingdings" pitchFamily="2" charset="2"/>
              <a:buChar char="§"/>
            </a:pPr>
            <a:r>
              <a:rPr lang="en-US" sz="2400" dirty="0">
                <a:solidFill>
                  <a:srgbClr val="1F497D">
                    <a:lumMod val="20000"/>
                    <a:lumOff val="80000"/>
                  </a:srgbClr>
                </a:solidFill>
                <a:latin typeface="Calibri" pitchFamily="34" charset="0"/>
              </a:rPr>
              <a:t>Absent in </a:t>
            </a:r>
            <a:r>
              <a:rPr lang="en-US" sz="2400" dirty="0" err="1">
                <a:solidFill>
                  <a:srgbClr val="1F497D">
                    <a:lumMod val="20000"/>
                    <a:lumOff val="80000"/>
                  </a:srgbClr>
                </a:solidFill>
                <a:latin typeface="Calibri" pitchFamily="34" charset="0"/>
              </a:rPr>
              <a:t>Taq</a:t>
            </a:r>
            <a:r>
              <a:rPr lang="en-US" sz="2400" dirty="0">
                <a:solidFill>
                  <a:srgbClr val="1F497D">
                    <a:lumMod val="20000"/>
                    <a:lumOff val="80000"/>
                  </a:srgbClr>
                </a:solidFill>
                <a:latin typeface="Calibri" pitchFamily="34" charset="0"/>
              </a:rPr>
              <a:t>-like enzymes</a:t>
            </a:r>
          </a:p>
          <a:p>
            <a:pPr marL="457200" indent="-457200">
              <a:buFont typeface="Wingdings" pitchFamily="2" charset="2"/>
              <a:buChar char="§"/>
            </a:pPr>
            <a:r>
              <a:rPr lang="en-US" sz="2400" dirty="0">
                <a:solidFill>
                  <a:srgbClr val="1F497D">
                    <a:lumMod val="20000"/>
                    <a:lumOff val="80000"/>
                  </a:srgbClr>
                </a:solidFill>
                <a:latin typeface="Calibri" pitchFamily="34" charset="0"/>
              </a:rPr>
              <a:t>Present in </a:t>
            </a:r>
            <a:r>
              <a:rPr lang="en-US" sz="2400" dirty="0" err="1">
                <a:solidFill>
                  <a:srgbClr val="1F497D">
                    <a:lumMod val="20000"/>
                    <a:lumOff val="80000"/>
                  </a:srgbClr>
                </a:solidFill>
                <a:latin typeface="Calibri" pitchFamily="34" charset="0"/>
              </a:rPr>
              <a:t>Pfu</a:t>
            </a:r>
            <a:r>
              <a:rPr lang="en-US" sz="2400" dirty="0">
                <a:solidFill>
                  <a:srgbClr val="1F497D">
                    <a:lumMod val="20000"/>
                    <a:lumOff val="80000"/>
                  </a:srgbClr>
                </a:solidFill>
                <a:latin typeface="Calibri" pitchFamily="34" charset="0"/>
              </a:rPr>
              <a:t>-like enzymes</a:t>
            </a:r>
          </a:p>
          <a:p>
            <a:pPr marL="457200" indent="-457200">
              <a:buFont typeface="Wingdings" pitchFamily="2" charset="2"/>
              <a:buChar char="§"/>
            </a:pPr>
            <a:r>
              <a:rPr lang="en-US" sz="2400" dirty="0">
                <a:solidFill>
                  <a:srgbClr val="1F497D">
                    <a:lumMod val="20000"/>
                    <a:lumOff val="80000"/>
                  </a:srgbClr>
                </a:solidFill>
                <a:latin typeface="Calibri" pitchFamily="34" charset="0"/>
              </a:rPr>
              <a:t>Without it, extension products typically contain a single 3’ “A” overhang</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1349514"/>
            <a:ext cx="9144000" cy="707886"/>
          </a:xfrm>
          <a:prstGeom prst="rect">
            <a:avLst/>
          </a:prstGeom>
          <a:noFill/>
          <a:ln w="9525">
            <a:noFill/>
            <a:miter lim="800000"/>
            <a:headEnd/>
            <a:tailEnd/>
          </a:ln>
        </p:spPr>
        <p:txBody>
          <a:bodyPr wrap="square">
            <a:spAutoFit/>
          </a:bodyPr>
          <a:lstStyle/>
          <a:p>
            <a:pPr algn="ctr"/>
            <a:r>
              <a:rPr lang="en-US" sz="4000" dirty="0">
                <a:solidFill>
                  <a:schemeClr val="bg1"/>
                </a:solidFill>
                <a:latin typeface="Rockwell Extra Bold" pitchFamily="18" charset="0"/>
                <a:cs typeface="Arial" pitchFamily="34" charset="0"/>
              </a:rPr>
              <a:t>RNA Polymerases</a:t>
            </a:r>
          </a:p>
        </p:txBody>
      </p:sp>
      <p:sp>
        <p:nvSpPr>
          <p:cNvPr id="7" name="Rectangle 5"/>
          <p:cNvSpPr>
            <a:spLocks noChangeArrowheads="1"/>
          </p:cNvSpPr>
          <p:nvPr/>
        </p:nvSpPr>
        <p:spPr bwMode="auto">
          <a:xfrm>
            <a:off x="2819400" y="2895600"/>
            <a:ext cx="5791200" cy="1938992"/>
          </a:xfrm>
          <a:prstGeom prst="rect">
            <a:avLst/>
          </a:prstGeom>
          <a:noFill/>
          <a:ln w="9525">
            <a:noFill/>
            <a:miter lim="800000"/>
            <a:headEnd/>
            <a:tailEnd/>
          </a:ln>
        </p:spPr>
        <p:txBody>
          <a:bodyPr wrap="square">
            <a:spAutoFit/>
          </a:bodyPr>
          <a:lstStyle/>
          <a:p>
            <a:r>
              <a:rPr lang="en-US" sz="2400" dirty="0">
                <a:solidFill>
                  <a:schemeClr val="bg1"/>
                </a:solidFill>
                <a:latin typeface="Calibri" pitchFamily="34" charset="0"/>
              </a:rPr>
              <a:t>Enzymes that initiate a new RNA chain on a DNA template</a:t>
            </a:r>
          </a:p>
          <a:p>
            <a:endParaRPr lang="en-US" sz="2400" dirty="0">
              <a:solidFill>
                <a:schemeClr val="bg1"/>
              </a:solidFill>
              <a:latin typeface="Calibri" pitchFamily="34" charset="0"/>
            </a:endParaRPr>
          </a:p>
          <a:p>
            <a:r>
              <a:rPr lang="en-US" sz="2400" dirty="0">
                <a:solidFill>
                  <a:schemeClr val="bg1"/>
                </a:solidFill>
                <a:latin typeface="Calibri" pitchFamily="34" charset="0"/>
              </a:rPr>
              <a:t>There are RNA-directed RNA polymerases as well (in some viruses)</a:t>
            </a:r>
          </a:p>
        </p:txBody>
      </p:sp>
      <p:sp>
        <p:nvSpPr>
          <p:cNvPr id="2" name="Rectangle 1"/>
          <p:cNvSpPr/>
          <p:nvPr/>
        </p:nvSpPr>
        <p:spPr>
          <a:xfrm>
            <a:off x="5862" y="35169"/>
            <a:ext cx="742924" cy="369332"/>
          </a:xfrm>
          <a:prstGeom prst="rect">
            <a:avLst/>
          </a:prstGeom>
        </p:spPr>
        <p:txBody>
          <a:bodyPr wrap="none">
            <a:spAutoFit/>
          </a:bodyPr>
          <a:lstStyle/>
          <a:p>
            <a:r>
              <a:rPr lang="en-US" dirty="0">
                <a:solidFill>
                  <a:schemeClr val="bg1"/>
                </a:solidFill>
                <a:latin typeface="Calibri" pitchFamily="34" charset="0"/>
              </a:rPr>
              <a:t>pause</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T7 RNA Polymerase</a:t>
            </a:r>
            <a:endParaRPr lang="en-US" sz="3200" b="1" dirty="0">
              <a:solidFill>
                <a:srgbClr val="1F497D">
                  <a:lumMod val="20000"/>
                  <a:lumOff val="80000"/>
                </a:srgbClr>
              </a:solidFill>
              <a:latin typeface="Rockwell Extra Bold" pitchFamily="18" charset="0"/>
              <a:cs typeface="Arial" pitchFamily="34" charset="0"/>
            </a:endParaRPr>
          </a:p>
        </p:txBody>
      </p:sp>
      <p:cxnSp>
        <p:nvCxnSpPr>
          <p:cNvPr id="8" name="Straight Connector 7"/>
          <p:cNvCxnSpPr/>
          <p:nvPr/>
        </p:nvCxnSpPr>
        <p:spPr>
          <a:xfrm>
            <a:off x="1066800" y="4876800"/>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1066800" y="48768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0800000">
            <a:off x="2667000" y="4648200"/>
            <a:ext cx="53340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flipH="1">
            <a:off x="7696199" y="43434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304800" y="1371600"/>
            <a:ext cx="6400800" cy="1569660"/>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Used for both </a:t>
            </a:r>
            <a:r>
              <a:rPr lang="en-US" sz="2400" i="1" dirty="0">
                <a:solidFill>
                  <a:srgbClr val="1F497D">
                    <a:lumMod val="20000"/>
                    <a:lumOff val="80000"/>
                  </a:srgbClr>
                </a:solidFill>
                <a:latin typeface="Calibri" pitchFamily="34" charset="0"/>
              </a:rPr>
              <a:t>in vivo</a:t>
            </a:r>
            <a:r>
              <a:rPr lang="en-US" sz="2400" dirty="0">
                <a:solidFill>
                  <a:srgbClr val="1F497D">
                    <a:lumMod val="20000"/>
                    <a:lumOff val="80000"/>
                  </a:srgbClr>
                </a:solidFill>
                <a:latin typeface="Calibri" pitchFamily="34" charset="0"/>
              </a:rPr>
              <a:t> and </a:t>
            </a:r>
            <a:r>
              <a:rPr lang="en-US" sz="2400" i="1" dirty="0">
                <a:solidFill>
                  <a:srgbClr val="1F497D">
                    <a:lumMod val="20000"/>
                    <a:lumOff val="80000"/>
                  </a:srgbClr>
                </a:solidFill>
                <a:latin typeface="Calibri" pitchFamily="34" charset="0"/>
              </a:rPr>
              <a:t>in vitro</a:t>
            </a:r>
            <a:r>
              <a:rPr lang="en-US" sz="2400" dirty="0">
                <a:solidFill>
                  <a:srgbClr val="1F497D">
                    <a:lumMod val="20000"/>
                    <a:lumOff val="80000"/>
                  </a:srgbClr>
                </a:solidFill>
                <a:latin typeface="Calibri" pitchFamily="34" charset="0"/>
              </a:rPr>
              <a:t> transcription</a:t>
            </a:r>
          </a:p>
          <a:p>
            <a:pPr marL="457200" indent="-457200">
              <a:buFont typeface="Wingdings" pitchFamily="2" charset="2"/>
              <a:buChar char="§"/>
            </a:pPr>
            <a:r>
              <a:rPr lang="en-US" sz="2400" dirty="0">
                <a:solidFill>
                  <a:srgbClr val="1F497D">
                    <a:lumMod val="20000"/>
                    <a:lumOff val="80000"/>
                  </a:srgbClr>
                </a:solidFill>
                <a:latin typeface="Calibri" pitchFamily="34" charset="0"/>
              </a:rPr>
              <a:t>Very high protein expression </a:t>
            </a:r>
            <a:r>
              <a:rPr lang="en-US" sz="2400" i="1" dirty="0">
                <a:solidFill>
                  <a:srgbClr val="1F497D">
                    <a:lumMod val="20000"/>
                    <a:lumOff val="80000"/>
                  </a:srgbClr>
                </a:solidFill>
                <a:latin typeface="Calibri" pitchFamily="34" charset="0"/>
              </a:rPr>
              <a:t>in vivo</a:t>
            </a:r>
          </a:p>
          <a:p>
            <a:pPr marL="457200" indent="-457200">
              <a:buFont typeface="Wingdings" pitchFamily="2" charset="2"/>
              <a:buChar char="§"/>
            </a:pPr>
            <a:r>
              <a:rPr lang="en-US" sz="2400" dirty="0">
                <a:solidFill>
                  <a:srgbClr val="1F497D">
                    <a:lumMod val="20000"/>
                    <a:lumOff val="80000"/>
                  </a:srgbClr>
                </a:solidFill>
                <a:latin typeface="Calibri" pitchFamily="34" charset="0"/>
              </a:rPr>
              <a:t>Production of </a:t>
            </a:r>
            <a:r>
              <a:rPr lang="en-US" sz="2400" dirty="0" err="1">
                <a:solidFill>
                  <a:srgbClr val="1F497D">
                    <a:lumMod val="20000"/>
                    <a:lumOff val="80000"/>
                  </a:srgbClr>
                </a:solidFill>
                <a:latin typeface="Calibri" pitchFamily="34" charset="0"/>
              </a:rPr>
              <a:t>tRNAs</a:t>
            </a:r>
            <a:r>
              <a:rPr lang="en-US" sz="2400" dirty="0">
                <a:solidFill>
                  <a:srgbClr val="1F497D">
                    <a:lumMod val="20000"/>
                    <a:lumOff val="80000"/>
                  </a:srgbClr>
                </a:solidFill>
                <a:latin typeface="Calibri" pitchFamily="34" charset="0"/>
              </a:rPr>
              <a:t>, mRNAs, or </a:t>
            </a:r>
            <a:r>
              <a:rPr lang="en-US" sz="2400" dirty="0" err="1">
                <a:solidFill>
                  <a:srgbClr val="1F497D">
                    <a:lumMod val="20000"/>
                    <a:lumOff val="80000"/>
                  </a:srgbClr>
                </a:solidFill>
                <a:latin typeface="Calibri" pitchFamily="34" charset="0"/>
              </a:rPr>
              <a:t>ribozymes</a:t>
            </a:r>
            <a:r>
              <a:rPr lang="en-US" sz="2400" dirty="0">
                <a:solidFill>
                  <a:srgbClr val="1F497D">
                    <a:lumMod val="20000"/>
                    <a:lumOff val="80000"/>
                  </a:srgbClr>
                </a:solidFill>
                <a:latin typeface="Calibri" pitchFamily="34" charset="0"/>
              </a:rPr>
              <a:t>/</a:t>
            </a:r>
            <a:r>
              <a:rPr lang="en-US" sz="2400" dirty="0" err="1">
                <a:solidFill>
                  <a:srgbClr val="1F497D">
                    <a:lumMod val="20000"/>
                    <a:lumOff val="80000"/>
                  </a:srgbClr>
                </a:solidFill>
                <a:latin typeface="Calibri" pitchFamily="34" charset="0"/>
              </a:rPr>
              <a:t>aptamers</a:t>
            </a:r>
            <a:r>
              <a:rPr lang="en-US" sz="2400" dirty="0">
                <a:solidFill>
                  <a:srgbClr val="1F497D">
                    <a:lumMod val="20000"/>
                    <a:lumOff val="80000"/>
                  </a:srgbClr>
                </a:solidFill>
                <a:latin typeface="Calibri" pitchFamily="34" charset="0"/>
              </a:rPr>
              <a:t> </a:t>
            </a:r>
            <a:r>
              <a:rPr lang="en-US" sz="2400" i="1" dirty="0">
                <a:solidFill>
                  <a:srgbClr val="1F497D">
                    <a:lumMod val="20000"/>
                    <a:lumOff val="80000"/>
                  </a:srgbClr>
                </a:solidFill>
                <a:latin typeface="Calibri" pitchFamily="34" charset="0"/>
              </a:rPr>
              <a:t>in vitro</a:t>
            </a:r>
          </a:p>
        </p:txBody>
      </p:sp>
      <p:sp>
        <p:nvSpPr>
          <p:cNvPr id="10" name="Rectangle 9"/>
          <p:cNvSpPr/>
          <p:nvPr/>
        </p:nvSpPr>
        <p:spPr>
          <a:xfrm>
            <a:off x="914400" y="3733800"/>
            <a:ext cx="3453318" cy="523220"/>
          </a:xfrm>
          <a:prstGeom prst="rect">
            <a:avLst/>
          </a:prstGeom>
        </p:spPr>
        <p:txBody>
          <a:bodyPr wrap="none">
            <a:spAutoFit/>
          </a:bodyPr>
          <a:lstStyle/>
          <a:p>
            <a:r>
              <a:rPr lang="en-US" sz="2800" b="1" dirty="0">
                <a:solidFill>
                  <a:schemeClr val="tx2">
                    <a:lumMod val="20000"/>
                    <a:lumOff val="80000"/>
                  </a:schemeClr>
                </a:solidFill>
                <a:latin typeface="Calibri" pitchFamily="34" charset="0"/>
              </a:rPr>
              <a:t>Double Stranded DNA</a:t>
            </a:r>
            <a:endParaRPr lang="en-US" sz="2800" b="1" dirty="0">
              <a:solidFill>
                <a:schemeClr val="tx2">
                  <a:lumMod val="20000"/>
                  <a:lumOff val="80000"/>
                </a:schemeClr>
              </a:solidFill>
            </a:endParaRPr>
          </a:p>
        </p:txBody>
      </p:sp>
      <p:cxnSp>
        <p:nvCxnSpPr>
          <p:cNvPr id="15" name="Straight Connector 14"/>
          <p:cNvCxnSpPr/>
          <p:nvPr/>
        </p:nvCxnSpPr>
        <p:spPr>
          <a:xfrm rot="10800000">
            <a:off x="1066806" y="4648200"/>
            <a:ext cx="1600195" cy="1588"/>
          </a:xfrm>
          <a:prstGeom prst="line">
            <a:avLst/>
          </a:prstGeom>
          <a:ln w="38100">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T7 RNA Polymerase</a:t>
            </a:r>
            <a:endParaRPr lang="en-US" sz="3200" b="1" dirty="0">
              <a:solidFill>
                <a:srgbClr val="1F497D">
                  <a:lumMod val="20000"/>
                  <a:lumOff val="80000"/>
                </a:srgbClr>
              </a:solidFill>
              <a:latin typeface="Rockwell Extra Bold" pitchFamily="18" charset="0"/>
              <a:cs typeface="Arial" pitchFamily="34" charset="0"/>
            </a:endParaRPr>
          </a:p>
        </p:txBody>
      </p:sp>
      <p:cxnSp>
        <p:nvCxnSpPr>
          <p:cNvPr id="8" name="Straight Connector 7"/>
          <p:cNvCxnSpPr/>
          <p:nvPr/>
        </p:nvCxnSpPr>
        <p:spPr>
          <a:xfrm>
            <a:off x="1066800" y="4876800"/>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1066800" y="48768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0800000">
            <a:off x="2667000" y="4648200"/>
            <a:ext cx="53340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flipH="1">
            <a:off x="7696199" y="43434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304800" y="1371600"/>
            <a:ext cx="6400800" cy="1569660"/>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Used for both </a:t>
            </a:r>
            <a:r>
              <a:rPr lang="en-US" sz="2400" i="1" dirty="0">
                <a:solidFill>
                  <a:srgbClr val="1F497D">
                    <a:lumMod val="20000"/>
                    <a:lumOff val="80000"/>
                  </a:srgbClr>
                </a:solidFill>
                <a:latin typeface="Calibri" pitchFamily="34" charset="0"/>
              </a:rPr>
              <a:t>in vivo</a:t>
            </a:r>
            <a:r>
              <a:rPr lang="en-US" sz="2400" dirty="0">
                <a:solidFill>
                  <a:srgbClr val="1F497D">
                    <a:lumMod val="20000"/>
                    <a:lumOff val="80000"/>
                  </a:srgbClr>
                </a:solidFill>
                <a:latin typeface="Calibri" pitchFamily="34" charset="0"/>
              </a:rPr>
              <a:t> and </a:t>
            </a:r>
            <a:r>
              <a:rPr lang="en-US" sz="2400" i="1" dirty="0">
                <a:solidFill>
                  <a:srgbClr val="1F497D">
                    <a:lumMod val="20000"/>
                    <a:lumOff val="80000"/>
                  </a:srgbClr>
                </a:solidFill>
                <a:latin typeface="Calibri" pitchFamily="34" charset="0"/>
              </a:rPr>
              <a:t>in vitro</a:t>
            </a:r>
            <a:r>
              <a:rPr lang="en-US" sz="2400" dirty="0">
                <a:solidFill>
                  <a:srgbClr val="1F497D">
                    <a:lumMod val="20000"/>
                    <a:lumOff val="80000"/>
                  </a:srgbClr>
                </a:solidFill>
                <a:latin typeface="Calibri" pitchFamily="34" charset="0"/>
              </a:rPr>
              <a:t> transcription</a:t>
            </a:r>
          </a:p>
          <a:p>
            <a:pPr marL="457200" indent="-457200">
              <a:buFont typeface="Wingdings" pitchFamily="2" charset="2"/>
              <a:buChar char="§"/>
            </a:pPr>
            <a:r>
              <a:rPr lang="en-US" sz="2400" dirty="0">
                <a:solidFill>
                  <a:srgbClr val="1F497D">
                    <a:lumMod val="20000"/>
                    <a:lumOff val="80000"/>
                  </a:srgbClr>
                </a:solidFill>
                <a:latin typeface="Calibri" pitchFamily="34" charset="0"/>
              </a:rPr>
              <a:t>Very high protein expression </a:t>
            </a:r>
            <a:r>
              <a:rPr lang="en-US" sz="2400" i="1" dirty="0">
                <a:solidFill>
                  <a:srgbClr val="1F497D">
                    <a:lumMod val="20000"/>
                    <a:lumOff val="80000"/>
                  </a:srgbClr>
                </a:solidFill>
                <a:latin typeface="Calibri" pitchFamily="34" charset="0"/>
              </a:rPr>
              <a:t>in vivo</a:t>
            </a:r>
          </a:p>
          <a:p>
            <a:pPr marL="457200" indent="-457200">
              <a:buFont typeface="Wingdings" pitchFamily="2" charset="2"/>
              <a:buChar char="§"/>
            </a:pPr>
            <a:r>
              <a:rPr lang="en-US" sz="2400" dirty="0">
                <a:solidFill>
                  <a:srgbClr val="1F497D">
                    <a:lumMod val="20000"/>
                    <a:lumOff val="80000"/>
                  </a:srgbClr>
                </a:solidFill>
                <a:latin typeface="Calibri" pitchFamily="34" charset="0"/>
              </a:rPr>
              <a:t>Production of </a:t>
            </a:r>
            <a:r>
              <a:rPr lang="en-US" sz="2400" dirty="0" err="1">
                <a:solidFill>
                  <a:srgbClr val="1F497D">
                    <a:lumMod val="20000"/>
                    <a:lumOff val="80000"/>
                  </a:srgbClr>
                </a:solidFill>
                <a:latin typeface="Calibri" pitchFamily="34" charset="0"/>
              </a:rPr>
              <a:t>tRNAs</a:t>
            </a:r>
            <a:r>
              <a:rPr lang="en-US" sz="2400" dirty="0">
                <a:solidFill>
                  <a:srgbClr val="1F497D">
                    <a:lumMod val="20000"/>
                    <a:lumOff val="80000"/>
                  </a:srgbClr>
                </a:solidFill>
                <a:latin typeface="Calibri" pitchFamily="34" charset="0"/>
              </a:rPr>
              <a:t>, mRNAs, or </a:t>
            </a:r>
            <a:r>
              <a:rPr lang="en-US" sz="2400" dirty="0" err="1">
                <a:solidFill>
                  <a:srgbClr val="1F497D">
                    <a:lumMod val="20000"/>
                    <a:lumOff val="80000"/>
                  </a:srgbClr>
                </a:solidFill>
                <a:latin typeface="Calibri" pitchFamily="34" charset="0"/>
              </a:rPr>
              <a:t>ribozymes</a:t>
            </a:r>
            <a:r>
              <a:rPr lang="en-US" sz="2400" dirty="0">
                <a:solidFill>
                  <a:srgbClr val="1F497D">
                    <a:lumMod val="20000"/>
                    <a:lumOff val="80000"/>
                  </a:srgbClr>
                </a:solidFill>
                <a:latin typeface="Calibri" pitchFamily="34" charset="0"/>
              </a:rPr>
              <a:t>/</a:t>
            </a:r>
            <a:r>
              <a:rPr lang="en-US" sz="2400" dirty="0" err="1">
                <a:solidFill>
                  <a:srgbClr val="1F497D">
                    <a:lumMod val="20000"/>
                    <a:lumOff val="80000"/>
                  </a:srgbClr>
                </a:solidFill>
                <a:latin typeface="Calibri" pitchFamily="34" charset="0"/>
              </a:rPr>
              <a:t>aptamers</a:t>
            </a:r>
            <a:r>
              <a:rPr lang="en-US" sz="2400" dirty="0">
                <a:solidFill>
                  <a:srgbClr val="1F497D">
                    <a:lumMod val="20000"/>
                    <a:lumOff val="80000"/>
                  </a:srgbClr>
                </a:solidFill>
                <a:latin typeface="Calibri" pitchFamily="34" charset="0"/>
              </a:rPr>
              <a:t> </a:t>
            </a:r>
            <a:r>
              <a:rPr lang="en-US" sz="2400" i="1" dirty="0">
                <a:solidFill>
                  <a:srgbClr val="1F497D">
                    <a:lumMod val="20000"/>
                    <a:lumOff val="80000"/>
                  </a:srgbClr>
                </a:solidFill>
                <a:latin typeface="Calibri" pitchFamily="34" charset="0"/>
              </a:rPr>
              <a:t>in vitro</a:t>
            </a:r>
          </a:p>
        </p:txBody>
      </p:sp>
      <p:sp>
        <p:nvSpPr>
          <p:cNvPr id="10" name="Rectangle 9"/>
          <p:cNvSpPr/>
          <p:nvPr/>
        </p:nvSpPr>
        <p:spPr>
          <a:xfrm>
            <a:off x="1676400" y="3505200"/>
            <a:ext cx="6338723" cy="523220"/>
          </a:xfrm>
          <a:prstGeom prst="rect">
            <a:avLst/>
          </a:prstGeom>
        </p:spPr>
        <p:txBody>
          <a:bodyPr wrap="none">
            <a:spAutoFit/>
          </a:bodyPr>
          <a:lstStyle/>
          <a:p>
            <a:r>
              <a:rPr lang="en-US" sz="2800" b="1" dirty="0">
                <a:solidFill>
                  <a:schemeClr val="accent2">
                    <a:lumMod val="20000"/>
                    <a:lumOff val="80000"/>
                  </a:schemeClr>
                </a:solidFill>
                <a:latin typeface="Calibri" pitchFamily="34" charset="0"/>
              </a:rPr>
              <a:t>T7 Promoter (TAATACGACTCACTATAGGG )</a:t>
            </a:r>
            <a:endParaRPr lang="en-US" sz="2800" b="1" dirty="0">
              <a:solidFill>
                <a:schemeClr val="accent2">
                  <a:lumMod val="20000"/>
                  <a:lumOff val="80000"/>
                </a:schemeClr>
              </a:solidFill>
            </a:endParaRPr>
          </a:p>
        </p:txBody>
      </p:sp>
      <p:cxnSp>
        <p:nvCxnSpPr>
          <p:cNvPr id="15" name="Straight Connector 14"/>
          <p:cNvCxnSpPr/>
          <p:nvPr/>
        </p:nvCxnSpPr>
        <p:spPr>
          <a:xfrm rot="10800000">
            <a:off x="1066806" y="4648200"/>
            <a:ext cx="1600195" cy="1588"/>
          </a:xfrm>
          <a:prstGeom prst="line">
            <a:avLst/>
          </a:prstGeom>
          <a:ln w="38100">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5400000">
            <a:off x="2095500" y="4229100"/>
            <a:ext cx="457200" cy="76200"/>
          </a:xfrm>
          <a:prstGeom prst="straightConnector1">
            <a:avLst/>
          </a:prstGeom>
          <a:ln w="38100">
            <a:solidFill>
              <a:schemeClr val="accent2">
                <a:lumMod val="20000"/>
                <a:lumOff val="80000"/>
              </a:schemeClr>
            </a:solidFill>
            <a:tailEnd type="arrow"/>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T7 RNA Polymerase</a:t>
            </a:r>
            <a:endParaRPr lang="en-US" sz="3200" b="1" dirty="0">
              <a:solidFill>
                <a:srgbClr val="1F497D">
                  <a:lumMod val="20000"/>
                  <a:lumOff val="80000"/>
                </a:srgbClr>
              </a:solidFill>
              <a:latin typeface="Rockwell Extra Bold" pitchFamily="18" charset="0"/>
              <a:cs typeface="Arial" pitchFamily="34" charset="0"/>
            </a:endParaRPr>
          </a:p>
        </p:txBody>
      </p:sp>
      <p:cxnSp>
        <p:nvCxnSpPr>
          <p:cNvPr id="8" name="Straight Connector 7"/>
          <p:cNvCxnSpPr/>
          <p:nvPr/>
        </p:nvCxnSpPr>
        <p:spPr>
          <a:xfrm>
            <a:off x="1066800" y="4876800"/>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1066800" y="48768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0800000">
            <a:off x="2667000" y="4648200"/>
            <a:ext cx="53340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flipH="1">
            <a:off x="7696199" y="43434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304800" y="1371600"/>
            <a:ext cx="6400800" cy="1569660"/>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Used for both </a:t>
            </a:r>
            <a:r>
              <a:rPr lang="en-US" sz="2400" i="1" dirty="0">
                <a:solidFill>
                  <a:srgbClr val="1F497D">
                    <a:lumMod val="20000"/>
                    <a:lumOff val="80000"/>
                  </a:srgbClr>
                </a:solidFill>
                <a:latin typeface="Calibri" pitchFamily="34" charset="0"/>
              </a:rPr>
              <a:t>in vivo</a:t>
            </a:r>
            <a:r>
              <a:rPr lang="en-US" sz="2400" dirty="0">
                <a:solidFill>
                  <a:srgbClr val="1F497D">
                    <a:lumMod val="20000"/>
                    <a:lumOff val="80000"/>
                  </a:srgbClr>
                </a:solidFill>
                <a:latin typeface="Calibri" pitchFamily="34" charset="0"/>
              </a:rPr>
              <a:t> and </a:t>
            </a:r>
            <a:r>
              <a:rPr lang="en-US" sz="2400" i="1" dirty="0">
                <a:solidFill>
                  <a:srgbClr val="1F497D">
                    <a:lumMod val="20000"/>
                    <a:lumOff val="80000"/>
                  </a:srgbClr>
                </a:solidFill>
                <a:latin typeface="Calibri" pitchFamily="34" charset="0"/>
              </a:rPr>
              <a:t>in vitro</a:t>
            </a:r>
            <a:r>
              <a:rPr lang="en-US" sz="2400" dirty="0">
                <a:solidFill>
                  <a:srgbClr val="1F497D">
                    <a:lumMod val="20000"/>
                    <a:lumOff val="80000"/>
                  </a:srgbClr>
                </a:solidFill>
                <a:latin typeface="Calibri" pitchFamily="34" charset="0"/>
              </a:rPr>
              <a:t> transcription</a:t>
            </a:r>
          </a:p>
          <a:p>
            <a:pPr marL="457200" indent="-457200">
              <a:buFont typeface="Wingdings" pitchFamily="2" charset="2"/>
              <a:buChar char="§"/>
            </a:pPr>
            <a:r>
              <a:rPr lang="en-US" sz="2400" dirty="0">
                <a:solidFill>
                  <a:srgbClr val="1F497D">
                    <a:lumMod val="20000"/>
                    <a:lumOff val="80000"/>
                  </a:srgbClr>
                </a:solidFill>
                <a:latin typeface="Calibri" pitchFamily="34" charset="0"/>
              </a:rPr>
              <a:t>Very high protein expression </a:t>
            </a:r>
            <a:r>
              <a:rPr lang="en-US" sz="2400" i="1" dirty="0">
                <a:solidFill>
                  <a:srgbClr val="1F497D">
                    <a:lumMod val="20000"/>
                    <a:lumOff val="80000"/>
                  </a:srgbClr>
                </a:solidFill>
                <a:latin typeface="Calibri" pitchFamily="34" charset="0"/>
              </a:rPr>
              <a:t>in vivo</a:t>
            </a:r>
          </a:p>
          <a:p>
            <a:pPr marL="457200" indent="-457200">
              <a:buFont typeface="Wingdings" pitchFamily="2" charset="2"/>
              <a:buChar char="§"/>
            </a:pPr>
            <a:r>
              <a:rPr lang="en-US" sz="2400" dirty="0">
                <a:solidFill>
                  <a:srgbClr val="1F497D">
                    <a:lumMod val="20000"/>
                    <a:lumOff val="80000"/>
                  </a:srgbClr>
                </a:solidFill>
                <a:latin typeface="Calibri" pitchFamily="34" charset="0"/>
              </a:rPr>
              <a:t>Production of </a:t>
            </a:r>
            <a:r>
              <a:rPr lang="en-US" sz="2400" dirty="0" err="1">
                <a:solidFill>
                  <a:srgbClr val="1F497D">
                    <a:lumMod val="20000"/>
                    <a:lumOff val="80000"/>
                  </a:srgbClr>
                </a:solidFill>
                <a:latin typeface="Calibri" pitchFamily="34" charset="0"/>
              </a:rPr>
              <a:t>tRNAs</a:t>
            </a:r>
            <a:r>
              <a:rPr lang="en-US" sz="2400" dirty="0">
                <a:solidFill>
                  <a:srgbClr val="1F497D">
                    <a:lumMod val="20000"/>
                    <a:lumOff val="80000"/>
                  </a:srgbClr>
                </a:solidFill>
                <a:latin typeface="Calibri" pitchFamily="34" charset="0"/>
              </a:rPr>
              <a:t>, mRNAs, or </a:t>
            </a:r>
            <a:r>
              <a:rPr lang="en-US" sz="2400" dirty="0" err="1">
                <a:solidFill>
                  <a:srgbClr val="1F497D">
                    <a:lumMod val="20000"/>
                    <a:lumOff val="80000"/>
                  </a:srgbClr>
                </a:solidFill>
                <a:latin typeface="Calibri" pitchFamily="34" charset="0"/>
              </a:rPr>
              <a:t>ribozymes</a:t>
            </a:r>
            <a:r>
              <a:rPr lang="en-US" sz="2400" dirty="0">
                <a:solidFill>
                  <a:srgbClr val="1F497D">
                    <a:lumMod val="20000"/>
                    <a:lumOff val="80000"/>
                  </a:srgbClr>
                </a:solidFill>
                <a:latin typeface="Calibri" pitchFamily="34" charset="0"/>
              </a:rPr>
              <a:t>/</a:t>
            </a:r>
            <a:r>
              <a:rPr lang="en-US" sz="2400" dirty="0" err="1">
                <a:solidFill>
                  <a:srgbClr val="1F497D">
                    <a:lumMod val="20000"/>
                    <a:lumOff val="80000"/>
                  </a:srgbClr>
                </a:solidFill>
                <a:latin typeface="Calibri" pitchFamily="34" charset="0"/>
              </a:rPr>
              <a:t>aptamers</a:t>
            </a:r>
            <a:r>
              <a:rPr lang="en-US" sz="2400" dirty="0">
                <a:solidFill>
                  <a:srgbClr val="1F497D">
                    <a:lumMod val="20000"/>
                    <a:lumOff val="80000"/>
                  </a:srgbClr>
                </a:solidFill>
                <a:latin typeface="Calibri" pitchFamily="34" charset="0"/>
              </a:rPr>
              <a:t> </a:t>
            </a:r>
            <a:r>
              <a:rPr lang="en-US" sz="2400" i="1" dirty="0">
                <a:solidFill>
                  <a:srgbClr val="1F497D">
                    <a:lumMod val="20000"/>
                    <a:lumOff val="80000"/>
                  </a:srgbClr>
                </a:solidFill>
                <a:latin typeface="Calibri" pitchFamily="34" charset="0"/>
              </a:rPr>
              <a:t>in vitro</a:t>
            </a:r>
          </a:p>
        </p:txBody>
      </p:sp>
      <p:cxnSp>
        <p:nvCxnSpPr>
          <p:cNvPr id="15" name="Straight Connector 14"/>
          <p:cNvCxnSpPr/>
          <p:nvPr/>
        </p:nvCxnSpPr>
        <p:spPr>
          <a:xfrm rot="10800000">
            <a:off x="1447800" y="3810000"/>
            <a:ext cx="1219202" cy="839788"/>
          </a:xfrm>
          <a:prstGeom prst="line">
            <a:avLst/>
          </a:prstGeom>
          <a:ln w="38100">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4267200" y="3657600"/>
            <a:ext cx="1547090" cy="523220"/>
          </a:xfrm>
          <a:prstGeom prst="rect">
            <a:avLst/>
          </a:prstGeom>
        </p:spPr>
        <p:txBody>
          <a:bodyPr wrap="none">
            <a:spAutoFit/>
          </a:bodyPr>
          <a:lstStyle/>
          <a:p>
            <a:r>
              <a:rPr lang="en-US" sz="2800" b="1" dirty="0">
                <a:solidFill>
                  <a:schemeClr val="tx2">
                    <a:lumMod val="20000"/>
                    <a:lumOff val="80000"/>
                  </a:schemeClr>
                </a:solidFill>
                <a:latin typeface="Calibri" pitchFamily="34" charset="0"/>
              </a:rPr>
              <a:t>Initiation</a:t>
            </a:r>
            <a:endParaRPr lang="en-US" sz="2800" b="1" dirty="0">
              <a:solidFill>
                <a:schemeClr val="tx2">
                  <a:lumMod val="20000"/>
                  <a:lumOff val="80000"/>
                </a:schemeClr>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T7 RNA Polymerase</a:t>
            </a:r>
            <a:endParaRPr lang="en-US" sz="3200" b="1" dirty="0">
              <a:solidFill>
                <a:srgbClr val="1F497D">
                  <a:lumMod val="20000"/>
                  <a:lumOff val="80000"/>
                </a:srgbClr>
              </a:solidFill>
              <a:latin typeface="Rockwell Extra Bold" pitchFamily="18" charset="0"/>
              <a:cs typeface="Arial" pitchFamily="34" charset="0"/>
            </a:endParaRPr>
          </a:p>
        </p:txBody>
      </p:sp>
      <p:cxnSp>
        <p:nvCxnSpPr>
          <p:cNvPr id="8" name="Straight Connector 7"/>
          <p:cNvCxnSpPr/>
          <p:nvPr/>
        </p:nvCxnSpPr>
        <p:spPr>
          <a:xfrm>
            <a:off x="1066800" y="4876800"/>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1066800" y="48768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0800000">
            <a:off x="4724400" y="4648200"/>
            <a:ext cx="32766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flipH="1">
            <a:off x="7696199" y="43434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304800" y="1371600"/>
            <a:ext cx="6400800" cy="1569660"/>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Used for both </a:t>
            </a:r>
            <a:r>
              <a:rPr lang="en-US" sz="2400" i="1" dirty="0">
                <a:solidFill>
                  <a:srgbClr val="1F497D">
                    <a:lumMod val="20000"/>
                    <a:lumOff val="80000"/>
                  </a:srgbClr>
                </a:solidFill>
                <a:latin typeface="Calibri" pitchFamily="34" charset="0"/>
              </a:rPr>
              <a:t>in vivo</a:t>
            </a:r>
            <a:r>
              <a:rPr lang="en-US" sz="2400" dirty="0">
                <a:solidFill>
                  <a:srgbClr val="1F497D">
                    <a:lumMod val="20000"/>
                    <a:lumOff val="80000"/>
                  </a:srgbClr>
                </a:solidFill>
                <a:latin typeface="Calibri" pitchFamily="34" charset="0"/>
              </a:rPr>
              <a:t> and </a:t>
            </a:r>
            <a:r>
              <a:rPr lang="en-US" sz="2400" i="1" dirty="0">
                <a:solidFill>
                  <a:srgbClr val="1F497D">
                    <a:lumMod val="20000"/>
                    <a:lumOff val="80000"/>
                  </a:srgbClr>
                </a:solidFill>
                <a:latin typeface="Calibri" pitchFamily="34" charset="0"/>
              </a:rPr>
              <a:t>in vitro</a:t>
            </a:r>
            <a:r>
              <a:rPr lang="en-US" sz="2400" dirty="0">
                <a:solidFill>
                  <a:srgbClr val="1F497D">
                    <a:lumMod val="20000"/>
                    <a:lumOff val="80000"/>
                  </a:srgbClr>
                </a:solidFill>
                <a:latin typeface="Calibri" pitchFamily="34" charset="0"/>
              </a:rPr>
              <a:t> transcription</a:t>
            </a:r>
          </a:p>
          <a:p>
            <a:pPr marL="457200" indent="-457200">
              <a:buFont typeface="Wingdings" pitchFamily="2" charset="2"/>
              <a:buChar char="§"/>
            </a:pPr>
            <a:r>
              <a:rPr lang="en-US" sz="2400" dirty="0">
                <a:solidFill>
                  <a:srgbClr val="1F497D">
                    <a:lumMod val="20000"/>
                    <a:lumOff val="80000"/>
                  </a:srgbClr>
                </a:solidFill>
                <a:latin typeface="Calibri" pitchFamily="34" charset="0"/>
              </a:rPr>
              <a:t>Very high protein expression </a:t>
            </a:r>
            <a:r>
              <a:rPr lang="en-US" sz="2400" i="1" dirty="0">
                <a:solidFill>
                  <a:srgbClr val="1F497D">
                    <a:lumMod val="20000"/>
                    <a:lumOff val="80000"/>
                  </a:srgbClr>
                </a:solidFill>
                <a:latin typeface="Calibri" pitchFamily="34" charset="0"/>
              </a:rPr>
              <a:t>in vivo</a:t>
            </a:r>
          </a:p>
          <a:p>
            <a:pPr marL="457200" indent="-457200">
              <a:buFont typeface="Wingdings" pitchFamily="2" charset="2"/>
              <a:buChar char="§"/>
            </a:pPr>
            <a:r>
              <a:rPr lang="en-US" sz="2400" dirty="0">
                <a:solidFill>
                  <a:srgbClr val="1F497D">
                    <a:lumMod val="20000"/>
                    <a:lumOff val="80000"/>
                  </a:srgbClr>
                </a:solidFill>
                <a:latin typeface="Calibri" pitchFamily="34" charset="0"/>
              </a:rPr>
              <a:t>Production of </a:t>
            </a:r>
            <a:r>
              <a:rPr lang="en-US" sz="2400" dirty="0" err="1">
                <a:solidFill>
                  <a:srgbClr val="1F497D">
                    <a:lumMod val="20000"/>
                    <a:lumOff val="80000"/>
                  </a:srgbClr>
                </a:solidFill>
                <a:latin typeface="Calibri" pitchFamily="34" charset="0"/>
              </a:rPr>
              <a:t>tRNAs</a:t>
            </a:r>
            <a:r>
              <a:rPr lang="en-US" sz="2400" dirty="0">
                <a:solidFill>
                  <a:srgbClr val="1F497D">
                    <a:lumMod val="20000"/>
                    <a:lumOff val="80000"/>
                  </a:srgbClr>
                </a:solidFill>
                <a:latin typeface="Calibri" pitchFamily="34" charset="0"/>
              </a:rPr>
              <a:t>, mRNAs, or </a:t>
            </a:r>
            <a:r>
              <a:rPr lang="en-US" sz="2400" dirty="0" err="1">
                <a:solidFill>
                  <a:srgbClr val="1F497D">
                    <a:lumMod val="20000"/>
                    <a:lumOff val="80000"/>
                  </a:srgbClr>
                </a:solidFill>
                <a:latin typeface="Calibri" pitchFamily="34" charset="0"/>
              </a:rPr>
              <a:t>ribozymes</a:t>
            </a:r>
            <a:r>
              <a:rPr lang="en-US" sz="2400" dirty="0">
                <a:solidFill>
                  <a:srgbClr val="1F497D">
                    <a:lumMod val="20000"/>
                    <a:lumOff val="80000"/>
                  </a:srgbClr>
                </a:solidFill>
                <a:latin typeface="Calibri" pitchFamily="34" charset="0"/>
              </a:rPr>
              <a:t>/</a:t>
            </a:r>
            <a:r>
              <a:rPr lang="en-US" sz="2400" dirty="0" err="1">
                <a:solidFill>
                  <a:srgbClr val="1F497D">
                    <a:lumMod val="20000"/>
                    <a:lumOff val="80000"/>
                  </a:srgbClr>
                </a:solidFill>
                <a:latin typeface="Calibri" pitchFamily="34" charset="0"/>
              </a:rPr>
              <a:t>aptamers</a:t>
            </a:r>
            <a:r>
              <a:rPr lang="en-US" sz="2400" dirty="0">
                <a:solidFill>
                  <a:srgbClr val="1F497D">
                    <a:lumMod val="20000"/>
                    <a:lumOff val="80000"/>
                  </a:srgbClr>
                </a:solidFill>
                <a:latin typeface="Calibri" pitchFamily="34" charset="0"/>
              </a:rPr>
              <a:t> </a:t>
            </a:r>
            <a:r>
              <a:rPr lang="en-US" sz="2400" i="1" dirty="0">
                <a:solidFill>
                  <a:srgbClr val="1F497D">
                    <a:lumMod val="20000"/>
                    <a:lumOff val="80000"/>
                  </a:srgbClr>
                </a:solidFill>
                <a:latin typeface="Calibri" pitchFamily="34" charset="0"/>
              </a:rPr>
              <a:t>in vitro</a:t>
            </a:r>
          </a:p>
        </p:txBody>
      </p:sp>
      <p:cxnSp>
        <p:nvCxnSpPr>
          <p:cNvPr id="15" name="Straight Connector 14"/>
          <p:cNvCxnSpPr/>
          <p:nvPr/>
        </p:nvCxnSpPr>
        <p:spPr>
          <a:xfrm rot="10800000">
            <a:off x="1447800" y="3810000"/>
            <a:ext cx="1447800" cy="381000"/>
          </a:xfrm>
          <a:prstGeom prst="line">
            <a:avLst/>
          </a:prstGeom>
          <a:ln w="38100">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4267200" y="3657600"/>
            <a:ext cx="3140090" cy="523220"/>
          </a:xfrm>
          <a:prstGeom prst="rect">
            <a:avLst/>
          </a:prstGeom>
        </p:spPr>
        <p:txBody>
          <a:bodyPr wrap="none">
            <a:spAutoFit/>
          </a:bodyPr>
          <a:lstStyle/>
          <a:p>
            <a:r>
              <a:rPr lang="en-US" sz="2800" b="1" dirty="0">
                <a:solidFill>
                  <a:schemeClr val="accent3">
                    <a:lumMod val="40000"/>
                    <a:lumOff val="60000"/>
                  </a:schemeClr>
                </a:solidFill>
                <a:latin typeface="Calibri" pitchFamily="34" charset="0"/>
              </a:rPr>
              <a:t>New RNA extension</a:t>
            </a:r>
            <a:endParaRPr lang="en-US" sz="2800" b="1" dirty="0">
              <a:solidFill>
                <a:schemeClr val="accent3">
                  <a:lumMod val="40000"/>
                  <a:lumOff val="60000"/>
                </a:schemeClr>
              </a:solidFill>
            </a:endParaRPr>
          </a:p>
        </p:txBody>
      </p:sp>
      <p:cxnSp>
        <p:nvCxnSpPr>
          <p:cNvPr id="11" name="Straight Connector 10"/>
          <p:cNvCxnSpPr/>
          <p:nvPr/>
        </p:nvCxnSpPr>
        <p:spPr>
          <a:xfrm rot="10800000">
            <a:off x="2895600" y="4191000"/>
            <a:ext cx="1828800" cy="4572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10800000">
            <a:off x="2895600" y="4648200"/>
            <a:ext cx="533402" cy="1588"/>
          </a:xfrm>
          <a:prstGeom prst="line">
            <a:avLst/>
          </a:prstGeom>
          <a:ln w="38100">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flipH="1">
            <a:off x="3124200" y="4343400"/>
            <a:ext cx="304800" cy="304800"/>
          </a:xfrm>
          <a:prstGeom prst="line">
            <a:avLst/>
          </a:prstGeom>
          <a:ln w="38100">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T7 RNA Polymerase</a:t>
            </a:r>
            <a:endParaRPr lang="en-US" sz="3200" b="1" dirty="0">
              <a:solidFill>
                <a:srgbClr val="1F497D">
                  <a:lumMod val="20000"/>
                  <a:lumOff val="80000"/>
                </a:srgbClr>
              </a:solidFill>
              <a:latin typeface="Rockwell Extra Bold" pitchFamily="18" charset="0"/>
              <a:cs typeface="Arial" pitchFamily="34" charset="0"/>
            </a:endParaRPr>
          </a:p>
        </p:txBody>
      </p:sp>
      <p:sp>
        <p:nvSpPr>
          <p:cNvPr id="17" name="Rectangle 16"/>
          <p:cNvSpPr/>
          <p:nvPr/>
        </p:nvSpPr>
        <p:spPr>
          <a:xfrm>
            <a:off x="304800" y="1371600"/>
            <a:ext cx="6400800" cy="1569660"/>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Used for both </a:t>
            </a:r>
            <a:r>
              <a:rPr lang="en-US" sz="2400" i="1" dirty="0">
                <a:solidFill>
                  <a:srgbClr val="1F497D">
                    <a:lumMod val="20000"/>
                    <a:lumOff val="80000"/>
                  </a:srgbClr>
                </a:solidFill>
                <a:latin typeface="Calibri" pitchFamily="34" charset="0"/>
              </a:rPr>
              <a:t>in vivo</a:t>
            </a:r>
            <a:r>
              <a:rPr lang="en-US" sz="2400" dirty="0">
                <a:solidFill>
                  <a:srgbClr val="1F497D">
                    <a:lumMod val="20000"/>
                    <a:lumOff val="80000"/>
                  </a:srgbClr>
                </a:solidFill>
                <a:latin typeface="Calibri" pitchFamily="34" charset="0"/>
              </a:rPr>
              <a:t> and </a:t>
            </a:r>
            <a:r>
              <a:rPr lang="en-US" sz="2400" i="1" dirty="0">
                <a:solidFill>
                  <a:srgbClr val="1F497D">
                    <a:lumMod val="20000"/>
                    <a:lumOff val="80000"/>
                  </a:srgbClr>
                </a:solidFill>
                <a:latin typeface="Calibri" pitchFamily="34" charset="0"/>
              </a:rPr>
              <a:t>in vitro</a:t>
            </a:r>
            <a:r>
              <a:rPr lang="en-US" sz="2400" dirty="0">
                <a:solidFill>
                  <a:srgbClr val="1F497D">
                    <a:lumMod val="20000"/>
                    <a:lumOff val="80000"/>
                  </a:srgbClr>
                </a:solidFill>
                <a:latin typeface="Calibri" pitchFamily="34" charset="0"/>
              </a:rPr>
              <a:t> transcription</a:t>
            </a:r>
          </a:p>
          <a:p>
            <a:pPr marL="457200" indent="-457200">
              <a:buFont typeface="Wingdings" pitchFamily="2" charset="2"/>
              <a:buChar char="§"/>
            </a:pPr>
            <a:r>
              <a:rPr lang="en-US" sz="2400" dirty="0">
                <a:solidFill>
                  <a:srgbClr val="1F497D">
                    <a:lumMod val="20000"/>
                    <a:lumOff val="80000"/>
                  </a:srgbClr>
                </a:solidFill>
                <a:latin typeface="Calibri" pitchFamily="34" charset="0"/>
              </a:rPr>
              <a:t>Very high protein expression </a:t>
            </a:r>
            <a:r>
              <a:rPr lang="en-US" sz="2400" i="1" dirty="0">
                <a:solidFill>
                  <a:srgbClr val="1F497D">
                    <a:lumMod val="20000"/>
                    <a:lumOff val="80000"/>
                  </a:srgbClr>
                </a:solidFill>
                <a:latin typeface="Calibri" pitchFamily="34" charset="0"/>
              </a:rPr>
              <a:t>in vivo</a:t>
            </a:r>
          </a:p>
          <a:p>
            <a:pPr marL="457200" indent="-457200">
              <a:buFont typeface="Wingdings" pitchFamily="2" charset="2"/>
              <a:buChar char="§"/>
            </a:pPr>
            <a:r>
              <a:rPr lang="en-US" sz="2400" dirty="0">
                <a:solidFill>
                  <a:srgbClr val="1F497D">
                    <a:lumMod val="20000"/>
                    <a:lumOff val="80000"/>
                  </a:srgbClr>
                </a:solidFill>
                <a:latin typeface="Calibri" pitchFamily="34" charset="0"/>
              </a:rPr>
              <a:t>Production of </a:t>
            </a:r>
            <a:r>
              <a:rPr lang="en-US" sz="2400" dirty="0" err="1">
                <a:solidFill>
                  <a:srgbClr val="1F497D">
                    <a:lumMod val="20000"/>
                    <a:lumOff val="80000"/>
                  </a:srgbClr>
                </a:solidFill>
                <a:latin typeface="Calibri" pitchFamily="34" charset="0"/>
              </a:rPr>
              <a:t>tRNAs</a:t>
            </a:r>
            <a:r>
              <a:rPr lang="en-US" sz="2400" dirty="0">
                <a:solidFill>
                  <a:srgbClr val="1F497D">
                    <a:lumMod val="20000"/>
                    <a:lumOff val="80000"/>
                  </a:srgbClr>
                </a:solidFill>
                <a:latin typeface="Calibri" pitchFamily="34" charset="0"/>
              </a:rPr>
              <a:t>, mRNAs, or </a:t>
            </a:r>
            <a:r>
              <a:rPr lang="en-US" sz="2400" dirty="0" err="1">
                <a:solidFill>
                  <a:srgbClr val="1F497D">
                    <a:lumMod val="20000"/>
                    <a:lumOff val="80000"/>
                  </a:srgbClr>
                </a:solidFill>
                <a:latin typeface="Calibri" pitchFamily="34" charset="0"/>
              </a:rPr>
              <a:t>ribozymes</a:t>
            </a:r>
            <a:r>
              <a:rPr lang="en-US" sz="2400" dirty="0">
                <a:solidFill>
                  <a:srgbClr val="1F497D">
                    <a:lumMod val="20000"/>
                    <a:lumOff val="80000"/>
                  </a:srgbClr>
                </a:solidFill>
                <a:latin typeface="Calibri" pitchFamily="34" charset="0"/>
              </a:rPr>
              <a:t>/</a:t>
            </a:r>
            <a:r>
              <a:rPr lang="en-US" sz="2400" dirty="0" err="1">
                <a:solidFill>
                  <a:srgbClr val="1F497D">
                    <a:lumMod val="20000"/>
                    <a:lumOff val="80000"/>
                  </a:srgbClr>
                </a:solidFill>
                <a:latin typeface="Calibri" pitchFamily="34" charset="0"/>
              </a:rPr>
              <a:t>aptamers</a:t>
            </a:r>
            <a:r>
              <a:rPr lang="en-US" sz="2400" dirty="0">
                <a:solidFill>
                  <a:srgbClr val="1F497D">
                    <a:lumMod val="20000"/>
                    <a:lumOff val="80000"/>
                  </a:srgbClr>
                </a:solidFill>
                <a:latin typeface="Calibri" pitchFamily="34" charset="0"/>
              </a:rPr>
              <a:t> </a:t>
            </a:r>
            <a:r>
              <a:rPr lang="en-US" sz="2400" i="1" dirty="0">
                <a:solidFill>
                  <a:srgbClr val="1F497D">
                    <a:lumMod val="20000"/>
                    <a:lumOff val="80000"/>
                  </a:srgbClr>
                </a:solidFill>
                <a:latin typeface="Calibri" pitchFamily="34" charset="0"/>
              </a:rPr>
              <a:t>in vitro</a:t>
            </a:r>
          </a:p>
        </p:txBody>
      </p:sp>
      <p:sp>
        <p:nvSpPr>
          <p:cNvPr id="16" name="Rectangle 15"/>
          <p:cNvSpPr/>
          <p:nvPr/>
        </p:nvSpPr>
        <p:spPr>
          <a:xfrm>
            <a:off x="4267200" y="3657600"/>
            <a:ext cx="3144130" cy="523220"/>
          </a:xfrm>
          <a:prstGeom prst="rect">
            <a:avLst/>
          </a:prstGeom>
        </p:spPr>
        <p:txBody>
          <a:bodyPr wrap="none">
            <a:spAutoFit/>
          </a:bodyPr>
          <a:lstStyle/>
          <a:p>
            <a:r>
              <a:rPr lang="en-US" sz="2800" b="1" dirty="0">
                <a:solidFill>
                  <a:schemeClr val="accent3">
                    <a:lumMod val="40000"/>
                    <a:lumOff val="60000"/>
                  </a:schemeClr>
                </a:solidFill>
                <a:latin typeface="Calibri" pitchFamily="34" charset="0"/>
              </a:rPr>
              <a:t>New </a:t>
            </a:r>
            <a:r>
              <a:rPr lang="en-US" sz="2800" b="1" dirty="0" err="1">
                <a:solidFill>
                  <a:schemeClr val="accent3">
                    <a:lumMod val="40000"/>
                    <a:lumOff val="60000"/>
                  </a:schemeClr>
                </a:solidFill>
                <a:latin typeface="Calibri" pitchFamily="34" charset="0"/>
              </a:rPr>
              <a:t>ssRNA</a:t>
            </a:r>
            <a:r>
              <a:rPr lang="en-US" sz="2800" b="1" dirty="0">
                <a:solidFill>
                  <a:schemeClr val="accent3">
                    <a:lumMod val="40000"/>
                    <a:lumOff val="60000"/>
                  </a:schemeClr>
                </a:solidFill>
                <a:latin typeface="Calibri" pitchFamily="34" charset="0"/>
              </a:rPr>
              <a:t> product</a:t>
            </a:r>
            <a:endParaRPr lang="en-US" sz="2800" b="1" dirty="0">
              <a:solidFill>
                <a:schemeClr val="accent3">
                  <a:lumMod val="40000"/>
                  <a:lumOff val="60000"/>
                </a:schemeClr>
              </a:solidFill>
            </a:endParaRPr>
          </a:p>
        </p:txBody>
      </p:sp>
      <p:cxnSp>
        <p:nvCxnSpPr>
          <p:cNvPr id="22" name="Straight Connector 21"/>
          <p:cNvCxnSpPr/>
          <p:nvPr/>
        </p:nvCxnSpPr>
        <p:spPr>
          <a:xfrm rot="10800000">
            <a:off x="2895600" y="4648200"/>
            <a:ext cx="5029200" cy="1588"/>
          </a:xfrm>
          <a:prstGeom prst="line">
            <a:avLst/>
          </a:prstGeom>
          <a:ln w="38100">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flipH="1">
            <a:off x="7620000" y="4343400"/>
            <a:ext cx="304800" cy="304800"/>
          </a:xfrm>
          <a:prstGeom prst="line">
            <a:avLst/>
          </a:prstGeom>
          <a:ln w="38100">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066800" y="6172200"/>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H="1">
            <a:off x="1066800" y="61722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0800000">
            <a:off x="2667000" y="5943600"/>
            <a:ext cx="53340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10800000">
            <a:off x="1066806" y="5943600"/>
            <a:ext cx="1600195" cy="1588"/>
          </a:xfrm>
          <a:prstGeom prst="line">
            <a:avLst/>
          </a:prstGeom>
          <a:ln w="38100">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flipH="1">
            <a:off x="7696199" y="56388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1349514"/>
            <a:ext cx="9144000" cy="707886"/>
          </a:xfrm>
          <a:prstGeom prst="rect">
            <a:avLst/>
          </a:prstGeom>
          <a:noFill/>
          <a:ln w="9525">
            <a:noFill/>
            <a:miter lim="800000"/>
            <a:headEnd/>
            <a:tailEnd/>
          </a:ln>
        </p:spPr>
        <p:txBody>
          <a:bodyPr wrap="square">
            <a:spAutoFit/>
          </a:bodyPr>
          <a:lstStyle/>
          <a:p>
            <a:pPr algn="ctr"/>
            <a:r>
              <a:rPr lang="en-US" sz="4000" dirty="0">
                <a:solidFill>
                  <a:schemeClr val="bg1"/>
                </a:solidFill>
                <a:latin typeface="Rockwell Extra Bold" pitchFamily="18" charset="0"/>
                <a:cs typeface="Arial" pitchFamily="34" charset="0"/>
              </a:rPr>
              <a:t>Ligases</a:t>
            </a:r>
          </a:p>
        </p:txBody>
      </p:sp>
      <p:sp>
        <p:nvSpPr>
          <p:cNvPr id="7" name="Rectangle 5"/>
          <p:cNvSpPr>
            <a:spLocks noChangeArrowheads="1"/>
          </p:cNvSpPr>
          <p:nvPr/>
        </p:nvSpPr>
        <p:spPr bwMode="auto">
          <a:xfrm>
            <a:off x="3048000" y="2895600"/>
            <a:ext cx="5791200" cy="1200329"/>
          </a:xfrm>
          <a:prstGeom prst="rect">
            <a:avLst/>
          </a:prstGeom>
          <a:noFill/>
          <a:ln w="9525">
            <a:noFill/>
            <a:miter lim="800000"/>
            <a:headEnd/>
            <a:tailEnd/>
          </a:ln>
        </p:spPr>
        <p:txBody>
          <a:bodyPr wrap="square">
            <a:spAutoFit/>
          </a:bodyPr>
          <a:lstStyle/>
          <a:p>
            <a:r>
              <a:rPr lang="en-US" sz="2400" dirty="0">
                <a:solidFill>
                  <a:schemeClr val="bg1"/>
                </a:solidFill>
                <a:latin typeface="Calibri" pitchFamily="34" charset="0"/>
              </a:rPr>
              <a:t>Join 5’ phosphates to 3’ hydroxyls</a:t>
            </a:r>
          </a:p>
          <a:p>
            <a:r>
              <a:rPr lang="en-US" sz="2400" dirty="0">
                <a:solidFill>
                  <a:schemeClr val="bg1"/>
                </a:solidFill>
                <a:latin typeface="Calibri" pitchFamily="34" charset="0"/>
              </a:rPr>
              <a:t>Requires energy (not a thermodynamically favorable reaction)</a:t>
            </a:r>
          </a:p>
        </p:txBody>
      </p:sp>
    </p:spTree>
  </p:cSld>
  <p:clrMapOvr>
    <a:overrideClrMapping bg1="lt1" tx1="dk1" bg2="lt2" tx2="dk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T4 DNA </a:t>
            </a:r>
            <a:r>
              <a:rPr lang="en-US" sz="3200" dirty="0" err="1">
                <a:solidFill>
                  <a:srgbClr val="1F497D">
                    <a:lumMod val="20000"/>
                    <a:lumOff val="80000"/>
                  </a:srgbClr>
                </a:solidFill>
                <a:latin typeface="Rockwell Extra Bold" pitchFamily="18" charset="0"/>
                <a:cs typeface="Arial" pitchFamily="34" charset="0"/>
              </a:rPr>
              <a:t>Ligase</a:t>
            </a:r>
            <a:endParaRPr lang="en-US" sz="3200" b="1" dirty="0">
              <a:solidFill>
                <a:srgbClr val="1F497D">
                  <a:lumMod val="20000"/>
                  <a:lumOff val="80000"/>
                </a:srgbClr>
              </a:solidFill>
              <a:latin typeface="Rockwell Extra Bold" pitchFamily="18" charset="0"/>
              <a:cs typeface="Arial" pitchFamily="34" charset="0"/>
            </a:endParaRPr>
          </a:p>
        </p:txBody>
      </p:sp>
      <p:sp>
        <p:nvSpPr>
          <p:cNvPr id="17" name="Rectangle 16"/>
          <p:cNvSpPr/>
          <p:nvPr/>
        </p:nvSpPr>
        <p:spPr>
          <a:xfrm>
            <a:off x="304800" y="1066800"/>
            <a:ext cx="8077200" cy="2677656"/>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No homolog in </a:t>
            </a:r>
            <a:r>
              <a:rPr lang="en-US" sz="2400" i="1" dirty="0">
                <a:solidFill>
                  <a:srgbClr val="1F497D">
                    <a:lumMod val="20000"/>
                    <a:lumOff val="80000"/>
                  </a:srgbClr>
                </a:solidFill>
                <a:latin typeface="Calibri" pitchFamily="34" charset="0"/>
              </a:rPr>
              <a:t>E. coli</a:t>
            </a:r>
          </a:p>
          <a:p>
            <a:pPr marL="457200" indent="-457200">
              <a:buFont typeface="Wingdings" pitchFamily="2" charset="2"/>
              <a:buChar char="§"/>
            </a:pPr>
            <a:r>
              <a:rPr lang="en-US" sz="2400" dirty="0">
                <a:solidFill>
                  <a:srgbClr val="1F497D">
                    <a:lumMod val="20000"/>
                    <a:lumOff val="80000"/>
                  </a:srgbClr>
                </a:solidFill>
                <a:latin typeface="Calibri" pitchFamily="34" charset="0"/>
              </a:rPr>
              <a:t>Requires 5’ phosphate and 3’ hydroxyl</a:t>
            </a:r>
          </a:p>
          <a:p>
            <a:pPr marL="457200" indent="-457200">
              <a:buFont typeface="Wingdings" pitchFamily="2" charset="2"/>
              <a:buChar char="§"/>
            </a:pPr>
            <a:r>
              <a:rPr lang="en-US" sz="2400" dirty="0">
                <a:solidFill>
                  <a:srgbClr val="1F497D">
                    <a:lumMod val="20000"/>
                    <a:lumOff val="80000"/>
                  </a:srgbClr>
                </a:solidFill>
                <a:latin typeface="Calibri" pitchFamily="34" charset="0"/>
              </a:rPr>
              <a:t>No mismatches or gaps can be present at junction</a:t>
            </a:r>
          </a:p>
          <a:p>
            <a:pPr marL="457200" indent="-457200">
              <a:buFont typeface="Wingdings" pitchFamily="2" charset="2"/>
              <a:buChar char="§"/>
            </a:pPr>
            <a:r>
              <a:rPr lang="en-US" sz="2400" dirty="0">
                <a:solidFill>
                  <a:srgbClr val="1F497D">
                    <a:lumMod val="20000"/>
                    <a:lumOff val="80000"/>
                  </a:srgbClr>
                </a:solidFill>
                <a:latin typeface="Calibri" pitchFamily="34" charset="0"/>
              </a:rPr>
              <a:t>Operates on any length of homology (though 1bp is worst)</a:t>
            </a:r>
          </a:p>
          <a:p>
            <a:pPr marL="457200" indent="-457200">
              <a:buFont typeface="Wingdings" pitchFamily="2" charset="2"/>
              <a:buChar char="§"/>
            </a:pPr>
            <a:r>
              <a:rPr lang="en-US" sz="2400" dirty="0">
                <a:solidFill>
                  <a:srgbClr val="1F497D">
                    <a:lumMod val="20000"/>
                    <a:lumOff val="80000"/>
                  </a:srgbClr>
                </a:solidFill>
                <a:latin typeface="Calibri" pitchFamily="34" charset="0"/>
              </a:rPr>
              <a:t>Principally used to join DNA ends generated by restriction enzymes</a:t>
            </a: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p:txBody>
      </p:sp>
      <p:sp>
        <p:nvSpPr>
          <p:cNvPr id="4" name="TextBox 3"/>
          <p:cNvSpPr txBox="1"/>
          <p:nvPr/>
        </p:nvSpPr>
        <p:spPr>
          <a:xfrm>
            <a:off x="1905000" y="5798403"/>
            <a:ext cx="5486400" cy="830997"/>
          </a:xfrm>
          <a:prstGeom prst="rect">
            <a:avLst/>
          </a:prstGeom>
          <a:noFill/>
        </p:spPr>
        <p:txBody>
          <a:bodyPr wrap="square" rtlCol="0">
            <a:spAutoFit/>
          </a:bodyPr>
          <a:lstStyle/>
          <a:p>
            <a:r>
              <a:rPr lang="en-US" sz="2400" dirty="0">
                <a:solidFill>
                  <a:schemeClr val="tx2">
                    <a:lumMod val="20000"/>
                    <a:lumOff val="80000"/>
                  </a:schemeClr>
                </a:solidFill>
                <a:latin typeface="Courier New" pitchFamily="49" charset="0"/>
                <a:cs typeface="Courier New" pitchFamily="49" charset="0"/>
              </a:rPr>
              <a:t>5’-cttcg</a:t>
            </a:r>
            <a:r>
              <a:rPr lang="en-US" sz="2400" dirty="0">
                <a:solidFill>
                  <a:schemeClr val="accent2">
                    <a:lumMod val="40000"/>
                    <a:lumOff val="60000"/>
                  </a:schemeClr>
                </a:solidFill>
                <a:latin typeface="Courier New" pitchFamily="49" charset="0"/>
                <a:cs typeface="Courier New" pitchFamily="49" charset="0"/>
              </a:rPr>
              <a:t>CTGCAG</a:t>
            </a:r>
            <a:r>
              <a:rPr lang="en-US" sz="2400" dirty="0">
                <a:solidFill>
                  <a:schemeClr val="tx2">
                    <a:lumMod val="20000"/>
                    <a:lumOff val="80000"/>
                  </a:schemeClr>
                </a:solidFill>
                <a:latin typeface="Courier New" pitchFamily="49" charset="0"/>
                <a:cs typeface="Courier New" pitchFamily="49" charset="0"/>
              </a:rPr>
              <a:t>gctggcaga…-3’</a:t>
            </a:r>
          </a:p>
          <a:p>
            <a:r>
              <a:rPr lang="en-US" sz="2400" dirty="0">
                <a:solidFill>
                  <a:schemeClr val="tx2">
                    <a:lumMod val="20000"/>
                    <a:lumOff val="80000"/>
                  </a:schemeClr>
                </a:solidFill>
                <a:latin typeface="Courier New" pitchFamily="49" charset="0"/>
                <a:cs typeface="Courier New" pitchFamily="49" charset="0"/>
              </a:rPr>
              <a:t>3’-gaagc</a:t>
            </a:r>
            <a:r>
              <a:rPr lang="en-US" sz="2400" dirty="0">
                <a:solidFill>
                  <a:schemeClr val="accent2">
                    <a:lumMod val="40000"/>
                    <a:lumOff val="60000"/>
                  </a:schemeClr>
                </a:solidFill>
                <a:latin typeface="Courier New" pitchFamily="49" charset="0"/>
                <a:cs typeface="Courier New" pitchFamily="49" charset="0"/>
              </a:rPr>
              <a:t>GACGTC</a:t>
            </a:r>
            <a:r>
              <a:rPr lang="en-US" sz="2400" dirty="0">
                <a:solidFill>
                  <a:schemeClr val="tx2">
                    <a:lumMod val="20000"/>
                    <a:lumOff val="80000"/>
                  </a:schemeClr>
                </a:solidFill>
                <a:latin typeface="Courier New" pitchFamily="49" charset="0"/>
                <a:cs typeface="Courier New" pitchFamily="49" charset="0"/>
              </a:rPr>
              <a:t>cgaccgtct…-5’</a:t>
            </a:r>
          </a:p>
        </p:txBody>
      </p:sp>
      <p:sp>
        <p:nvSpPr>
          <p:cNvPr id="5" name="TextBox 4"/>
          <p:cNvSpPr txBox="1"/>
          <p:nvPr/>
        </p:nvSpPr>
        <p:spPr>
          <a:xfrm>
            <a:off x="1219200" y="4122003"/>
            <a:ext cx="2971800" cy="830997"/>
          </a:xfrm>
          <a:prstGeom prst="rect">
            <a:avLst/>
          </a:prstGeom>
          <a:noFill/>
        </p:spPr>
        <p:txBody>
          <a:bodyPr wrap="square" rtlCol="0">
            <a:spAutoFit/>
          </a:bodyPr>
          <a:lstStyle/>
          <a:p>
            <a:r>
              <a:rPr lang="en-US" sz="2400" dirty="0">
                <a:solidFill>
                  <a:schemeClr val="tx2">
                    <a:lumMod val="20000"/>
                    <a:lumOff val="80000"/>
                  </a:schemeClr>
                </a:solidFill>
                <a:latin typeface="Courier New" pitchFamily="49" charset="0"/>
                <a:cs typeface="Courier New" pitchFamily="49" charset="0"/>
              </a:rPr>
              <a:t>5’-cttcg</a:t>
            </a:r>
            <a:r>
              <a:rPr lang="en-US" sz="2400" dirty="0">
                <a:solidFill>
                  <a:schemeClr val="accent2">
                    <a:lumMod val="40000"/>
                    <a:lumOff val="60000"/>
                  </a:schemeClr>
                </a:solidFill>
                <a:latin typeface="Courier New" pitchFamily="49" charset="0"/>
                <a:cs typeface="Courier New" pitchFamily="49" charset="0"/>
              </a:rPr>
              <a:t>CTGCA</a:t>
            </a:r>
            <a:endParaRPr lang="en-US" sz="2400" dirty="0">
              <a:solidFill>
                <a:schemeClr val="tx2">
                  <a:lumMod val="20000"/>
                  <a:lumOff val="80000"/>
                </a:schemeClr>
              </a:solidFill>
              <a:latin typeface="Courier New" pitchFamily="49" charset="0"/>
              <a:cs typeface="Courier New" pitchFamily="49" charset="0"/>
            </a:endParaRPr>
          </a:p>
          <a:p>
            <a:r>
              <a:rPr lang="en-US" sz="2400" dirty="0">
                <a:solidFill>
                  <a:schemeClr val="tx2">
                    <a:lumMod val="20000"/>
                    <a:lumOff val="80000"/>
                  </a:schemeClr>
                </a:solidFill>
                <a:latin typeface="Courier New" pitchFamily="49" charset="0"/>
                <a:cs typeface="Courier New" pitchFamily="49" charset="0"/>
              </a:rPr>
              <a:t>3’-gaagc</a:t>
            </a:r>
            <a:r>
              <a:rPr lang="en-US" sz="2400" dirty="0">
                <a:solidFill>
                  <a:schemeClr val="accent2">
                    <a:lumMod val="40000"/>
                    <a:lumOff val="60000"/>
                  </a:schemeClr>
                </a:solidFill>
                <a:latin typeface="Courier New" pitchFamily="49" charset="0"/>
                <a:cs typeface="Courier New" pitchFamily="49" charset="0"/>
              </a:rPr>
              <a:t>G</a:t>
            </a:r>
            <a:endParaRPr lang="en-US" sz="2400" dirty="0">
              <a:solidFill>
                <a:schemeClr val="tx2">
                  <a:lumMod val="20000"/>
                  <a:lumOff val="80000"/>
                </a:schemeClr>
              </a:solidFill>
              <a:latin typeface="Courier New" pitchFamily="49" charset="0"/>
              <a:cs typeface="Courier New" pitchFamily="49" charset="0"/>
            </a:endParaRPr>
          </a:p>
        </p:txBody>
      </p:sp>
      <p:sp>
        <p:nvSpPr>
          <p:cNvPr id="6" name="Rectangle 5"/>
          <p:cNvSpPr/>
          <p:nvPr/>
        </p:nvSpPr>
        <p:spPr>
          <a:xfrm>
            <a:off x="4842190" y="4579203"/>
            <a:ext cx="3502882" cy="830997"/>
          </a:xfrm>
          <a:prstGeom prst="rect">
            <a:avLst/>
          </a:prstGeom>
        </p:spPr>
        <p:txBody>
          <a:bodyPr wrap="none">
            <a:spAutoFit/>
          </a:bodyPr>
          <a:lstStyle/>
          <a:p>
            <a:r>
              <a:rPr lang="en-US" sz="2400" dirty="0">
                <a:solidFill>
                  <a:schemeClr val="accent2">
                    <a:lumMod val="40000"/>
                    <a:lumOff val="60000"/>
                  </a:schemeClr>
                </a:solidFill>
                <a:latin typeface="Courier New" pitchFamily="49" charset="0"/>
                <a:cs typeface="Courier New" pitchFamily="49" charset="0"/>
              </a:rPr>
              <a:t>    </a:t>
            </a:r>
            <a:r>
              <a:rPr lang="en-US" sz="2400" dirty="0" err="1">
                <a:solidFill>
                  <a:schemeClr val="accent2">
                    <a:lumMod val="40000"/>
                    <a:lumOff val="60000"/>
                  </a:schemeClr>
                </a:solidFill>
                <a:latin typeface="Courier New" pitchFamily="49" charset="0"/>
                <a:cs typeface="Courier New" pitchFamily="49" charset="0"/>
              </a:rPr>
              <a:t>G</a:t>
            </a:r>
            <a:r>
              <a:rPr lang="en-US" sz="2400" dirty="0" err="1">
                <a:solidFill>
                  <a:schemeClr val="tx2">
                    <a:lumMod val="20000"/>
                    <a:lumOff val="80000"/>
                  </a:schemeClr>
                </a:solidFill>
                <a:latin typeface="Courier New" pitchFamily="49" charset="0"/>
                <a:cs typeface="Courier New" pitchFamily="49" charset="0"/>
              </a:rPr>
              <a:t>gctggcaga</a:t>
            </a:r>
            <a:r>
              <a:rPr lang="en-US" sz="2400" dirty="0">
                <a:solidFill>
                  <a:srgbClr val="1F497D">
                    <a:lumMod val="20000"/>
                    <a:lumOff val="80000"/>
                  </a:srgbClr>
                </a:solidFill>
                <a:latin typeface="Courier New" pitchFamily="49" charset="0"/>
                <a:cs typeface="Courier New" pitchFamily="49" charset="0"/>
              </a:rPr>
              <a:t>…-3’</a:t>
            </a:r>
          </a:p>
          <a:p>
            <a:r>
              <a:rPr lang="en-US" sz="2400" dirty="0" err="1">
                <a:solidFill>
                  <a:schemeClr val="accent2">
                    <a:lumMod val="40000"/>
                    <a:lumOff val="60000"/>
                  </a:schemeClr>
                </a:solidFill>
                <a:latin typeface="Courier New" pitchFamily="49" charset="0"/>
                <a:cs typeface="Courier New" pitchFamily="49" charset="0"/>
              </a:rPr>
              <a:t>ACGTC</a:t>
            </a:r>
            <a:r>
              <a:rPr lang="en-US" sz="2400" dirty="0" err="1">
                <a:solidFill>
                  <a:schemeClr val="tx2">
                    <a:lumMod val="20000"/>
                    <a:lumOff val="80000"/>
                  </a:schemeClr>
                </a:solidFill>
                <a:latin typeface="Courier New" pitchFamily="49" charset="0"/>
                <a:cs typeface="Courier New" pitchFamily="49" charset="0"/>
              </a:rPr>
              <a:t>cgaccgtct</a:t>
            </a:r>
            <a:r>
              <a:rPr lang="en-US" sz="2400" dirty="0">
                <a:solidFill>
                  <a:srgbClr val="1F497D">
                    <a:lumMod val="20000"/>
                    <a:lumOff val="80000"/>
                  </a:srgbClr>
                </a:solidFill>
                <a:latin typeface="Courier New" pitchFamily="49" charset="0"/>
                <a:cs typeface="Courier New" pitchFamily="49" charset="0"/>
              </a:rPr>
              <a:t>…-5’</a:t>
            </a:r>
            <a:endParaRPr lang="en-US" dirty="0"/>
          </a:p>
        </p:txBody>
      </p:sp>
      <p:sp>
        <p:nvSpPr>
          <p:cNvPr id="7" name="Rectangle 6"/>
          <p:cNvSpPr/>
          <p:nvPr/>
        </p:nvSpPr>
        <p:spPr>
          <a:xfrm>
            <a:off x="4156390" y="4503003"/>
            <a:ext cx="492443" cy="707886"/>
          </a:xfrm>
          <a:prstGeom prst="rect">
            <a:avLst/>
          </a:prstGeom>
        </p:spPr>
        <p:txBody>
          <a:bodyPr wrap="none">
            <a:spAutoFit/>
          </a:bodyPr>
          <a:lstStyle/>
          <a:p>
            <a:r>
              <a:rPr lang="en-US" sz="4000" b="1" dirty="0">
                <a:solidFill>
                  <a:srgbClr val="1F497D">
                    <a:lumMod val="20000"/>
                    <a:lumOff val="80000"/>
                  </a:srgbClr>
                </a:solidFill>
                <a:latin typeface="Courier New" pitchFamily="49" charset="0"/>
                <a:cs typeface="Courier New" pitchFamily="49" charset="0"/>
              </a:rPr>
              <a:t>+</a:t>
            </a:r>
            <a:endParaRPr lang="en-US" sz="4000" b="1" dirty="0"/>
          </a:p>
        </p:txBody>
      </p:sp>
      <p:cxnSp>
        <p:nvCxnSpPr>
          <p:cNvPr id="8" name="Straight Arrow Connector 7"/>
          <p:cNvCxnSpPr/>
          <p:nvPr/>
        </p:nvCxnSpPr>
        <p:spPr>
          <a:xfrm rot="5400000">
            <a:off x="4156390" y="5493603"/>
            <a:ext cx="457200" cy="1588"/>
          </a:xfrm>
          <a:prstGeom prst="straightConnector1">
            <a:avLst/>
          </a:prstGeom>
          <a:ln w="38100">
            <a:solidFill>
              <a:schemeClr val="tx2">
                <a:lumMod val="20000"/>
                <a:lumOff val="80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onder.png"/>
          <p:cNvPicPr>
            <a:picLocks noChangeAspect="1"/>
          </p:cNvPicPr>
          <p:nvPr/>
        </p:nvPicPr>
        <p:blipFill>
          <a:blip r:embed="rId3" cstate="print"/>
          <a:stretch>
            <a:fillRect/>
          </a:stretch>
        </p:blipFill>
        <p:spPr>
          <a:xfrm>
            <a:off x="221048" y="95107"/>
            <a:ext cx="573880" cy="824953"/>
          </a:xfrm>
          <a:prstGeom prst="rect">
            <a:avLst/>
          </a:prstGeom>
        </p:spPr>
      </p:pic>
      <p:sp>
        <p:nvSpPr>
          <p:cNvPr id="5" name="Rectangle 4"/>
          <p:cNvSpPr/>
          <p:nvPr/>
        </p:nvSpPr>
        <p:spPr>
          <a:xfrm>
            <a:off x="938173" y="273729"/>
            <a:ext cx="1747293" cy="646331"/>
          </a:xfrm>
          <a:prstGeom prst="rect">
            <a:avLst/>
          </a:prstGeom>
        </p:spPr>
        <p:txBody>
          <a:bodyPr wrap="none">
            <a:spAutoFit/>
          </a:bodyPr>
          <a:lstStyle/>
          <a:p>
            <a:pPr fontAlgn="auto">
              <a:spcBef>
                <a:spcPts val="0"/>
              </a:spcBef>
              <a:spcAft>
                <a:spcPts val="0"/>
              </a:spcAft>
            </a:pPr>
            <a:r>
              <a:rPr lang="en-US" sz="3600" dirty="0">
                <a:solidFill>
                  <a:prstClr val="black"/>
                </a:solidFill>
                <a:latin typeface="Calibri"/>
              </a:rPr>
              <a:t>Blunting</a:t>
            </a:r>
          </a:p>
        </p:txBody>
      </p:sp>
      <p:sp>
        <p:nvSpPr>
          <p:cNvPr id="2" name="Rectangle 1"/>
          <p:cNvSpPr/>
          <p:nvPr/>
        </p:nvSpPr>
        <p:spPr>
          <a:xfrm>
            <a:off x="533400" y="1066800"/>
            <a:ext cx="8382000" cy="1477328"/>
          </a:xfrm>
          <a:prstGeom prst="rect">
            <a:avLst/>
          </a:prstGeom>
        </p:spPr>
        <p:txBody>
          <a:bodyPr wrap="square">
            <a:spAutoFit/>
          </a:bodyPr>
          <a:lstStyle/>
          <a:p>
            <a:r>
              <a:rPr lang="en-US" dirty="0">
                <a:solidFill>
                  <a:prstClr val="black"/>
                </a:solidFill>
                <a:latin typeface="Calibri" pitchFamily="34" charset="0"/>
              </a:rPr>
              <a:t>If I took a plasmid containing the sequence:</a:t>
            </a:r>
          </a:p>
          <a:p>
            <a:endParaRPr lang="en-US" dirty="0">
              <a:solidFill>
                <a:prstClr val="black"/>
              </a:solidFill>
              <a:latin typeface="Calibri" pitchFamily="34" charset="0"/>
            </a:endParaRPr>
          </a:p>
          <a:p>
            <a:endParaRPr lang="en-US" dirty="0">
              <a:solidFill>
                <a:prstClr val="black"/>
              </a:solidFill>
              <a:latin typeface="Calibri" pitchFamily="34" charset="0"/>
            </a:endParaRPr>
          </a:p>
          <a:p>
            <a:r>
              <a:rPr lang="en-US" dirty="0">
                <a:solidFill>
                  <a:prstClr val="black"/>
                </a:solidFill>
                <a:latin typeface="Calibri" pitchFamily="34" charset="0"/>
              </a:rPr>
              <a:t>digested with </a:t>
            </a:r>
            <a:r>
              <a:rPr lang="en-US" dirty="0" err="1">
                <a:solidFill>
                  <a:prstClr val="black"/>
                </a:solidFill>
                <a:latin typeface="Calibri" pitchFamily="34" charset="0"/>
              </a:rPr>
              <a:t>EcoRI</a:t>
            </a:r>
            <a:r>
              <a:rPr lang="en-US" dirty="0">
                <a:solidFill>
                  <a:prstClr val="black"/>
                </a:solidFill>
                <a:latin typeface="Calibri" pitchFamily="34" charset="0"/>
              </a:rPr>
              <a:t>, digested with </a:t>
            </a:r>
            <a:r>
              <a:rPr lang="en-US" dirty="0" err="1">
                <a:solidFill>
                  <a:prstClr val="black"/>
                </a:solidFill>
                <a:latin typeface="Calibri" pitchFamily="34" charset="0"/>
              </a:rPr>
              <a:t>Mung</a:t>
            </a:r>
            <a:r>
              <a:rPr lang="en-US" dirty="0">
                <a:solidFill>
                  <a:prstClr val="black"/>
                </a:solidFill>
                <a:latin typeface="Calibri" pitchFamily="34" charset="0"/>
              </a:rPr>
              <a:t> Bean Nuclease, and then ligated with T4 DNA Ligase, what would the product be?</a:t>
            </a:r>
          </a:p>
        </p:txBody>
      </p:sp>
      <p:sp>
        <p:nvSpPr>
          <p:cNvPr id="8" name="Rectangle 7"/>
          <p:cNvSpPr/>
          <p:nvPr/>
        </p:nvSpPr>
        <p:spPr>
          <a:xfrm>
            <a:off x="1524000" y="1410563"/>
            <a:ext cx="4416594" cy="477054"/>
          </a:xfrm>
          <a:prstGeom prst="rect">
            <a:avLst/>
          </a:prstGeom>
        </p:spPr>
        <p:txBody>
          <a:bodyPr wrap="none">
            <a:spAutoFit/>
          </a:bodyPr>
          <a:lstStyle/>
          <a:p>
            <a:r>
              <a:rPr lang="en-US" sz="2500" dirty="0">
                <a:solidFill>
                  <a:prstClr val="black"/>
                </a:solidFill>
                <a:latin typeface="Courier New" pitchFamily="49" charset="0"/>
                <a:cs typeface="Courier New" pitchFamily="49" charset="0"/>
              </a:rPr>
              <a:t>…</a:t>
            </a:r>
            <a:r>
              <a:rPr lang="en-US" sz="2500" dirty="0" err="1">
                <a:solidFill>
                  <a:prstClr val="black"/>
                </a:solidFill>
                <a:latin typeface="Courier New" pitchFamily="49" charset="0"/>
                <a:cs typeface="Courier New" pitchFamily="49" charset="0"/>
              </a:rPr>
              <a:t>gatttctgGAATTCgcggcc</a:t>
            </a:r>
            <a:r>
              <a:rPr lang="en-US" sz="2500" dirty="0">
                <a:solidFill>
                  <a:prstClr val="black"/>
                </a:solidFill>
                <a:latin typeface="Courier New" pitchFamily="49" charset="0"/>
                <a:cs typeface="Courier New" pitchFamily="49" charset="0"/>
              </a:rPr>
              <a:t>…</a:t>
            </a:r>
          </a:p>
        </p:txBody>
      </p:sp>
      <p:sp>
        <p:nvSpPr>
          <p:cNvPr id="9" name="Rectangle 8"/>
          <p:cNvSpPr/>
          <p:nvPr/>
        </p:nvSpPr>
        <p:spPr>
          <a:xfrm>
            <a:off x="1981200" y="2743200"/>
            <a:ext cx="4925196" cy="1107996"/>
          </a:xfrm>
          <a:prstGeom prst="rect">
            <a:avLst/>
          </a:prstGeom>
        </p:spPr>
        <p:txBody>
          <a:bodyPr wrap="none">
            <a:spAutoFit/>
          </a:bodyPr>
          <a:lstStyle/>
          <a:p>
            <a:r>
              <a:rPr lang="en-US" sz="2200" dirty="0">
                <a:solidFill>
                  <a:prstClr val="black"/>
                </a:solidFill>
                <a:latin typeface="Courier New" pitchFamily="49" charset="0"/>
                <a:cs typeface="Courier New" pitchFamily="49" charset="0"/>
              </a:rPr>
              <a:t>5’-…</a:t>
            </a:r>
            <a:r>
              <a:rPr lang="en-US" sz="2200" dirty="0" err="1">
                <a:solidFill>
                  <a:prstClr val="black"/>
                </a:solidFill>
                <a:latin typeface="Courier New" pitchFamily="49" charset="0"/>
                <a:cs typeface="Courier New" pitchFamily="49" charset="0"/>
              </a:rPr>
              <a:t>gatttctg</a:t>
            </a:r>
            <a:r>
              <a:rPr lang="en-US" sz="2200" dirty="0" err="1">
                <a:solidFill>
                  <a:srgbClr val="4F81BD"/>
                </a:solidFill>
                <a:latin typeface="Courier New" pitchFamily="49" charset="0"/>
                <a:cs typeface="Courier New" pitchFamily="49" charset="0"/>
              </a:rPr>
              <a:t>GAATTC</a:t>
            </a:r>
            <a:r>
              <a:rPr lang="en-US" sz="2200" dirty="0" err="1">
                <a:solidFill>
                  <a:prstClr val="black"/>
                </a:solidFill>
                <a:latin typeface="Courier New" pitchFamily="49" charset="0"/>
                <a:cs typeface="Courier New" pitchFamily="49" charset="0"/>
              </a:rPr>
              <a:t>gcggcc</a:t>
            </a:r>
            <a:r>
              <a:rPr lang="en-US" sz="2200" dirty="0">
                <a:solidFill>
                  <a:prstClr val="black"/>
                </a:solidFill>
                <a:latin typeface="Courier New" pitchFamily="49" charset="0"/>
                <a:cs typeface="Courier New" pitchFamily="49" charset="0"/>
              </a:rPr>
              <a:t>…-3’</a:t>
            </a:r>
          </a:p>
          <a:p>
            <a:r>
              <a:rPr lang="en-US" sz="2200" dirty="0">
                <a:solidFill>
                  <a:prstClr val="black"/>
                </a:solidFill>
                <a:latin typeface="Courier New" pitchFamily="49" charset="0"/>
                <a:cs typeface="Courier New" pitchFamily="49" charset="0"/>
              </a:rPr>
              <a:t>3’-…</a:t>
            </a:r>
            <a:r>
              <a:rPr lang="en-US" sz="2200" dirty="0" err="1">
                <a:solidFill>
                  <a:prstClr val="black"/>
                </a:solidFill>
                <a:latin typeface="Courier New" pitchFamily="49" charset="0"/>
                <a:cs typeface="Courier New" pitchFamily="49" charset="0"/>
              </a:rPr>
              <a:t>ctaaagac</a:t>
            </a:r>
            <a:r>
              <a:rPr lang="en-US" sz="2200" dirty="0" err="1">
                <a:solidFill>
                  <a:srgbClr val="4F81BD"/>
                </a:solidFill>
                <a:latin typeface="Courier New" pitchFamily="49" charset="0"/>
                <a:cs typeface="Courier New" pitchFamily="49" charset="0"/>
              </a:rPr>
              <a:t>CTTAAG</a:t>
            </a:r>
            <a:r>
              <a:rPr lang="en-US" sz="2200" dirty="0" err="1">
                <a:solidFill>
                  <a:prstClr val="black"/>
                </a:solidFill>
                <a:latin typeface="Courier New" pitchFamily="49" charset="0"/>
                <a:cs typeface="Courier New" pitchFamily="49" charset="0"/>
              </a:rPr>
              <a:t>cgccgg</a:t>
            </a:r>
            <a:r>
              <a:rPr lang="en-US" sz="2200" dirty="0">
                <a:solidFill>
                  <a:prstClr val="black"/>
                </a:solidFill>
                <a:latin typeface="Courier New" pitchFamily="49" charset="0"/>
                <a:cs typeface="Courier New" pitchFamily="49" charset="0"/>
              </a:rPr>
              <a:t>…-5’</a:t>
            </a:r>
          </a:p>
          <a:p>
            <a:endParaRPr lang="en-US" sz="2200" dirty="0">
              <a:solidFill>
                <a:prstClr val="black"/>
              </a:solidFill>
              <a:latin typeface="Courier New" pitchFamily="49" charset="0"/>
              <a:cs typeface="Courier New" pitchFamily="49" charset="0"/>
            </a:endParaRPr>
          </a:p>
        </p:txBody>
      </p:sp>
      <p:sp>
        <p:nvSpPr>
          <p:cNvPr id="10" name="Rectangle 9"/>
          <p:cNvSpPr/>
          <p:nvPr/>
        </p:nvSpPr>
        <p:spPr>
          <a:xfrm>
            <a:off x="1981200" y="3810000"/>
            <a:ext cx="6448938" cy="1107996"/>
          </a:xfrm>
          <a:prstGeom prst="rect">
            <a:avLst/>
          </a:prstGeom>
        </p:spPr>
        <p:txBody>
          <a:bodyPr wrap="none">
            <a:spAutoFit/>
          </a:bodyPr>
          <a:lstStyle/>
          <a:p>
            <a:r>
              <a:rPr lang="en-US" sz="2200" dirty="0">
                <a:solidFill>
                  <a:prstClr val="black"/>
                </a:solidFill>
                <a:latin typeface="Courier New" pitchFamily="49" charset="0"/>
                <a:cs typeface="Courier New" pitchFamily="49" charset="0"/>
              </a:rPr>
              <a:t>5’-…gatttctg</a:t>
            </a:r>
            <a:r>
              <a:rPr lang="en-US" sz="2200" dirty="0">
                <a:solidFill>
                  <a:srgbClr val="4F81BD"/>
                </a:solidFill>
                <a:latin typeface="Courier New" pitchFamily="49" charset="0"/>
                <a:cs typeface="Courier New" pitchFamily="49" charset="0"/>
              </a:rPr>
              <a:t>G-3’   5’-AATTC</a:t>
            </a:r>
            <a:r>
              <a:rPr lang="en-US" sz="2200" dirty="0">
                <a:solidFill>
                  <a:prstClr val="black"/>
                </a:solidFill>
                <a:latin typeface="Courier New" pitchFamily="49" charset="0"/>
                <a:cs typeface="Courier New" pitchFamily="49" charset="0"/>
              </a:rPr>
              <a:t>gcggcc…-3’</a:t>
            </a:r>
          </a:p>
          <a:p>
            <a:r>
              <a:rPr lang="en-US" sz="2200" dirty="0">
                <a:solidFill>
                  <a:prstClr val="black"/>
                </a:solidFill>
                <a:latin typeface="Courier New" pitchFamily="49" charset="0"/>
                <a:cs typeface="Courier New" pitchFamily="49" charset="0"/>
              </a:rPr>
              <a:t>3’-…ctaaagac</a:t>
            </a:r>
            <a:r>
              <a:rPr lang="en-US" sz="2200" dirty="0">
                <a:solidFill>
                  <a:srgbClr val="4F81BD"/>
                </a:solidFill>
                <a:latin typeface="Courier New" pitchFamily="49" charset="0"/>
                <a:cs typeface="Courier New" pitchFamily="49" charset="0"/>
              </a:rPr>
              <a:t>CTTAA-5’   3’-G</a:t>
            </a:r>
            <a:r>
              <a:rPr lang="en-US" sz="2200" dirty="0">
                <a:solidFill>
                  <a:prstClr val="black"/>
                </a:solidFill>
                <a:latin typeface="Courier New" pitchFamily="49" charset="0"/>
                <a:cs typeface="Courier New" pitchFamily="49" charset="0"/>
              </a:rPr>
              <a:t>cgccgg…-5’</a:t>
            </a:r>
          </a:p>
          <a:p>
            <a:endParaRPr lang="en-US" sz="2200" dirty="0">
              <a:solidFill>
                <a:prstClr val="black"/>
              </a:solidFill>
              <a:latin typeface="Courier New" pitchFamily="49" charset="0"/>
              <a:cs typeface="Courier New" pitchFamily="49" charset="0"/>
            </a:endParaRPr>
          </a:p>
        </p:txBody>
      </p:sp>
      <p:sp>
        <p:nvSpPr>
          <p:cNvPr id="11" name="Rectangle 10"/>
          <p:cNvSpPr/>
          <p:nvPr/>
        </p:nvSpPr>
        <p:spPr>
          <a:xfrm>
            <a:off x="1981200" y="4876800"/>
            <a:ext cx="5771720" cy="1107996"/>
          </a:xfrm>
          <a:prstGeom prst="rect">
            <a:avLst/>
          </a:prstGeom>
        </p:spPr>
        <p:txBody>
          <a:bodyPr wrap="none">
            <a:spAutoFit/>
          </a:bodyPr>
          <a:lstStyle/>
          <a:p>
            <a:r>
              <a:rPr lang="en-US" sz="2200" dirty="0">
                <a:solidFill>
                  <a:prstClr val="black"/>
                </a:solidFill>
                <a:latin typeface="Courier New" pitchFamily="49" charset="0"/>
                <a:cs typeface="Courier New" pitchFamily="49" charset="0"/>
              </a:rPr>
              <a:t>5’-…gatttctg</a:t>
            </a:r>
            <a:r>
              <a:rPr lang="en-US" sz="2200" dirty="0">
                <a:solidFill>
                  <a:srgbClr val="4F81BD"/>
                </a:solidFill>
                <a:latin typeface="Courier New" pitchFamily="49" charset="0"/>
                <a:cs typeface="Courier New" pitchFamily="49" charset="0"/>
              </a:rPr>
              <a:t>G-3’   5’-C</a:t>
            </a:r>
            <a:r>
              <a:rPr lang="en-US" sz="2200" dirty="0">
                <a:solidFill>
                  <a:prstClr val="black"/>
                </a:solidFill>
                <a:latin typeface="Courier New" pitchFamily="49" charset="0"/>
                <a:cs typeface="Courier New" pitchFamily="49" charset="0"/>
              </a:rPr>
              <a:t>gcggcc…-3’</a:t>
            </a:r>
          </a:p>
          <a:p>
            <a:r>
              <a:rPr lang="en-US" sz="2200" dirty="0">
                <a:solidFill>
                  <a:prstClr val="black"/>
                </a:solidFill>
                <a:latin typeface="Courier New" pitchFamily="49" charset="0"/>
                <a:cs typeface="Courier New" pitchFamily="49" charset="0"/>
              </a:rPr>
              <a:t>3’-…ctaaagac</a:t>
            </a:r>
            <a:r>
              <a:rPr lang="en-US" sz="2200" dirty="0">
                <a:solidFill>
                  <a:srgbClr val="4F81BD"/>
                </a:solidFill>
                <a:latin typeface="Courier New" pitchFamily="49" charset="0"/>
                <a:cs typeface="Courier New" pitchFamily="49" charset="0"/>
              </a:rPr>
              <a:t>C-5’   3’-G</a:t>
            </a:r>
            <a:r>
              <a:rPr lang="en-US" sz="2200" dirty="0">
                <a:solidFill>
                  <a:prstClr val="black"/>
                </a:solidFill>
                <a:latin typeface="Courier New" pitchFamily="49" charset="0"/>
                <a:cs typeface="Courier New" pitchFamily="49" charset="0"/>
              </a:rPr>
              <a:t>cgccgg…-5’</a:t>
            </a:r>
          </a:p>
          <a:p>
            <a:endParaRPr lang="en-US" sz="2200" dirty="0">
              <a:solidFill>
                <a:prstClr val="black"/>
              </a:solidFill>
              <a:latin typeface="Courier New" pitchFamily="49" charset="0"/>
              <a:cs typeface="Courier New" pitchFamily="49" charset="0"/>
            </a:endParaRPr>
          </a:p>
        </p:txBody>
      </p:sp>
      <p:sp>
        <p:nvSpPr>
          <p:cNvPr id="12" name="Rectangle 11"/>
          <p:cNvSpPr/>
          <p:nvPr/>
        </p:nvSpPr>
        <p:spPr>
          <a:xfrm>
            <a:off x="1981200" y="5943600"/>
            <a:ext cx="4247978" cy="1107996"/>
          </a:xfrm>
          <a:prstGeom prst="rect">
            <a:avLst/>
          </a:prstGeom>
        </p:spPr>
        <p:txBody>
          <a:bodyPr wrap="none">
            <a:spAutoFit/>
          </a:bodyPr>
          <a:lstStyle/>
          <a:p>
            <a:r>
              <a:rPr lang="en-US" sz="2200" dirty="0">
                <a:solidFill>
                  <a:prstClr val="black"/>
                </a:solidFill>
                <a:latin typeface="Courier New" pitchFamily="49" charset="0"/>
                <a:cs typeface="Courier New" pitchFamily="49" charset="0"/>
              </a:rPr>
              <a:t>5’-…</a:t>
            </a:r>
            <a:r>
              <a:rPr lang="en-US" sz="2200" dirty="0" err="1">
                <a:solidFill>
                  <a:prstClr val="black"/>
                </a:solidFill>
                <a:latin typeface="Courier New" pitchFamily="49" charset="0"/>
                <a:cs typeface="Courier New" pitchFamily="49" charset="0"/>
              </a:rPr>
              <a:t>gatttctg</a:t>
            </a:r>
            <a:r>
              <a:rPr lang="en-US" sz="2200" dirty="0" err="1">
                <a:solidFill>
                  <a:srgbClr val="4F81BD"/>
                </a:solidFill>
                <a:latin typeface="Courier New" pitchFamily="49" charset="0"/>
                <a:cs typeface="Courier New" pitchFamily="49" charset="0"/>
              </a:rPr>
              <a:t>GC</a:t>
            </a:r>
            <a:r>
              <a:rPr lang="en-US" sz="2200" dirty="0" err="1">
                <a:solidFill>
                  <a:prstClr val="black"/>
                </a:solidFill>
                <a:latin typeface="Courier New" pitchFamily="49" charset="0"/>
                <a:cs typeface="Courier New" pitchFamily="49" charset="0"/>
              </a:rPr>
              <a:t>gcggcc</a:t>
            </a:r>
            <a:r>
              <a:rPr lang="en-US" sz="2200" dirty="0">
                <a:solidFill>
                  <a:prstClr val="black"/>
                </a:solidFill>
                <a:latin typeface="Courier New" pitchFamily="49" charset="0"/>
                <a:cs typeface="Courier New" pitchFamily="49" charset="0"/>
              </a:rPr>
              <a:t>…-3’</a:t>
            </a:r>
          </a:p>
          <a:p>
            <a:r>
              <a:rPr lang="en-US" sz="2200" dirty="0">
                <a:solidFill>
                  <a:prstClr val="black"/>
                </a:solidFill>
                <a:latin typeface="Courier New" pitchFamily="49" charset="0"/>
                <a:cs typeface="Courier New" pitchFamily="49" charset="0"/>
              </a:rPr>
              <a:t>3’-…</a:t>
            </a:r>
            <a:r>
              <a:rPr lang="en-US" sz="2200" dirty="0" err="1">
                <a:solidFill>
                  <a:prstClr val="black"/>
                </a:solidFill>
                <a:latin typeface="Courier New" pitchFamily="49" charset="0"/>
                <a:cs typeface="Courier New" pitchFamily="49" charset="0"/>
              </a:rPr>
              <a:t>ctaaagac</a:t>
            </a:r>
            <a:r>
              <a:rPr lang="en-US" sz="2200" dirty="0" err="1">
                <a:solidFill>
                  <a:srgbClr val="4F81BD"/>
                </a:solidFill>
                <a:latin typeface="Courier New" pitchFamily="49" charset="0"/>
                <a:cs typeface="Courier New" pitchFamily="49" charset="0"/>
              </a:rPr>
              <a:t>CG</a:t>
            </a:r>
            <a:r>
              <a:rPr lang="en-US" sz="2200" dirty="0" err="1">
                <a:solidFill>
                  <a:prstClr val="black"/>
                </a:solidFill>
                <a:latin typeface="Courier New" pitchFamily="49" charset="0"/>
                <a:cs typeface="Courier New" pitchFamily="49" charset="0"/>
              </a:rPr>
              <a:t>cgccgg</a:t>
            </a:r>
            <a:r>
              <a:rPr lang="en-US" sz="2200" dirty="0">
                <a:solidFill>
                  <a:prstClr val="black"/>
                </a:solidFill>
                <a:latin typeface="Courier New" pitchFamily="49" charset="0"/>
                <a:cs typeface="Courier New" pitchFamily="49" charset="0"/>
              </a:rPr>
              <a:t>…-5’</a:t>
            </a:r>
          </a:p>
          <a:p>
            <a:endParaRPr lang="en-US" sz="2200" dirty="0">
              <a:solidFill>
                <a:prstClr val="black"/>
              </a:solidFill>
              <a:latin typeface="Courier New" pitchFamily="49" charset="0"/>
              <a:cs typeface="Courier New" pitchFamily="49" charset="0"/>
            </a:endParaRPr>
          </a:p>
        </p:txBody>
      </p:sp>
      <p:cxnSp>
        <p:nvCxnSpPr>
          <p:cNvPr id="14" name="Straight Arrow Connector 13"/>
          <p:cNvCxnSpPr/>
          <p:nvPr/>
        </p:nvCxnSpPr>
        <p:spPr>
          <a:xfrm>
            <a:off x="4495800" y="3505200"/>
            <a:ext cx="0" cy="304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a:off x="4495800" y="4572000"/>
            <a:ext cx="0" cy="304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4495800" y="5715000"/>
            <a:ext cx="0" cy="304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572000" y="3429000"/>
            <a:ext cx="700207" cy="369332"/>
          </a:xfrm>
          <a:prstGeom prst="rect">
            <a:avLst/>
          </a:prstGeom>
        </p:spPr>
        <p:txBody>
          <a:bodyPr wrap="none">
            <a:spAutoFit/>
          </a:bodyPr>
          <a:lstStyle/>
          <a:p>
            <a:r>
              <a:rPr lang="en-US" dirty="0" err="1">
                <a:solidFill>
                  <a:prstClr val="black"/>
                </a:solidFill>
                <a:latin typeface="Calibri"/>
                <a:cs typeface="Calibri"/>
              </a:rPr>
              <a:t>EcoRI</a:t>
            </a:r>
            <a:endParaRPr lang="en-US" dirty="0">
              <a:solidFill>
                <a:prstClr val="black"/>
              </a:solidFill>
              <a:latin typeface="Calibri"/>
              <a:cs typeface="Calibri"/>
            </a:endParaRPr>
          </a:p>
        </p:txBody>
      </p:sp>
      <p:sp>
        <p:nvSpPr>
          <p:cNvPr id="18" name="Rectangle 17"/>
          <p:cNvSpPr/>
          <p:nvPr/>
        </p:nvSpPr>
        <p:spPr>
          <a:xfrm>
            <a:off x="4572000" y="4495800"/>
            <a:ext cx="2161281" cy="369332"/>
          </a:xfrm>
          <a:prstGeom prst="rect">
            <a:avLst/>
          </a:prstGeom>
        </p:spPr>
        <p:txBody>
          <a:bodyPr wrap="none">
            <a:spAutoFit/>
          </a:bodyPr>
          <a:lstStyle/>
          <a:p>
            <a:r>
              <a:rPr lang="en-US" dirty="0" err="1">
                <a:solidFill>
                  <a:prstClr val="black"/>
                </a:solidFill>
                <a:latin typeface="Calibri"/>
                <a:cs typeface="Calibri"/>
              </a:rPr>
              <a:t>Mung</a:t>
            </a:r>
            <a:r>
              <a:rPr lang="en-US" dirty="0">
                <a:solidFill>
                  <a:prstClr val="black"/>
                </a:solidFill>
                <a:latin typeface="Calibri"/>
                <a:cs typeface="Calibri"/>
              </a:rPr>
              <a:t> Bean Nuclease</a:t>
            </a:r>
          </a:p>
        </p:txBody>
      </p:sp>
      <p:sp>
        <p:nvSpPr>
          <p:cNvPr id="19" name="Rectangle 18"/>
          <p:cNvSpPr/>
          <p:nvPr/>
        </p:nvSpPr>
        <p:spPr>
          <a:xfrm>
            <a:off x="4572000" y="5638800"/>
            <a:ext cx="1517475" cy="369332"/>
          </a:xfrm>
          <a:prstGeom prst="rect">
            <a:avLst/>
          </a:prstGeom>
        </p:spPr>
        <p:txBody>
          <a:bodyPr wrap="none">
            <a:spAutoFit/>
          </a:bodyPr>
          <a:lstStyle/>
          <a:p>
            <a:r>
              <a:rPr lang="en-US" dirty="0">
                <a:solidFill>
                  <a:prstClr val="black"/>
                </a:solidFill>
                <a:latin typeface="Calibri"/>
                <a:cs typeface="Calibri"/>
              </a:rPr>
              <a:t>T4 DNA Ligase</a:t>
            </a:r>
          </a:p>
        </p:txBody>
      </p:sp>
    </p:spTree>
    <p:extLst>
      <p:ext uri="{BB962C8B-B14F-4D97-AF65-F5344CB8AC3E}">
        <p14:creationId xmlns:p14="http://schemas.microsoft.com/office/powerpoint/2010/main" val="2527303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7" grpId="0"/>
      <p:bldP spid="18" grpId="0"/>
      <p:bldP spid="1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i="1" dirty="0">
                <a:solidFill>
                  <a:srgbClr val="1F497D">
                    <a:lumMod val="20000"/>
                    <a:lumOff val="80000"/>
                  </a:srgbClr>
                </a:solidFill>
                <a:latin typeface="Rockwell Extra Bold" pitchFamily="18" charset="0"/>
                <a:cs typeface="Arial" pitchFamily="34" charset="0"/>
              </a:rPr>
              <a:t>E. coli </a:t>
            </a:r>
            <a:r>
              <a:rPr lang="en-US" sz="3200" dirty="0">
                <a:solidFill>
                  <a:srgbClr val="1F497D">
                    <a:lumMod val="20000"/>
                    <a:lumOff val="80000"/>
                  </a:srgbClr>
                </a:solidFill>
                <a:latin typeface="Rockwell Extra Bold" pitchFamily="18" charset="0"/>
                <a:cs typeface="Arial" pitchFamily="34" charset="0"/>
              </a:rPr>
              <a:t>DNA </a:t>
            </a:r>
            <a:r>
              <a:rPr lang="en-US" sz="3200" dirty="0" err="1">
                <a:solidFill>
                  <a:srgbClr val="1F497D">
                    <a:lumMod val="20000"/>
                    <a:lumOff val="80000"/>
                  </a:srgbClr>
                </a:solidFill>
                <a:latin typeface="Rockwell Extra Bold" pitchFamily="18" charset="0"/>
                <a:cs typeface="Arial" pitchFamily="34" charset="0"/>
              </a:rPr>
              <a:t>Ligase</a:t>
            </a:r>
            <a:endParaRPr lang="en-US" sz="3200" b="1" dirty="0">
              <a:solidFill>
                <a:srgbClr val="1F497D">
                  <a:lumMod val="20000"/>
                  <a:lumOff val="80000"/>
                </a:srgbClr>
              </a:solidFill>
              <a:latin typeface="Rockwell Extra Bold" pitchFamily="18" charset="0"/>
              <a:cs typeface="Arial" pitchFamily="34" charset="0"/>
            </a:endParaRPr>
          </a:p>
        </p:txBody>
      </p:sp>
      <p:sp>
        <p:nvSpPr>
          <p:cNvPr id="17" name="Rectangle 16"/>
          <p:cNvSpPr/>
          <p:nvPr/>
        </p:nvSpPr>
        <p:spPr>
          <a:xfrm>
            <a:off x="304800" y="1847671"/>
            <a:ext cx="8077200" cy="1569660"/>
          </a:xfrm>
          <a:prstGeom prst="rect">
            <a:avLst/>
          </a:prstGeom>
        </p:spPr>
        <p:txBody>
          <a:bodyPr wrap="square">
            <a:spAutoFit/>
          </a:bodyPr>
          <a:lstStyle/>
          <a:p>
            <a:pPr marL="457200" indent="-457200">
              <a:buFont typeface="Wingdings" pitchFamily="2" charset="2"/>
              <a:buChar char="§"/>
            </a:pPr>
            <a:r>
              <a:rPr lang="en-US" sz="2400" dirty="0" err="1">
                <a:solidFill>
                  <a:srgbClr val="1F497D">
                    <a:lumMod val="20000"/>
                    <a:lumOff val="80000"/>
                  </a:srgbClr>
                </a:solidFill>
                <a:latin typeface="Calibri" pitchFamily="34" charset="0"/>
              </a:rPr>
              <a:t>Ligase</a:t>
            </a:r>
            <a:r>
              <a:rPr lang="en-US" sz="2400" dirty="0">
                <a:solidFill>
                  <a:srgbClr val="1F497D">
                    <a:lumMod val="20000"/>
                    <a:lumOff val="80000"/>
                  </a:srgbClr>
                </a:solidFill>
                <a:latin typeface="Calibri" pitchFamily="34" charset="0"/>
              </a:rPr>
              <a:t> involved in repair/replication in all cells</a:t>
            </a:r>
          </a:p>
          <a:p>
            <a:pPr marL="457200" indent="-457200">
              <a:buFont typeface="Wingdings" pitchFamily="2" charset="2"/>
              <a:buChar char="§"/>
            </a:pPr>
            <a:r>
              <a:rPr lang="en-US" sz="2400" dirty="0">
                <a:solidFill>
                  <a:srgbClr val="1F497D">
                    <a:lumMod val="20000"/>
                    <a:lumOff val="80000"/>
                  </a:srgbClr>
                </a:solidFill>
                <a:latin typeface="Calibri" pitchFamily="34" charset="0"/>
              </a:rPr>
              <a:t>Forms bonds on nicks only</a:t>
            </a:r>
          </a:p>
          <a:p>
            <a:pPr marL="457200" indent="-457200">
              <a:buFont typeface="Wingdings" pitchFamily="2" charset="2"/>
              <a:buChar char="§"/>
            </a:pPr>
            <a:r>
              <a:rPr lang="en-US" sz="2400" dirty="0">
                <a:solidFill>
                  <a:srgbClr val="1F497D">
                    <a:lumMod val="20000"/>
                    <a:lumOff val="80000"/>
                  </a:srgbClr>
                </a:solidFill>
                <a:latin typeface="Calibri" pitchFamily="34" charset="0"/>
              </a:rPr>
              <a:t>Requires a 5’ phosphate</a:t>
            </a:r>
          </a:p>
          <a:p>
            <a:pPr marL="457200" indent="-457200">
              <a:buFont typeface="Wingdings" pitchFamily="2" charset="2"/>
              <a:buChar char="§"/>
            </a:pPr>
            <a:r>
              <a:rPr lang="en-US" sz="2400" dirty="0">
                <a:solidFill>
                  <a:srgbClr val="1F497D">
                    <a:lumMod val="20000"/>
                    <a:lumOff val="80000"/>
                  </a:srgbClr>
                </a:solidFill>
                <a:latin typeface="Calibri" pitchFamily="34" charset="0"/>
              </a:rPr>
              <a:t>Can’t be used to join non-annealed DNA</a:t>
            </a:r>
          </a:p>
        </p:txBody>
      </p:sp>
      <p:cxnSp>
        <p:nvCxnSpPr>
          <p:cNvPr id="9" name="Straight Connector 8"/>
          <p:cNvCxnSpPr/>
          <p:nvPr/>
        </p:nvCxnSpPr>
        <p:spPr>
          <a:xfrm>
            <a:off x="1066800" y="4953000"/>
            <a:ext cx="69342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16200000" flipH="1">
            <a:off x="1066800" y="49530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flipV="1">
            <a:off x="5334001" y="4724398"/>
            <a:ext cx="2667001" cy="1"/>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flipH="1">
            <a:off x="7696201" y="4419599"/>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10800000" flipV="1">
            <a:off x="1066800" y="4724397"/>
            <a:ext cx="4267200" cy="2"/>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5400000" flipH="1">
            <a:off x="5029198" y="4419600"/>
            <a:ext cx="304800" cy="304800"/>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4" cstate="print"/>
          <a:srcRect/>
          <a:stretch>
            <a:fillRect/>
          </a:stretch>
        </p:blipFill>
        <p:spPr bwMode="auto">
          <a:xfrm>
            <a:off x="0" y="0"/>
            <a:ext cx="9535618" cy="7022206"/>
          </a:xfrm>
          <a:prstGeom prst="rect">
            <a:avLst/>
          </a:prstGeom>
          <a:noFill/>
          <a:ln w="9525">
            <a:noFill/>
            <a:miter lim="800000"/>
            <a:headEnd/>
            <a:tailEnd/>
          </a:ln>
          <a:effectLst/>
        </p:spPr>
      </p:pic>
      <p:sp>
        <p:nvSpPr>
          <p:cNvPr id="3" name="Rectangle 2"/>
          <p:cNvSpPr/>
          <p:nvPr/>
        </p:nvSpPr>
        <p:spPr>
          <a:xfrm>
            <a:off x="1981200" y="40386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2362200" y="63246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5943600" y="35052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638800" y="10668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029200" y="26670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p:cNvSpPr/>
          <p:nvPr/>
        </p:nvSpPr>
        <p:spPr>
          <a:xfrm>
            <a:off x="838200" y="3657600"/>
            <a:ext cx="685800" cy="914400"/>
          </a:xfrm>
          <a:prstGeom prst="ellipse">
            <a:avLst/>
          </a:prstGeom>
          <a:solidFill>
            <a:srgbClr val="00B050">
              <a:alpha val="28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257800" y="6096000"/>
            <a:ext cx="2234080" cy="523220"/>
          </a:xfrm>
          <a:prstGeom prst="rect">
            <a:avLst/>
          </a:prstGeom>
        </p:spPr>
        <p:txBody>
          <a:bodyPr wrap="none">
            <a:spAutoFit/>
          </a:bodyPr>
          <a:lstStyle/>
          <a:p>
            <a:pPr lvl="0"/>
            <a:r>
              <a:rPr lang="en-US" sz="2800" dirty="0"/>
              <a:t>by T4 Ligase</a:t>
            </a:r>
          </a:p>
        </p:txBody>
      </p:sp>
      <p:pic>
        <p:nvPicPr>
          <p:cNvPr id="10" name="Picture 9" descr="ponder.png"/>
          <p:cNvPicPr>
            <a:picLocks noChangeAspect="1"/>
          </p:cNvPicPr>
          <p:nvPr/>
        </p:nvPicPr>
        <p:blipFill>
          <a:blip r:embed="rId5" cstate="print"/>
          <a:stretch>
            <a:fillRect/>
          </a:stretch>
        </p:blipFill>
        <p:spPr>
          <a:xfrm>
            <a:off x="221048" y="95107"/>
            <a:ext cx="573880" cy="824953"/>
          </a:xfrm>
          <a:prstGeom prst="rect">
            <a:avLst/>
          </a:prstGeom>
        </p:spPr>
      </p:pic>
      <p:sp>
        <p:nvSpPr>
          <p:cNvPr id="11" name="Rectangle 10"/>
          <p:cNvSpPr/>
          <p:nvPr/>
        </p:nvSpPr>
        <p:spPr>
          <a:xfrm>
            <a:off x="938173" y="273729"/>
            <a:ext cx="4800413" cy="646331"/>
          </a:xfrm>
          <a:prstGeom prst="rect">
            <a:avLst/>
          </a:prstGeom>
        </p:spPr>
        <p:txBody>
          <a:bodyPr wrap="none">
            <a:spAutoFit/>
          </a:bodyPr>
          <a:lstStyle/>
          <a:p>
            <a:pPr fontAlgn="auto">
              <a:spcBef>
                <a:spcPts val="0"/>
              </a:spcBef>
              <a:spcAft>
                <a:spcPts val="0"/>
              </a:spcAft>
            </a:pPr>
            <a:r>
              <a:rPr lang="en-US" sz="3600" dirty="0">
                <a:solidFill>
                  <a:prstClr val="black"/>
                </a:solidFill>
                <a:latin typeface="Calibri"/>
              </a:rPr>
              <a:t>Which bond is formed</a:t>
            </a:r>
            <a:r>
              <a:rPr lang="mr-IN" sz="3600" dirty="0">
                <a:solidFill>
                  <a:prstClr val="black"/>
                </a:solidFill>
                <a:latin typeface="Calibri"/>
              </a:rPr>
              <a:t>…</a:t>
            </a:r>
            <a:endParaRPr lang="en-US" sz="3600" dirty="0">
              <a:solidFill>
                <a:prstClr val="black"/>
              </a:solidFill>
              <a:latin typeface="Calibri"/>
            </a:endParaRPr>
          </a:p>
        </p:txBody>
      </p:sp>
    </p:spTree>
    <p:custDataLst>
      <p:tags r:id="rId1"/>
    </p:custDataLst>
    <p:extLst>
      <p:ext uri="{BB962C8B-B14F-4D97-AF65-F5344CB8AC3E}">
        <p14:creationId xmlns:p14="http://schemas.microsoft.com/office/powerpoint/2010/main" val="1253143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err="1">
                <a:solidFill>
                  <a:srgbClr val="1F497D">
                    <a:lumMod val="20000"/>
                    <a:lumOff val="80000"/>
                  </a:srgbClr>
                </a:solidFill>
                <a:latin typeface="Rockwell Extra Bold" pitchFamily="18" charset="0"/>
                <a:cs typeface="Arial" pitchFamily="34" charset="0"/>
              </a:rPr>
              <a:t>Taq</a:t>
            </a:r>
            <a:r>
              <a:rPr lang="en-US" sz="3200" dirty="0">
                <a:solidFill>
                  <a:srgbClr val="1F497D">
                    <a:lumMod val="20000"/>
                    <a:lumOff val="80000"/>
                  </a:srgbClr>
                </a:solidFill>
                <a:latin typeface="Rockwell Extra Bold" pitchFamily="18" charset="0"/>
                <a:cs typeface="Arial" pitchFamily="34" charset="0"/>
              </a:rPr>
              <a:t> DNA </a:t>
            </a:r>
            <a:r>
              <a:rPr lang="en-US" sz="3200" dirty="0" err="1">
                <a:solidFill>
                  <a:srgbClr val="1F497D">
                    <a:lumMod val="20000"/>
                    <a:lumOff val="80000"/>
                  </a:srgbClr>
                </a:solidFill>
                <a:latin typeface="Rockwell Extra Bold" pitchFamily="18" charset="0"/>
                <a:cs typeface="Arial" pitchFamily="34" charset="0"/>
              </a:rPr>
              <a:t>Ligase</a:t>
            </a:r>
            <a:endParaRPr lang="en-US" sz="3200" b="1" dirty="0">
              <a:solidFill>
                <a:srgbClr val="1F497D">
                  <a:lumMod val="20000"/>
                  <a:lumOff val="80000"/>
                </a:srgbClr>
              </a:solidFill>
              <a:latin typeface="Rockwell Extra Bold" pitchFamily="18" charset="0"/>
              <a:cs typeface="Arial" pitchFamily="34" charset="0"/>
            </a:endParaRPr>
          </a:p>
        </p:txBody>
      </p:sp>
      <p:sp>
        <p:nvSpPr>
          <p:cNvPr id="17" name="Rectangle 16"/>
          <p:cNvSpPr/>
          <p:nvPr/>
        </p:nvSpPr>
        <p:spPr>
          <a:xfrm>
            <a:off x="685800" y="2076271"/>
            <a:ext cx="8077200" cy="3416320"/>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From </a:t>
            </a:r>
            <a:r>
              <a:rPr lang="en-US" sz="2400" i="1" dirty="0" err="1">
                <a:solidFill>
                  <a:srgbClr val="1F497D">
                    <a:lumMod val="20000"/>
                    <a:lumOff val="80000"/>
                  </a:srgbClr>
                </a:solidFill>
                <a:latin typeface="Calibri" pitchFamily="34" charset="0"/>
              </a:rPr>
              <a:t>Thermus</a:t>
            </a:r>
            <a:r>
              <a:rPr lang="en-US" sz="2400" i="1" dirty="0">
                <a:solidFill>
                  <a:srgbClr val="1F497D">
                    <a:lumMod val="20000"/>
                    <a:lumOff val="80000"/>
                  </a:srgbClr>
                </a:solidFill>
                <a:latin typeface="Calibri" pitchFamily="34" charset="0"/>
              </a:rPr>
              <a:t> </a:t>
            </a:r>
            <a:r>
              <a:rPr lang="en-US" sz="2400" i="1" dirty="0" err="1">
                <a:solidFill>
                  <a:srgbClr val="1F497D">
                    <a:lumMod val="20000"/>
                    <a:lumOff val="80000"/>
                  </a:srgbClr>
                </a:solidFill>
                <a:latin typeface="Calibri" pitchFamily="34" charset="0"/>
              </a:rPr>
              <a:t>aquaticus</a:t>
            </a:r>
            <a:r>
              <a:rPr lang="en-US" sz="2400" i="1" dirty="0">
                <a:solidFill>
                  <a:srgbClr val="1F497D">
                    <a:lumMod val="20000"/>
                    <a:lumOff val="80000"/>
                  </a:srgbClr>
                </a:solidFill>
                <a:latin typeface="Calibri" pitchFamily="34" charset="0"/>
              </a:rPr>
              <a:t> </a:t>
            </a:r>
          </a:p>
          <a:p>
            <a:pPr marL="457200" indent="-457200">
              <a:buFont typeface="Wingdings" pitchFamily="2" charset="2"/>
              <a:buChar char="§"/>
            </a:pPr>
            <a:r>
              <a:rPr lang="en-US" sz="2400" dirty="0">
                <a:solidFill>
                  <a:srgbClr val="1F497D">
                    <a:lumMod val="20000"/>
                    <a:lumOff val="80000"/>
                  </a:srgbClr>
                </a:solidFill>
                <a:latin typeface="Calibri" pitchFamily="34" charset="0"/>
              </a:rPr>
              <a:t>Biochemically the same as </a:t>
            </a:r>
            <a:r>
              <a:rPr lang="en-US" sz="2400" i="1" dirty="0">
                <a:solidFill>
                  <a:srgbClr val="1F497D">
                    <a:lumMod val="20000"/>
                    <a:lumOff val="80000"/>
                  </a:srgbClr>
                </a:solidFill>
                <a:latin typeface="Calibri" pitchFamily="34" charset="0"/>
              </a:rPr>
              <a:t>E. coli </a:t>
            </a:r>
            <a:r>
              <a:rPr lang="en-US" sz="2400" dirty="0">
                <a:solidFill>
                  <a:srgbClr val="1F497D">
                    <a:lumMod val="20000"/>
                    <a:lumOff val="80000"/>
                  </a:srgbClr>
                </a:solidFill>
                <a:latin typeface="Calibri" pitchFamily="34" charset="0"/>
              </a:rPr>
              <a:t>DNA </a:t>
            </a:r>
            <a:r>
              <a:rPr lang="en-US" sz="2400" dirty="0" err="1">
                <a:solidFill>
                  <a:srgbClr val="1F497D">
                    <a:lumMod val="20000"/>
                    <a:lumOff val="80000"/>
                  </a:srgbClr>
                </a:solidFill>
                <a:latin typeface="Calibri" pitchFamily="34" charset="0"/>
              </a:rPr>
              <a:t>ligase</a:t>
            </a: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r>
              <a:rPr lang="en-US" sz="2400" dirty="0">
                <a:solidFill>
                  <a:srgbClr val="1F497D">
                    <a:lumMod val="20000"/>
                    <a:lumOff val="80000"/>
                  </a:srgbClr>
                </a:solidFill>
                <a:latin typeface="Calibri" pitchFamily="34" charset="0"/>
              </a:rPr>
              <a:t>But </a:t>
            </a:r>
            <a:r>
              <a:rPr lang="en-US" sz="2400" dirty="0" err="1">
                <a:solidFill>
                  <a:srgbClr val="1F497D">
                    <a:lumMod val="20000"/>
                    <a:lumOff val="80000"/>
                  </a:srgbClr>
                </a:solidFill>
                <a:latin typeface="Calibri" pitchFamily="34" charset="0"/>
              </a:rPr>
              <a:t>thermostable</a:t>
            </a: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r>
              <a:rPr lang="en-US" sz="2400" dirty="0">
                <a:solidFill>
                  <a:srgbClr val="1F497D">
                    <a:lumMod val="20000"/>
                    <a:lumOff val="80000"/>
                  </a:srgbClr>
                </a:solidFill>
                <a:latin typeface="Calibri" pitchFamily="34" charset="0"/>
              </a:rPr>
              <a:t>Used in the Ligase Chain Reaction (LCR)</a:t>
            </a:r>
          </a:p>
          <a:p>
            <a:pPr marL="914400" lvl="1" indent="-457200">
              <a:buFont typeface="Wingdings" pitchFamily="2" charset="2"/>
              <a:buChar char="§"/>
            </a:pPr>
            <a:r>
              <a:rPr lang="en-US" sz="2400" dirty="0">
                <a:solidFill>
                  <a:srgbClr val="1F497D">
                    <a:lumMod val="20000"/>
                    <a:lumOff val="80000"/>
                  </a:srgbClr>
                </a:solidFill>
                <a:latin typeface="Calibri" pitchFamily="34" charset="0"/>
              </a:rPr>
              <a:t>Similar temperature program to PCR</a:t>
            </a:r>
          </a:p>
          <a:p>
            <a:pPr marL="914400" lvl="1" indent="-457200">
              <a:buFont typeface="Wingdings" pitchFamily="2" charset="2"/>
              <a:buChar char="§"/>
            </a:pPr>
            <a:r>
              <a:rPr lang="en-US" sz="2400" dirty="0">
                <a:solidFill>
                  <a:srgbClr val="1F497D">
                    <a:lumMod val="20000"/>
                    <a:lumOff val="80000"/>
                  </a:srgbClr>
                </a:solidFill>
                <a:latin typeface="Calibri" pitchFamily="34" charset="0"/>
              </a:rPr>
              <a:t>Used to detect polymorphisms</a:t>
            </a:r>
          </a:p>
          <a:p>
            <a:pPr lvl="1" indent="-457200">
              <a:buFont typeface="Wingdings" pitchFamily="2" charset="2"/>
              <a:buChar char="§"/>
            </a:pPr>
            <a:r>
              <a:rPr lang="en-US" sz="2400" dirty="0">
                <a:solidFill>
                  <a:srgbClr val="1F497D">
                    <a:lumMod val="20000"/>
                    <a:lumOff val="80000"/>
                  </a:srgbClr>
                </a:solidFill>
                <a:latin typeface="Calibri" pitchFamily="34" charset="0"/>
              </a:rPr>
              <a:t>Used in some protocols of gene synthesis</a:t>
            </a:r>
          </a:p>
          <a:p>
            <a:pPr marL="457200" indent="-457200">
              <a:buFont typeface="Wingdings" pitchFamily="2" charset="2"/>
              <a:buChar char="§"/>
            </a:pPr>
            <a:r>
              <a:rPr lang="en-US" sz="2400" dirty="0">
                <a:solidFill>
                  <a:srgbClr val="1F497D">
                    <a:lumMod val="20000"/>
                    <a:lumOff val="80000"/>
                  </a:srgbClr>
                </a:solidFill>
                <a:latin typeface="Calibri" pitchFamily="34" charset="0"/>
              </a:rPr>
              <a:t>Used in the Gibson isothermal assembly reaction</a:t>
            </a:r>
          </a:p>
          <a:p>
            <a:pPr marL="914400" lvl="1" indent="-457200">
              <a:buFont typeface="Wingdings" pitchFamily="2" charset="2"/>
              <a:buChar char="§"/>
            </a:pPr>
            <a:endParaRPr lang="en-US" sz="2400" dirty="0">
              <a:solidFill>
                <a:srgbClr val="1F497D">
                  <a:lumMod val="20000"/>
                  <a:lumOff val="80000"/>
                </a:srgbClr>
              </a:solidFill>
              <a:latin typeface="Calibri"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1349514"/>
            <a:ext cx="9144000" cy="707886"/>
          </a:xfrm>
          <a:prstGeom prst="rect">
            <a:avLst/>
          </a:prstGeom>
          <a:noFill/>
          <a:ln w="9525">
            <a:noFill/>
            <a:miter lim="800000"/>
            <a:headEnd/>
            <a:tailEnd/>
          </a:ln>
        </p:spPr>
        <p:txBody>
          <a:bodyPr wrap="square">
            <a:spAutoFit/>
          </a:bodyPr>
          <a:lstStyle/>
          <a:p>
            <a:pPr algn="ctr"/>
            <a:r>
              <a:rPr lang="en-US" sz="4000" dirty="0" err="1">
                <a:solidFill>
                  <a:schemeClr val="bg1"/>
                </a:solidFill>
                <a:latin typeface="Rockwell Extra Bold" pitchFamily="18" charset="0"/>
                <a:cs typeface="Arial" pitchFamily="34" charset="0"/>
              </a:rPr>
              <a:t>Methyltransferases</a:t>
            </a:r>
            <a:r>
              <a:rPr lang="en-US" sz="4000" dirty="0">
                <a:solidFill>
                  <a:schemeClr val="bg1"/>
                </a:solidFill>
                <a:latin typeface="Rockwell Extra Bold" pitchFamily="18" charset="0"/>
                <a:cs typeface="Arial" pitchFamily="34" charset="0"/>
              </a:rPr>
              <a:t> </a:t>
            </a:r>
          </a:p>
        </p:txBody>
      </p:sp>
      <p:sp>
        <p:nvSpPr>
          <p:cNvPr id="7" name="Rectangle 5"/>
          <p:cNvSpPr>
            <a:spLocks noChangeArrowheads="1"/>
          </p:cNvSpPr>
          <p:nvPr/>
        </p:nvSpPr>
        <p:spPr bwMode="auto">
          <a:xfrm>
            <a:off x="2819400" y="2362200"/>
            <a:ext cx="5791200" cy="461665"/>
          </a:xfrm>
          <a:prstGeom prst="rect">
            <a:avLst/>
          </a:prstGeom>
          <a:noFill/>
          <a:ln w="9525">
            <a:noFill/>
            <a:miter lim="800000"/>
            <a:headEnd/>
            <a:tailEnd/>
          </a:ln>
        </p:spPr>
        <p:txBody>
          <a:bodyPr wrap="square">
            <a:spAutoFit/>
          </a:bodyPr>
          <a:lstStyle/>
          <a:p>
            <a:r>
              <a:rPr lang="en-US" sz="2400" dirty="0">
                <a:solidFill>
                  <a:schemeClr val="bg1"/>
                </a:solidFill>
                <a:latin typeface="Calibri" pitchFamily="34" charset="0"/>
              </a:rPr>
              <a:t>Enzymes that add methyl groups to DNA</a:t>
            </a:r>
          </a:p>
        </p:txBody>
      </p:sp>
      <p:pic>
        <p:nvPicPr>
          <p:cNvPr id="4" name="Picture 3" descr="adenine methylation.png"/>
          <p:cNvPicPr>
            <a:picLocks noChangeAspect="1"/>
          </p:cNvPicPr>
          <p:nvPr/>
        </p:nvPicPr>
        <p:blipFill>
          <a:blip r:embed="rId4" cstate="print"/>
          <a:stretch>
            <a:fillRect/>
          </a:stretch>
        </p:blipFill>
        <p:spPr>
          <a:xfrm>
            <a:off x="152400" y="3352800"/>
            <a:ext cx="4638891" cy="2362200"/>
          </a:xfrm>
          <a:prstGeom prst="rect">
            <a:avLst/>
          </a:prstGeom>
        </p:spPr>
      </p:pic>
      <p:cxnSp>
        <p:nvCxnSpPr>
          <p:cNvPr id="5" name="Straight Arrow Connector 4"/>
          <p:cNvCxnSpPr/>
          <p:nvPr/>
        </p:nvCxnSpPr>
        <p:spPr>
          <a:xfrm>
            <a:off x="2514600" y="4114800"/>
            <a:ext cx="457200" cy="1588"/>
          </a:xfrm>
          <a:prstGeom prst="straightConnector1">
            <a:avLst/>
          </a:prstGeom>
          <a:ln w="38100">
            <a:solidFill>
              <a:schemeClr val="tx2">
                <a:lumMod val="20000"/>
                <a:lumOff val="80000"/>
              </a:schemeClr>
            </a:solidFill>
            <a:tailEnd type="arrow"/>
          </a:ln>
        </p:spPr>
        <p:style>
          <a:lnRef idx="1">
            <a:schemeClr val="accent1"/>
          </a:lnRef>
          <a:fillRef idx="0">
            <a:schemeClr val="accent1"/>
          </a:fillRef>
          <a:effectRef idx="0">
            <a:schemeClr val="accent1"/>
          </a:effectRef>
          <a:fontRef idx="minor">
            <a:schemeClr val="tx1"/>
          </a:fontRef>
        </p:style>
      </p:cxnSp>
      <p:pic>
        <p:nvPicPr>
          <p:cNvPr id="6" name="Picture 5" descr="cytosine methylation.png"/>
          <p:cNvPicPr>
            <a:picLocks noChangeAspect="1"/>
          </p:cNvPicPr>
          <p:nvPr/>
        </p:nvPicPr>
        <p:blipFill>
          <a:blip r:embed="rId5" cstate="print"/>
          <a:stretch>
            <a:fillRect/>
          </a:stretch>
        </p:blipFill>
        <p:spPr>
          <a:xfrm>
            <a:off x="4498558" y="3429000"/>
            <a:ext cx="4489250" cy="2286000"/>
          </a:xfrm>
          <a:prstGeom prst="rect">
            <a:avLst/>
          </a:prstGeom>
        </p:spPr>
      </p:pic>
      <p:cxnSp>
        <p:nvCxnSpPr>
          <p:cNvPr id="8" name="Straight Arrow Connector 7"/>
          <p:cNvCxnSpPr/>
          <p:nvPr/>
        </p:nvCxnSpPr>
        <p:spPr>
          <a:xfrm>
            <a:off x="6477000" y="4114800"/>
            <a:ext cx="457200" cy="1588"/>
          </a:xfrm>
          <a:prstGeom prst="straightConnector1">
            <a:avLst/>
          </a:prstGeom>
          <a:ln w="38100">
            <a:solidFill>
              <a:schemeClr val="tx2">
                <a:lumMod val="20000"/>
                <a:lumOff val="80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1371600" y="5562600"/>
            <a:ext cx="3069686" cy="461665"/>
          </a:xfrm>
          <a:prstGeom prst="rect">
            <a:avLst/>
          </a:prstGeom>
        </p:spPr>
        <p:txBody>
          <a:bodyPr wrap="none">
            <a:spAutoFit/>
          </a:bodyPr>
          <a:lstStyle/>
          <a:p>
            <a:r>
              <a:rPr lang="en-US" sz="2400" b="1" baseline="30000" dirty="0" err="1">
                <a:solidFill>
                  <a:schemeClr val="bg1"/>
                </a:solidFill>
              </a:rPr>
              <a:t>m</a:t>
            </a:r>
            <a:r>
              <a:rPr lang="en-US" sz="2400" b="1" dirty="0" err="1">
                <a:solidFill>
                  <a:schemeClr val="bg1"/>
                </a:solidFill>
              </a:rPr>
              <a:t>A</a:t>
            </a:r>
            <a:r>
              <a:rPr lang="en-US" sz="2400" b="1" dirty="0">
                <a:solidFill>
                  <a:schemeClr val="bg1"/>
                </a:solidFill>
              </a:rPr>
              <a:t> = N6 of Adenine</a:t>
            </a:r>
            <a:r>
              <a:rPr lang="en-US" sz="2400" dirty="0">
                <a:solidFill>
                  <a:schemeClr val="bg1"/>
                </a:solidFill>
              </a:rPr>
              <a:t> </a:t>
            </a:r>
            <a:endParaRPr lang="en-US" sz="2400" dirty="0">
              <a:solidFill>
                <a:schemeClr val="bg1"/>
              </a:solidFill>
              <a:latin typeface="Calibri" pitchFamily="34" charset="0"/>
            </a:endParaRPr>
          </a:p>
        </p:txBody>
      </p:sp>
      <p:sp>
        <p:nvSpPr>
          <p:cNvPr id="11" name="Rectangle 10"/>
          <p:cNvSpPr/>
          <p:nvPr/>
        </p:nvSpPr>
        <p:spPr>
          <a:xfrm>
            <a:off x="5236114" y="5562600"/>
            <a:ext cx="3082703" cy="461665"/>
          </a:xfrm>
          <a:prstGeom prst="rect">
            <a:avLst/>
          </a:prstGeom>
        </p:spPr>
        <p:txBody>
          <a:bodyPr wrap="none">
            <a:spAutoFit/>
          </a:bodyPr>
          <a:lstStyle/>
          <a:p>
            <a:r>
              <a:rPr lang="en-US" sz="2400" b="1" baseline="30000" dirty="0" err="1">
                <a:solidFill>
                  <a:schemeClr val="bg1"/>
                </a:solidFill>
              </a:rPr>
              <a:t>m</a:t>
            </a:r>
            <a:r>
              <a:rPr lang="en-US" sz="2400" b="1" dirty="0" err="1">
                <a:solidFill>
                  <a:schemeClr val="bg1"/>
                </a:solidFill>
              </a:rPr>
              <a:t>C</a:t>
            </a:r>
            <a:r>
              <a:rPr lang="en-US" sz="2400" b="1" dirty="0">
                <a:solidFill>
                  <a:schemeClr val="bg1"/>
                </a:solidFill>
              </a:rPr>
              <a:t> = C5 of Cytosine</a:t>
            </a:r>
            <a:endParaRPr lang="en-US" sz="2400" dirty="0">
              <a:solidFill>
                <a:schemeClr val="bg1"/>
              </a:solidFill>
              <a:latin typeface="Calibri" pitchFamily="34" charset="0"/>
            </a:endParaRPr>
          </a:p>
        </p:txBody>
      </p:sp>
      <p:sp>
        <p:nvSpPr>
          <p:cNvPr id="12" name="Rectangle 11"/>
          <p:cNvSpPr/>
          <p:nvPr/>
        </p:nvSpPr>
        <p:spPr>
          <a:xfrm>
            <a:off x="3733800" y="6091535"/>
            <a:ext cx="1963999" cy="461665"/>
          </a:xfrm>
          <a:prstGeom prst="rect">
            <a:avLst/>
          </a:prstGeom>
        </p:spPr>
        <p:txBody>
          <a:bodyPr wrap="none">
            <a:spAutoFit/>
          </a:bodyPr>
          <a:lstStyle/>
          <a:p>
            <a:r>
              <a:rPr lang="en-US" sz="2400" b="1" dirty="0">
                <a:solidFill>
                  <a:schemeClr val="bg1"/>
                </a:solidFill>
              </a:rPr>
              <a:t>N4 Cytosine</a:t>
            </a:r>
          </a:p>
        </p:txBody>
      </p:sp>
    </p:spTree>
  </p:cSld>
  <p:clrMapOvr>
    <a:overrideClrMapping bg1="lt1" tx1="dk1" bg2="lt2" tx2="dk2" accent1="accent1" accent2="accent2" accent3="accent3" accent4="accent4" accent5="accent5" accent6="accent6" hlink="hlink" folHlink="folHlink"/>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Type II Restriction Systems</a:t>
            </a:r>
            <a:endParaRPr lang="en-US" sz="3200" b="1" dirty="0">
              <a:solidFill>
                <a:srgbClr val="1F497D">
                  <a:lumMod val="20000"/>
                  <a:lumOff val="80000"/>
                </a:srgbClr>
              </a:solidFill>
              <a:latin typeface="Rockwell Extra Bold" pitchFamily="18" charset="0"/>
              <a:cs typeface="Arial" pitchFamily="34" charset="0"/>
            </a:endParaRPr>
          </a:p>
        </p:txBody>
      </p:sp>
      <p:sp>
        <p:nvSpPr>
          <p:cNvPr id="13" name="Rectangle 12"/>
          <p:cNvSpPr/>
          <p:nvPr/>
        </p:nvSpPr>
        <p:spPr>
          <a:xfrm>
            <a:off x="304800" y="1447800"/>
            <a:ext cx="8077200" cy="4154984"/>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All type II restriction enzymes have cognate </a:t>
            </a:r>
            <a:r>
              <a:rPr lang="en-US" sz="2400" dirty="0" err="1">
                <a:solidFill>
                  <a:srgbClr val="1F497D">
                    <a:lumMod val="20000"/>
                    <a:lumOff val="80000"/>
                  </a:srgbClr>
                </a:solidFill>
                <a:latin typeface="Calibri" pitchFamily="34" charset="0"/>
              </a:rPr>
              <a:t>methyltransferases</a:t>
            </a: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r>
              <a:rPr lang="en-US" sz="2400" dirty="0" err="1">
                <a:solidFill>
                  <a:srgbClr val="1F497D">
                    <a:lumMod val="20000"/>
                    <a:lumOff val="80000"/>
                  </a:srgbClr>
                </a:solidFill>
                <a:latin typeface="Calibri" pitchFamily="34" charset="0"/>
              </a:rPr>
              <a:t>BamHI</a:t>
            </a:r>
            <a:r>
              <a:rPr lang="en-US" sz="2400" dirty="0">
                <a:solidFill>
                  <a:srgbClr val="1F497D">
                    <a:lumMod val="20000"/>
                    <a:lumOff val="80000"/>
                  </a:srgbClr>
                </a:solidFill>
                <a:latin typeface="Calibri" pitchFamily="34" charset="0"/>
              </a:rPr>
              <a:t> </a:t>
            </a:r>
            <a:r>
              <a:rPr lang="en-US" sz="2400" dirty="0" err="1">
                <a:solidFill>
                  <a:srgbClr val="1F497D">
                    <a:lumMod val="20000"/>
                    <a:lumOff val="80000"/>
                  </a:srgbClr>
                </a:solidFill>
                <a:latin typeface="Calibri" pitchFamily="34" charset="0"/>
              </a:rPr>
              <a:t>Methyltransferase</a:t>
            </a:r>
            <a:r>
              <a:rPr lang="en-US" sz="2400" dirty="0">
                <a:solidFill>
                  <a:srgbClr val="1F497D">
                    <a:lumMod val="20000"/>
                    <a:lumOff val="80000"/>
                  </a:srgbClr>
                </a:solidFill>
                <a:latin typeface="Calibri" pitchFamily="34" charset="0"/>
              </a:rPr>
              <a:t> hits the N4 position</a:t>
            </a: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r>
              <a:rPr lang="en-US" sz="2400" dirty="0">
                <a:solidFill>
                  <a:srgbClr val="1F497D">
                    <a:lumMod val="20000"/>
                    <a:lumOff val="80000"/>
                  </a:srgbClr>
                </a:solidFill>
                <a:latin typeface="Calibri" pitchFamily="34" charset="0"/>
              </a:rPr>
              <a:t>DNA </a:t>
            </a:r>
            <a:r>
              <a:rPr lang="en-US" sz="2400" dirty="0" err="1">
                <a:solidFill>
                  <a:srgbClr val="1F497D">
                    <a:lumMod val="20000"/>
                    <a:lumOff val="80000"/>
                  </a:srgbClr>
                </a:solidFill>
                <a:latin typeface="Calibri" pitchFamily="34" charset="0"/>
              </a:rPr>
              <a:t>Methylated</a:t>
            </a:r>
            <a:r>
              <a:rPr lang="en-US" sz="2400" dirty="0">
                <a:solidFill>
                  <a:srgbClr val="1F497D">
                    <a:lumMod val="20000"/>
                    <a:lumOff val="80000"/>
                  </a:srgbClr>
                </a:solidFill>
                <a:latin typeface="Calibri" pitchFamily="34" charset="0"/>
              </a:rPr>
              <a:t> by </a:t>
            </a:r>
            <a:r>
              <a:rPr lang="en-US" sz="2400" dirty="0" err="1">
                <a:solidFill>
                  <a:srgbClr val="1F497D">
                    <a:lumMod val="20000"/>
                    <a:lumOff val="80000"/>
                  </a:srgbClr>
                </a:solidFill>
                <a:latin typeface="Calibri" pitchFamily="34" charset="0"/>
              </a:rPr>
              <a:t>methyltransferases</a:t>
            </a:r>
            <a:r>
              <a:rPr lang="en-US" sz="2400" dirty="0">
                <a:solidFill>
                  <a:srgbClr val="1F497D">
                    <a:lumMod val="20000"/>
                    <a:lumOff val="80000"/>
                  </a:srgbClr>
                </a:solidFill>
                <a:latin typeface="Calibri" pitchFamily="34" charset="0"/>
              </a:rPr>
              <a:t> are impervious to digestion by the cognate </a:t>
            </a:r>
            <a:r>
              <a:rPr lang="en-US" sz="2400" dirty="0" err="1">
                <a:solidFill>
                  <a:srgbClr val="1F497D">
                    <a:lumMod val="20000"/>
                    <a:lumOff val="80000"/>
                  </a:srgbClr>
                </a:solidFill>
                <a:latin typeface="Calibri" pitchFamily="34" charset="0"/>
              </a:rPr>
              <a:t>endonuclease</a:t>
            </a:r>
            <a:endParaRPr lang="en-US" sz="2400" dirty="0">
              <a:solidFill>
                <a:srgbClr val="1F497D">
                  <a:lumMod val="20000"/>
                  <a:lumOff val="80000"/>
                </a:srgbClr>
              </a:solidFill>
              <a:latin typeface="Calibri" pitchFamily="34" charset="0"/>
            </a:endParaRPr>
          </a:p>
        </p:txBody>
      </p:sp>
      <p:pic>
        <p:nvPicPr>
          <p:cNvPr id="4" name="Picture 3" descr="BamHI methyltransferase.png"/>
          <p:cNvPicPr>
            <a:picLocks noChangeAspect="1"/>
          </p:cNvPicPr>
          <p:nvPr/>
        </p:nvPicPr>
        <p:blipFill>
          <a:blip r:embed="rId3" cstate="print"/>
          <a:stretch>
            <a:fillRect/>
          </a:stretch>
        </p:blipFill>
        <p:spPr>
          <a:xfrm>
            <a:off x="2743200" y="2895600"/>
            <a:ext cx="3472543" cy="167640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dirty="0">
                <a:solidFill>
                  <a:srgbClr val="1F497D">
                    <a:lumMod val="20000"/>
                    <a:lumOff val="80000"/>
                  </a:srgbClr>
                </a:solidFill>
                <a:latin typeface="Rockwell Extra Bold" pitchFamily="18" charset="0"/>
                <a:cs typeface="Arial" pitchFamily="34" charset="0"/>
              </a:rPr>
              <a:t>Dam and </a:t>
            </a:r>
            <a:r>
              <a:rPr lang="en-US" sz="3200" dirty="0" err="1">
                <a:solidFill>
                  <a:srgbClr val="1F497D">
                    <a:lumMod val="20000"/>
                    <a:lumOff val="80000"/>
                  </a:srgbClr>
                </a:solidFill>
                <a:latin typeface="Rockwell Extra Bold" pitchFamily="18" charset="0"/>
                <a:cs typeface="Arial" pitchFamily="34" charset="0"/>
              </a:rPr>
              <a:t>Dcm</a:t>
            </a:r>
            <a:r>
              <a:rPr lang="en-US" sz="3200" dirty="0">
                <a:solidFill>
                  <a:srgbClr val="1F497D">
                    <a:lumMod val="20000"/>
                    <a:lumOff val="80000"/>
                  </a:srgbClr>
                </a:solidFill>
                <a:latin typeface="Rockwell Extra Bold" pitchFamily="18" charset="0"/>
                <a:cs typeface="Arial" pitchFamily="34" charset="0"/>
              </a:rPr>
              <a:t> </a:t>
            </a:r>
            <a:r>
              <a:rPr lang="en-US" sz="3200" dirty="0" err="1">
                <a:solidFill>
                  <a:srgbClr val="1F497D">
                    <a:lumMod val="20000"/>
                    <a:lumOff val="80000"/>
                  </a:srgbClr>
                </a:solidFill>
                <a:latin typeface="Rockwell Extra Bold" pitchFamily="18" charset="0"/>
                <a:cs typeface="Arial" pitchFamily="34" charset="0"/>
              </a:rPr>
              <a:t>Methylation</a:t>
            </a:r>
            <a:endParaRPr lang="en-US" sz="3200" b="1" dirty="0">
              <a:solidFill>
                <a:srgbClr val="1F497D">
                  <a:lumMod val="20000"/>
                  <a:lumOff val="80000"/>
                </a:srgbClr>
              </a:solidFill>
              <a:latin typeface="Rockwell Extra Bold" pitchFamily="18" charset="0"/>
              <a:cs typeface="Arial" pitchFamily="34" charset="0"/>
            </a:endParaRPr>
          </a:p>
        </p:txBody>
      </p:sp>
      <p:sp>
        <p:nvSpPr>
          <p:cNvPr id="13" name="Rectangle 12"/>
          <p:cNvSpPr/>
          <p:nvPr/>
        </p:nvSpPr>
        <p:spPr>
          <a:xfrm>
            <a:off x="304800" y="914400"/>
            <a:ext cx="8839200" cy="5632310"/>
          </a:xfrm>
          <a:prstGeom prst="rect">
            <a:avLst/>
          </a:prstGeom>
        </p:spPr>
        <p:txBody>
          <a:bodyPr wrap="square">
            <a:spAutoFit/>
          </a:bodyPr>
          <a:lstStyle/>
          <a:p>
            <a:pPr marL="457200" indent="-457200">
              <a:buFont typeface="Wingdings" pitchFamily="2" charset="2"/>
              <a:buChar char="§"/>
            </a:pPr>
            <a:r>
              <a:rPr lang="en-US" sz="2400" i="1" dirty="0">
                <a:solidFill>
                  <a:srgbClr val="1F497D">
                    <a:lumMod val="20000"/>
                    <a:lumOff val="80000"/>
                  </a:srgbClr>
                </a:solidFill>
                <a:latin typeface="Calibri" pitchFamily="34" charset="0"/>
              </a:rPr>
              <a:t>E. coli </a:t>
            </a:r>
            <a:r>
              <a:rPr lang="en-US" sz="2400" dirty="0">
                <a:solidFill>
                  <a:srgbClr val="1F497D">
                    <a:lumMod val="20000"/>
                    <a:lumOff val="80000"/>
                  </a:srgbClr>
                </a:solidFill>
                <a:latin typeface="Calibri" pitchFamily="34" charset="0"/>
              </a:rPr>
              <a:t>K12 lab strains encode 2 </a:t>
            </a:r>
            <a:r>
              <a:rPr lang="en-US" sz="2400" dirty="0" err="1">
                <a:solidFill>
                  <a:srgbClr val="1F497D">
                    <a:lumMod val="20000"/>
                    <a:lumOff val="80000"/>
                  </a:srgbClr>
                </a:solidFill>
                <a:latin typeface="Calibri" pitchFamily="34" charset="0"/>
              </a:rPr>
              <a:t>methyltransferases</a:t>
            </a:r>
            <a:r>
              <a:rPr lang="en-US" sz="2400" dirty="0">
                <a:solidFill>
                  <a:srgbClr val="1F497D">
                    <a:lumMod val="20000"/>
                    <a:lumOff val="80000"/>
                  </a:srgbClr>
                </a:solidFill>
                <a:latin typeface="Calibri" pitchFamily="34" charset="0"/>
              </a:rPr>
              <a:t>, </a:t>
            </a:r>
            <a:r>
              <a:rPr lang="en-US" sz="2400" i="1" dirty="0">
                <a:solidFill>
                  <a:srgbClr val="1F497D">
                    <a:lumMod val="20000"/>
                    <a:lumOff val="80000"/>
                  </a:srgbClr>
                </a:solidFill>
                <a:latin typeface="Calibri" pitchFamily="34" charset="0"/>
              </a:rPr>
              <a:t>dam</a:t>
            </a:r>
            <a:r>
              <a:rPr lang="en-US" sz="2400" dirty="0">
                <a:solidFill>
                  <a:srgbClr val="1F497D">
                    <a:lumMod val="20000"/>
                    <a:lumOff val="80000"/>
                  </a:srgbClr>
                </a:solidFill>
                <a:latin typeface="Calibri" pitchFamily="34" charset="0"/>
              </a:rPr>
              <a:t> and </a:t>
            </a:r>
            <a:r>
              <a:rPr lang="en-US" sz="2400" i="1" dirty="0" err="1">
                <a:solidFill>
                  <a:srgbClr val="1F497D">
                    <a:lumMod val="20000"/>
                    <a:lumOff val="80000"/>
                  </a:srgbClr>
                </a:solidFill>
                <a:latin typeface="Calibri" pitchFamily="34" charset="0"/>
              </a:rPr>
              <a:t>dcm</a:t>
            </a:r>
            <a:endParaRPr lang="en-US" sz="2400" i="1" dirty="0">
              <a:solidFill>
                <a:srgbClr val="1F497D">
                  <a:lumMod val="20000"/>
                  <a:lumOff val="80000"/>
                </a:srgbClr>
              </a:solidFill>
              <a:latin typeface="Calibri" pitchFamily="34" charset="0"/>
            </a:endParaRPr>
          </a:p>
          <a:p>
            <a:pPr marL="457200" indent="-457200">
              <a:buFont typeface="Wingdings" pitchFamily="2" charset="2"/>
              <a:buChar char="§"/>
            </a:pPr>
            <a:r>
              <a:rPr lang="en-US" sz="2400" dirty="0">
                <a:solidFill>
                  <a:srgbClr val="1F497D">
                    <a:lumMod val="20000"/>
                    <a:lumOff val="80000"/>
                  </a:srgbClr>
                </a:solidFill>
                <a:latin typeface="Calibri" pitchFamily="34" charset="0"/>
              </a:rPr>
              <a:t>Strains (like JM110) have </a:t>
            </a:r>
            <a:r>
              <a:rPr lang="en-US" sz="2400" i="1" dirty="0">
                <a:solidFill>
                  <a:srgbClr val="1F497D">
                    <a:lumMod val="20000"/>
                    <a:lumOff val="80000"/>
                  </a:srgbClr>
                </a:solidFill>
                <a:latin typeface="Calibri" pitchFamily="34" charset="0"/>
              </a:rPr>
              <a:t>dam</a:t>
            </a:r>
            <a:r>
              <a:rPr lang="en-US" sz="2400" dirty="0">
                <a:solidFill>
                  <a:srgbClr val="1F497D">
                    <a:lumMod val="20000"/>
                    <a:lumOff val="80000"/>
                  </a:srgbClr>
                </a:solidFill>
                <a:latin typeface="Calibri" pitchFamily="34" charset="0"/>
              </a:rPr>
              <a:t> and </a:t>
            </a:r>
            <a:r>
              <a:rPr lang="en-US" sz="2400" i="1" dirty="0" err="1">
                <a:solidFill>
                  <a:srgbClr val="1F497D">
                    <a:lumMod val="20000"/>
                    <a:lumOff val="80000"/>
                  </a:srgbClr>
                </a:solidFill>
                <a:latin typeface="Calibri" pitchFamily="34" charset="0"/>
              </a:rPr>
              <a:t>dcm</a:t>
            </a:r>
            <a:r>
              <a:rPr lang="en-US" sz="2400" dirty="0">
                <a:solidFill>
                  <a:srgbClr val="1F497D">
                    <a:lumMod val="20000"/>
                    <a:lumOff val="80000"/>
                  </a:srgbClr>
                </a:solidFill>
                <a:latin typeface="Calibri" pitchFamily="34" charset="0"/>
              </a:rPr>
              <a:t> knocked out, but they aren’t healthy bacteria</a:t>
            </a:r>
            <a:endParaRPr lang="en-US" sz="2400" i="1" dirty="0">
              <a:solidFill>
                <a:srgbClr val="1F497D">
                  <a:lumMod val="20000"/>
                  <a:lumOff val="80000"/>
                </a:srgbClr>
              </a:solidFill>
              <a:latin typeface="Calibri" pitchFamily="34" charset="0"/>
            </a:endParaRPr>
          </a:p>
          <a:p>
            <a:pPr marL="457200" indent="-457200">
              <a:buFont typeface="Wingdings" pitchFamily="2" charset="2"/>
              <a:buChar char="§"/>
            </a:pPr>
            <a:r>
              <a:rPr lang="en-US" sz="2400" dirty="0">
                <a:solidFill>
                  <a:srgbClr val="1F497D">
                    <a:lumMod val="20000"/>
                    <a:lumOff val="80000"/>
                  </a:srgbClr>
                </a:solidFill>
                <a:latin typeface="Calibri" pitchFamily="34" charset="0"/>
              </a:rPr>
              <a:t>They recognize and </a:t>
            </a:r>
            <a:r>
              <a:rPr lang="en-US" sz="2400" dirty="0" err="1">
                <a:solidFill>
                  <a:srgbClr val="1F497D">
                    <a:lumMod val="20000"/>
                    <a:lumOff val="80000"/>
                  </a:srgbClr>
                </a:solidFill>
                <a:latin typeface="Calibri" pitchFamily="34" charset="0"/>
              </a:rPr>
              <a:t>methylate</a:t>
            </a:r>
            <a:r>
              <a:rPr lang="en-US" sz="2400" dirty="0">
                <a:solidFill>
                  <a:srgbClr val="1F497D">
                    <a:lumMod val="20000"/>
                    <a:lumOff val="80000"/>
                  </a:srgbClr>
                </a:solidFill>
                <a:latin typeface="Calibri" pitchFamily="34" charset="0"/>
              </a:rPr>
              <a:t>: </a:t>
            </a:r>
          </a:p>
          <a:p>
            <a:pPr marL="914400" lvl="1" indent="-457200">
              <a:buFont typeface="Wingdings" pitchFamily="2" charset="2"/>
              <a:buChar char="§"/>
            </a:pPr>
            <a:r>
              <a:rPr lang="en-US" sz="2400" dirty="0">
                <a:solidFill>
                  <a:srgbClr val="1F497D">
                    <a:lumMod val="20000"/>
                    <a:lumOff val="80000"/>
                  </a:srgbClr>
                </a:solidFill>
                <a:latin typeface="Calibri" pitchFamily="34" charset="0"/>
              </a:rPr>
              <a:t>Dam(</a:t>
            </a:r>
            <a:r>
              <a:rPr lang="en-US" sz="2400" dirty="0" err="1">
                <a:solidFill>
                  <a:srgbClr val="1F497D">
                    <a:lumMod val="20000"/>
                    <a:lumOff val="80000"/>
                  </a:srgbClr>
                </a:solidFill>
                <a:latin typeface="Calibri" pitchFamily="34" charset="0"/>
              </a:rPr>
              <a:t>GmATC</a:t>
            </a:r>
            <a:r>
              <a:rPr lang="en-US" sz="2400" dirty="0">
                <a:solidFill>
                  <a:srgbClr val="1F497D">
                    <a:lumMod val="20000"/>
                    <a:lumOff val="80000"/>
                  </a:srgbClr>
                </a:solidFill>
                <a:latin typeface="Calibri" pitchFamily="34" charset="0"/>
              </a:rPr>
              <a:t>) and </a:t>
            </a:r>
            <a:r>
              <a:rPr lang="en-US" sz="2400" dirty="0" err="1">
                <a:solidFill>
                  <a:srgbClr val="1F497D">
                    <a:lumMod val="20000"/>
                    <a:lumOff val="80000"/>
                  </a:srgbClr>
                </a:solidFill>
                <a:latin typeface="Calibri" pitchFamily="34" charset="0"/>
              </a:rPr>
              <a:t>Dcm</a:t>
            </a:r>
            <a:r>
              <a:rPr lang="en-US" sz="2400" dirty="0">
                <a:solidFill>
                  <a:srgbClr val="1F497D">
                    <a:lumMod val="20000"/>
                    <a:lumOff val="80000"/>
                  </a:srgbClr>
                </a:solidFill>
                <a:latin typeface="Calibri" pitchFamily="34" charset="0"/>
              </a:rPr>
              <a:t>(</a:t>
            </a:r>
            <a:r>
              <a:rPr lang="en-US" sz="2400" dirty="0" err="1">
                <a:solidFill>
                  <a:srgbClr val="1F497D">
                    <a:lumMod val="20000"/>
                    <a:lumOff val="80000"/>
                  </a:srgbClr>
                </a:solidFill>
                <a:latin typeface="Calibri" pitchFamily="34" charset="0"/>
              </a:rPr>
              <a:t>CmCWGG</a:t>
            </a:r>
            <a:r>
              <a:rPr lang="en-US" sz="2400" dirty="0">
                <a:solidFill>
                  <a:srgbClr val="1F497D">
                    <a:lumMod val="20000"/>
                    <a:lumOff val="80000"/>
                  </a:srgbClr>
                </a:solidFill>
                <a:latin typeface="Calibri" pitchFamily="34" charset="0"/>
              </a:rPr>
              <a:t>) </a:t>
            </a:r>
            <a:endParaRPr lang="en-US" sz="2400" i="1" dirty="0">
              <a:solidFill>
                <a:srgbClr val="1F497D">
                  <a:lumMod val="20000"/>
                  <a:lumOff val="80000"/>
                </a:srgbClr>
              </a:solidFill>
              <a:latin typeface="Calibri" pitchFamily="34" charset="0"/>
            </a:endParaRPr>
          </a:p>
          <a:p>
            <a:pPr marL="457200" indent="-457200">
              <a:buFont typeface="Wingdings" pitchFamily="2" charset="2"/>
              <a:buChar char="§"/>
            </a:pPr>
            <a:r>
              <a:rPr lang="en-US" sz="2400" dirty="0">
                <a:solidFill>
                  <a:srgbClr val="1F497D">
                    <a:lumMod val="20000"/>
                    <a:lumOff val="80000"/>
                  </a:srgbClr>
                </a:solidFill>
                <a:latin typeface="Calibri" pitchFamily="34" charset="0"/>
              </a:rPr>
              <a:t>Restriction sites overlapping these sites are sometimes blocked</a:t>
            </a:r>
          </a:p>
          <a:p>
            <a:pPr marL="457200" indent="-457200">
              <a:buFont typeface="Wingdings" pitchFamily="2" charset="2"/>
              <a:buChar char="§"/>
            </a:pPr>
            <a:r>
              <a:rPr lang="en-US" sz="2400" dirty="0">
                <a:solidFill>
                  <a:srgbClr val="1F497D">
                    <a:lumMod val="20000"/>
                    <a:lumOff val="80000"/>
                  </a:srgbClr>
                </a:solidFill>
                <a:latin typeface="Calibri" pitchFamily="34" charset="0"/>
              </a:rPr>
              <a:t>These relationships are documented in the NEB catalog</a:t>
            </a:r>
          </a:p>
          <a:p>
            <a:pPr marL="457200" indent="-457200">
              <a:buFont typeface="Wingdings" pitchFamily="2" charset="2"/>
              <a:buChar char="§"/>
            </a:pPr>
            <a:r>
              <a:rPr lang="en-US" sz="2400" dirty="0">
                <a:solidFill>
                  <a:srgbClr val="1F497D">
                    <a:lumMod val="20000"/>
                    <a:lumOff val="80000"/>
                  </a:srgbClr>
                </a:solidFill>
                <a:latin typeface="Calibri" pitchFamily="34" charset="0"/>
              </a:rPr>
              <a:t>Example:  Dam blocking of </a:t>
            </a:r>
            <a:r>
              <a:rPr lang="en-US" sz="2400" dirty="0" err="1">
                <a:solidFill>
                  <a:srgbClr val="1F497D">
                    <a:lumMod val="20000"/>
                    <a:lumOff val="80000"/>
                  </a:srgbClr>
                </a:solidFill>
                <a:latin typeface="Calibri" pitchFamily="34" charset="0"/>
              </a:rPr>
              <a:t>XbaI</a:t>
            </a:r>
            <a:r>
              <a:rPr lang="en-US" sz="2400" dirty="0">
                <a:solidFill>
                  <a:srgbClr val="1F497D">
                    <a:lumMod val="20000"/>
                    <a:lumOff val="80000"/>
                  </a:srgbClr>
                </a:solidFill>
                <a:latin typeface="Calibri" pitchFamily="34" charset="0"/>
              </a:rPr>
              <a:t> digestion</a:t>
            </a: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r>
              <a:rPr lang="en-US" sz="2400" dirty="0" err="1">
                <a:solidFill>
                  <a:srgbClr val="1F497D">
                    <a:lumMod val="20000"/>
                    <a:lumOff val="80000"/>
                  </a:srgbClr>
                </a:solidFill>
                <a:latin typeface="Calibri" pitchFamily="34" charset="0"/>
              </a:rPr>
              <a:t>Methylated</a:t>
            </a:r>
            <a:r>
              <a:rPr lang="en-US" sz="2400" dirty="0">
                <a:solidFill>
                  <a:srgbClr val="1F497D">
                    <a:lumMod val="20000"/>
                    <a:lumOff val="80000"/>
                  </a:srgbClr>
                </a:solidFill>
                <a:latin typeface="Calibri" pitchFamily="34" charset="0"/>
              </a:rPr>
              <a:t> Dam sites are the substrate of </a:t>
            </a:r>
            <a:r>
              <a:rPr lang="en-US" sz="2400" dirty="0" err="1">
                <a:solidFill>
                  <a:srgbClr val="1F497D">
                    <a:lumMod val="20000"/>
                    <a:lumOff val="80000"/>
                  </a:srgbClr>
                </a:solidFill>
                <a:latin typeface="Calibri" pitchFamily="34" charset="0"/>
              </a:rPr>
              <a:t>DpnI</a:t>
            </a:r>
            <a:r>
              <a:rPr lang="en-US" sz="2400" dirty="0">
                <a:solidFill>
                  <a:srgbClr val="1F497D">
                    <a:lumMod val="20000"/>
                    <a:lumOff val="80000"/>
                  </a:srgbClr>
                </a:solidFill>
                <a:latin typeface="Calibri" pitchFamily="34" charset="0"/>
              </a:rPr>
              <a:t> </a:t>
            </a:r>
            <a:r>
              <a:rPr lang="en-US" sz="2400" dirty="0" err="1">
                <a:solidFill>
                  <a:srgbClr val="1F497D">
                    <a:lumMod val="20000"/>
                    <a:lumOff val="80000"/>
                  </a:srgbClr>
                </a:solidFill>
                <a:latin typeface="Calibri" pitchFamily="34" charset="0"/>
              </a:rPr>
              <a:t>endonuclease</a:t>
            </a:r>
            <a:endParaRPr lang="en-US" sz="2400" dirty="0">
              <a:solidFill>
                <a:srgbClr val="1F497D">
                  <a:lumMod val="20000"/>
                  <a:lumOff val="80000"/>
                </a:srgbClr>
              </a:solidFill>
              <a:latin typeface="Calibri" pitchFamily="34" charset="0"/>
            </a:endParaRPr>
          </a:p>
        </p:txBody>
      </p:sp>
      <p:sp>
        <p:nvSpPr>
          <p:cNvPr id="5" name="TextBox 4"/>
          <p:cNvSpPr txBox="1"/>
          <p:nvPr/>
        </p:nvSpPr>
        <p:spPr>
          <a:xfrm>
            <a:off x="2286000" y="3733800"/>
            <a:ext cx="4067139" cy="2369880"/>
          </a:xfrm>
          <a:prstGeom prst="rect">
            <a:avLst/>
          </a:prstGeom>
          <a:noFill/>
        </p:spPr>
        <p:txBody>
          <a:bodyPr wrap="none" rtlCol="0">
            <a:spAutoFit/>
          </a:bodyPr>
          <a:lstStyle/>
          <a:p>
            <a:r>
              <a:rPr lang="en-US" sz="3600" b="1" dirty="0">
                <a:solidFill>
                  <a:schemeClr val="tx2">
                    <a:lumMod val="20000"/>
                    <a:lumOff val="80000"/>
                  </a:schemeClr>
                </a:solidFill>
                <a:latin typeface="Courier New" pitchFamily="49" charset="0"/>
                <a:cs typeface="Courier New" pitchFamily="49" charset="0"/>
              </a:rPr>
              <a:t>        </a:t>
            </a:r>
            <a:r>
              <a:rPr lang="en-US" dirty="0">
                <a:solidFill>
                  <a:schemeClr val="tx2">
                    <a:lumMod val="20000"/>
                    <a:lumOff val="80000"/>
                  </a:schemeClr>
                </a:solidFill>
                <a:latin typeface="Arial" pitchFamily="34" charset="0"/>
                <a:cs typeface="Arial" pitchFamily="34" charset="0"/>
              </a:rPr>
              <a:t>Me</a:t>
            </a:r>
            <a:endParaRPr lang="en-US" sz="3600" dirty="0">
              <a:solidFill>
                <a:schemeClr val="tx2">
                  <a:lumMod val="20000"/>
                  <a:lumOff val="80000"/>
                </a:schemeClr>
              </a:solidFill>
              <a:latin typeface="Arial" pitchFamily="34" charset="0"/>
              <a:cs typeface="Arial" pitchFamily="34" charset="0"/>
            </a:endParaRPr>
          </a:p>
          <a:p>
            <a:r>
              <a:rPr lang="en-US" sz="3600" b="1" dirty="0">
                <a:solidFill>
                  <a:schemeClr val="tx2">
                    <a:lumMod val="20000"/>
                    <a:lumOff val="80000"/>
                  </a:schemeClr>
                </a:solidFill>
                <a:latin typeface="Courier New" pitchFamily="49" charset="0"/>
                <a:cs typeface="Courier New" pitchFamily="49" charset="0"/>
              </a:rPr>
              <a:t>5’-TCTAGA</a:t>
            </a:r>
            <a:r>
              <a:rPr lang="en-US" sz="3600" dirty="0">
                <a:solidFill>
                  <a:schemeClr val="tx2">
                    <a:lumMod val="20000"/>
                    <a:lumOff val="80000"/>
                  </a:schemeClr>
                </a:solidFill>
                <a:latin typeface="Courier New" pitchFamily="49" charset="0"/>
                <a:cs typeface="Courier New" pitchFamily="49" charset="0"/>
              </a:rPr>
              <a:t>TC-3’</a:t>
            </a:r>
          </a:p>
          <a:p>
            <a:r>
              <a:rPr lang="en-US" sz="3600" b="1" dirty="0">
                <a:solidFill>
                  <a:schemeClr val="tx2">
                    <a:lumMod val="20000"/>
                    <a:lumOff val="80000"/>
                  </a:schemeClr>
                </a:solidFill>
                <a:latin typeface="Courier New" pitchFamily="49" charset="0"/>
                <a:cs typeface="Courier New" pitchFamily="49" charset="0"/>
              </a:rPr>
              <a:t>3’-AGATCT</a:t>
            </a:r>
            <a:r>
              <a:rPr lang="en-US" sz="3600" dirty="0">
                <a:solidFill>
                  <a:schemeClr val="tx2">
                    <a:lumMod val="20000"/>
                    <a:lumOff val="80000"/>
                  </a:schemeClr>
                </a:solidFill>
                <a:latin typeface="Courier New" pitchFamily="49" charset="0"/>
                <a:cs typeface="Courier New" pitchFamily="49" charset="0"/>
              </a:rPr>
              <a:t>AG-5’</a:t>
            </a:r>
          </a:p>
          <a:p>
            <a:r>
              <a:rPr lang="en-US" sz="3600" dirty="0">
                <a:solidFill>
                  <a:schemeClr val="tx2">
                    <a:lumMod val="20000"/>
                    <a:lumOff val="80000"/>
                  </a:schemeClr>
                </a:solidFill>
                <a:latin typeface="Courier New" pitchFamily="49" charset="0"/>
                <a:cs typeface="Courier New" pitchFamily="49" charset="0"/>
              </a:rPr>
              <a:t>         </a:t>
            </a:r>
            <a:r>
              <a:rPr lang="en-US" dirty="0">
                <a:solidFill>
                  <a:srgbClr val="1F497D">
                    <a:lumMod val="20000"/>
                    <a:lumOff val="80000"/>
                  </a:srgbClr>
                </a:solidFill>
                <a:latin typeface="Arial" pitchFamily="34" charset="0"/>
                <a:cs typeface="Arial" pitchFamily="34" charset="0"/>
              </a:rPr>
              <a:t>Me</a:t>
            </a:r>
            <a:endParaRPr lang="en-US" sz="3600" dirty="0">
              <a:solidFill>
                <a:schemeClr val="tx2">
                  <a:lumMod val="20000"/>
                  <a:lumOff val="80000"/>
                </a:schemeClr>
              </a:solidFill>
              <a:latin typeface="Courier New" pitchFamily="49" charset="0"/>
              <a:cs typeface="Courier New" pitchFamily="49" charset="0"/>
            </a:endParaRPr>
          </a:p>
        </p:txBody>
      </p:sp>
      <p:cxnSp>
        <p:nvCxnSpPr>
          <p:cNvPr id="7" name="Straight Connector 6"/>
          <p:cNvCxnSpPr/>
          <p:nvPr/>
        </p:nvCxnSpPr>
        <p:spPr>
          <a:xfrm rot="5400000">
            <a:off x="4648994" y="4342606"/>
            <a:ext cx="152400" cy="1588"/>
          </a:xfrm>
          <a:prstGeom prst="line">
            <a:avLst/>
          </a:prstGeom>
          <a:ln w="508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5400000">
            <a:off x="4952206" y="5485606"/>
            <a:ext cx="152400" cy="1588"/>
          </a:xfrm>
          <a:prstGeom prst="line">
            <a:avLst/>
          </a:prstGeom>
          <a:ln w="508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1349514"/>
            <a:ext cx="9144000" cy="707886"/>
          </a:xfrm>
          <a:prstGeom prst="rect">
            <a:avLst/>
          </a:prstGeom>
          <a:noFill/>
          <a:ln w="9525">
            <a:noFill/>
            <a:miter lim="800000"/>
            <a:headEnd/>
            <a:tailEnd/>
          </a:ln>
        </p:spPr>
        <p:txBody>
          <a:bodyPr wrap="square">
            <a:spAutoFit/>
          </a:bodyPr>
          <a:lstStyle/>
          <a:p>
            <a:pPr algn="ctr"/>
            <a:r>
              <a:rPr lang="en-US" sz="4000" dirty="0">
                <a:solidFill>
                  <a:schemeClr val="bg1"/>
                </a:solidFill>
                <a:latin typeface="Rockwell Extra Bold" pitchFamily="18" charset="0"/>
                <a:cs typeface="Arial" pitchFamily="34" charset="0"/>
              </a:rPr>
              <a:t>The </a:t>
            </a:r>
            <a:r>
              <a:rPr lang="en-US" sz="4000" dirty="0" err="1">
                <a:solidFill>
                  <a:schemeClr val="bg1"/>
                </a:solidFill>
                <a:latin typeface="Rockwell Extra Bold" pitchFamily="18" charset="0"/>
                <a:cs typeface="Arial" pitchFamily="34" charset="0"/>
              </a:rPr>
              <a:t>Kinases</a:t>
            </a:r>
            <a:r>
              <a:rPr lang="en-US" sz="4000" dirty="0">
                <a:solidFill>
                  <a:schemeClr val="bg1"/>
                </a:solidFill>
                <a:latin typeface="Rockwell Extra Bold" pitchFamily="18" charset="0"/>
                <a:cs typeface="Arial" pitchFamily="34" charset="0"/>
              </a:rPr>
              <a:t>/</a:t>
            </a:r>
            <a:r>
              <a:rPr lang="en-US" sz="4000" dirty="0" err="1">
                <a:solidFill>
                  <a:schemeClr val="bg1"/>
                </a:solidFill>
                <a:latin typeface="Rockwell Extra Bold" pitchFamily="18" charset="0"/>
                <a:cs typeface="Arial" pitchFamily="34" charset="0"/>
              </a:rPr>
              <a:t>Phosphatases</a:t>
            </a:r>
            <a:endParaRPr lang="en-US" sz="4000" dirty="0">
              <a:solidFill>
                <a:schemeClr val="bg1"/>
              </a:solidFill>
              <a:latin typeface="Rockwell Extra Bold" pitchFamily="18" charset="0"/>
              <a:cs typeface="Arial" pitchFamily="34" charset="0"/>
            </a:endParaRPr>
          </a:p>
        </p:txBody>
      </p:sp>
      <p:sp>
        <p:nvSpPr>
          <p:cNvPr id="7" name="Rectangle 5"/>
          <p:cNvSpPr>
            <a:spLocks noChangeArrowheads="1"/>
          </p:cNvSpPr>
          <p:nvPr/>
        </p:nvSpPr>
        <p:spPr bwMode="auto">
          <a:xfrm>
            <a:off x="2819400" y="2362200"/>
            <a:ext cx="5791200" cy="461665"/>
          </a:xfrm>
          <a:prstGeom prst="rect">
            <a:avLst/>
          </a:prstGeom>
          <a:noFill/>
          <a:ln w="9525">
            <a:noFill/>
            <a:miter lim="800000"/>
            <a:headEnd/>
            <a:tailEnd/>
          </a:ln>
        </p:spPr>
        <p:txBody>
          <a:bodyPr wrap="square">
            <a:spAutoFit/>
          </a:bodyPr>
          <a:lstStyle/>
          <a:p>
            <a:r>
              <a:rPr lang="en-US" sz="2400" dirty="0">
                <a:solidFill>
                  <a:schemeClr val="bg1"/>
                </a:solidFill>
                <a:latin typeface="Calibri" pitchFamily="34" charset="0"/>
              </a:rPr>
              <a:t>Enzymes that add and remove phosphates</a:t>
            </a:r>
          </a:p>
        </p:txBody>
      </p:sp>
      <p:pic>
        <p:nvPicPr>
          <p:cNvPr id="12" name="Picture 11" descr="dna ends.png"/>
          <p:cNvPicPr>
            <a:picLocks noChangeAspect="1"/>
          </p:cNvPicPr>
          <p:nvPr/>
        </p:nvPicPr>
        <p:blipFill>
          <a:blip r:embed="rId4" cstate="print"/>
          <a:stretch>
            <a:fillRect/>
          </a:stretch>
        </p:blipFill>
        <p:spPr>
          <a:xfrm>
            <a:off x="1752600" y="3124200"/>
            <a:ext cx="3453968" cy="4330159"/>
          </a:xfrm>
          <a:prstGeom prst="rect">
            <a:avLst/>
          </a:prstGeom>
        </p:spPr>
      </p:pic>
      <p:sp>
        <p:nvSpPr>
          <p:cNvPr id="13" name="Right Arrow 12"/>
          <p:cNvSpPr/>
          <p:nvPr/>
        </p:nvSpPr>
        <p:spPr>
          <a:xfrm>
            <a:off x="609600" y="4114800"/>
            <a:ext cx="1066800" cy="609600"/>
          </a:xfrm>
          <a:prstGeom prst="rightArrow">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Rectangle 13"/>
          <p:cNvSpPr/>
          <p:nvPr/>
        </p:nvSpPr>
        <p:spPr>
          <a:xfrm>
            <a:off x="4953000" y="3124200"/>
            <a:ext cx="3962400" cy="2308324"/>
          </a:xfrm>
          <a:prstGeom prst="rect">
            <a:avLst/>
          </a:prstGeom>
        </p:spPr>
        <p:txBody>
          <a:bodyPr wrap="square">
            <a:spAutoFit/>
          </a:bodyPr>
          <a:lstStyle/>
          <a:p>
            <a:pPr marL="457200" indent="-457200">
              <a:buFont typeface="Wingdings" pitchFamily="2" charset="2"/>
              <a:buChar char="§"/>
            </a:pPr>
            <a:r>
              <a:rPr lang="en-US" sz="2400" dirty="0">
                <a:solidFill>
                  <a:schemeClr val="bg1"/>
                </a:solidFill>
                <a:latin typeface="Calibri" pitchFamily="34" charset="0"/>
              </a:rPr>
              <a:t>Restricted DNA has a single 5’ phosphate</a:t>
            </a:r>
          </a:p>
          <a:p>
            <a:pPr marL="457200" indent="-457200">
              <a:buFont typeface="Wingdings" pitchFamily="2" charset="2"/>
              <a:buChar char="§"/>
            </a:pPr>
            <a:r>
              <a:rPr lang="en-US" sz="2400" dirty="0">
                <a:solidFill>
                  <a:schemeClr val="bg1"/>
                </a:solidFill>
                <a:latin typeface="Calibri" pitchFamily="34" charset="0"/>
              </a:rPr>
              <a:t>Synthetic </a:t>
            </a:r>
            <a:r>
              <a:rPr lang="en-US" sz="2400" dirty="0" err="1">
                <a:solidFill>
                  <a:schemeClr val="bg1"/>
                </a:solidFill>
                <a:latin typeface="Calibri" pitchFamily="34" charset="0"/>
              </a:rPr>
              <a:t>oligonucleotides</a:t>
            </a:r>
            <a:r>
              <a:rPr lang="en-US" sz="2400" dirty="0">
                <a:solidFill>
                  <a:schemeClr val="bg1"/>
                </a:solidFill>
                <a:latin typeface="Calibri" pitchFamily="34" charset="0"/>
              </a:rPr>
              <a:t> have a clean 5’ hydroxyl</a:t>
            </a:r>
          </a:p>
          <a:p>
            <a:pPr marL="457200" indent="-457200">
              <a:buFont typeface="Wingdings" pitchFamily="2" charset="2"/>
              <a:buChar char="§"/>
            </a:pPr>
            <a:r>
              <a:rPr lang="en-US" sz="2400" dirty="0">
                <a:solidFill>
                  <a:schemeClr val="bg1"/>
                </a:solidFill>
                <a:latin typeface="Calibri" pitchFamily="34" charset="0"/>
              </a:rPr>
              <a:t>5’ phosphates are required for ligation</a:t>
            </a:r>
          </a:p>
        </p:txBody>
      </p:sp>
    </p:spTree>
  </p:cSld>
  <p:clrMapOvr>
    <a:overrideClrMapping bg1="lt1" tx1="dk1" bg2="lt2" tx2="dk2" accent1="accent1" accent2="accent2" accent3="accent3" accent4="accent4" accent5="accent5" accent6="accent6" hlink="hlink" folHlink="folHlink"/>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b="1" dirty="0">
                <a:solidFill>
                  <a:srgbClr val="1F497D">
                    <a:lumMod val="20000"/>
                    <a:lumOff val="80000"/>
                  </a:srgbClr>
                </a:solidFill>
                <a:latin typeface="Rockwell Extra Bold" pitchFamily="18" charset="0"/>
                <a:cs typeface="Arial" pitchFamily="34" charset="0"/>
              </a:rPr>
              <a:t>Alkaline </a:t>
            </a:r>
            <a:r>
              <a:rPr lang="en-US" sz="3200" b="1" dirty="0" err="1">
                <a:solidFill>
                  <a:srgbClr val="1F497D">
                    <a:lumMod val="20000"/>
                    <a:lumOff val="80000"/>
                  </a:srgbClr>
                </a:solidFill>
                <a:latin typeface="Rockwell Extra Bold" pitchFamily="18" charset="0"/>
                <a:cs typeface="Arial" pitchFamily="34" charset="0"/>
              </a:rPr>
              <a:t>Phosphatases</a:t>
            </a:r>
            <a:endParaRPr lang="en-US" sz="3200" b="1" dirty="0">
              <a:solidFill>
                <a:srgbClr val="1F497D">
                  <a:lumMod val="20000"/>
                  <a:lumOff val="80000"/>
                </a:srgbClr>
              </a:solidFill>
              <a:latin typeface="Rockwell Extra Bold" pitchFamily="18" charset="0"/>
              <a:cs typeface="Arial" pitchFamily="34" charset="0"/>
            </a:endParaRPr>
          </a:p>
        </p:txBody>
      </p:sp>
      <p:sp>
        <p:nvSpPr>
          <p:cNvPr id="6" name="Rectangle 5"/>
          <p:cNvSpPr/>
          <p:nvPr/>
        </p:nvSpPr>
        <p:spPr>
          <a:xfrm>
            <a:off x="1066800" y="1143000"/>
            <a:ext cx="7467600" cy="5632311"/>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Catalyze the hydrolysis of phosphate ester non-specifically</a:t>
            </a: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r>
              <a:rPr lang="en-US" sz="2400" dirty="0">
                <a:solidFill>
                  <a:srgbClr val="1F497D">
                    <a:lumMod val="20000"/>
                    <a:lumOff val="80000"/>
                  </a:srgbClr>
                </a:solidFill>
                <a:latin typeface="Calibri" pitchFamily="34" charset="0"/>
              </a:rPr>
              <a:t>Also act on 5’ mono, </a:t>
            </a:r>
            <a:r>
              <a:rPr lang="en-US" sz="2400" dirty="0" err="1">
                <a:solidFill>
                  <a:srgbClr val="1F497D">
                    <a:lumMod val="20000"/>
                    <a:lumOff val="80000"/>
                  </a:srgbClr>
                </a:solidFill>
                <a:latin typeface="Calibri" pitchFamily="34" charset="0"/>
              </a:rPr>
              <a:t>di</a:t>
            </a:r>
            <a:r>
              <a:rPr lang="en-US" sz="2400" dirty="0">
                <a:solidFill>
                  <a:srgbClr val="1F497D">
                    <a:lumMod val="20000"/>
                    <a:lumOff val="80000"/>
                  </a:srgbClr>
                </a:solidFill>
                <a:latin typeface="Calibri" pitchFamily="34" charset="0"/>
              </a:rPr>
              <a:t>, and </a:t>
            </a:r>
            <a:r>
              <a:rPr lang="en-US" sz="2400" dirty="0" err="1">
                <a:solidFill>
                  <a:srgbClr val="1F497D">
                    <a:lumMod val="20000"/>
                    <a:lumOff val="80000"/>
                  </a:srgbClr>
                </a:solidFill>
                <a:latin typeface="Calibri" pitchFamily="34" charset="0"/>
              </a:rPr>
              <a:t>triphosphates</a:t>
            </a:r>
            <a:r>
              <a:rPr lang="en-US" sz="2400" dirty="0">
                <a:solidFill>
                  <a:srgbClr val="1F497D">
                    <a:lumMod val="20000"/>
                    <a:lumOff val="80000"/>
                  </a:srgbClr>
                </a:solidFill>
                <a:latin typeface="Calibri" pitchFamily="34" charset="0"/>
              </a:rPr>
              <a:t> of RNA or DNA, </a:t>
            </a:r>
            <a:r>
              <a:rPr lang="en-US" sz="2400" dirty="0" err="1">
                <a:solidFill>
                  <a:srgbClr val="1F497D">
                    <a:lumMod val="20000"/>
                    <a:lumOff val="80000"/>
                  </a:srgbClr>
                </a:solidFill>
                <a:latin typeface="Calibri" pitchFamily="34" charset="0"/>
              </a:rPr>
              <a:t>dNTPs</a:t>
            </a:r>
            <a:r>
              <a:rPr lang="en-US" sz="2400" dirty="0">
                <a:solidFill>
                  <a:srgbClr val="1F497D">
                    <a:lumMod val="20000"/>
                    <a:lumOff val="80000"/>
                  </a:srgbClr>
                </a:solidFill>
                <a:latin typeface="Calibri" pitchFamily="34" charset="0"/>
              </a:rPr>
              <a:t>, and NTPs</a:t>
            </a:r>
          </a:p>
          <a:p>
            <a:pPr marL="457200" indent="-457200">
              <a:buFont typeface="Wingdings" pitchFamily="2" charset="2"/>
              <a:buChar char="§"/>
            </a:pPr>
            <a:r>
              <a:rPr lang="en-US" sz="2400" dirty="0">
                <a:solidFill>
                  <a:srgbClr val="1F497D">
                    <a:lumMod val="20000"/>
                    <a:lumOff val="80000"/>
                  </a:srgbClr>
                </a:solidFill>
                <a:latin typeface="Calibri" pitchFamily="34" charset="0"/>
              </a:rPr>
              <a:t>There are very many of them in nature, often are secreted proteins</a:t>
            </a:r>
          </a:p>
        </p:txBody>
      </p:sp>
      <p:pic>
        <p:nvPicPr>
          <p:cNvPr id="7" name="Picture 6" descr="phosphatase.png"/>
          <p:cNvPicPr>
            <a:picLocks noChangeAspect="1"/>
          </p:cNvPicPr>
          <p:nvPr/>
        </p:nvPicPr>
        <p:blipFill>
          <a:blip r:embed="rId3" cstate="print"/>
          <a:stretch>
            <a:fillRect/>
          </a:stretch>
        </p:blipFill>
        <p:spPr>
          <a:xfrm>
            <a:off x="2971800" y="2095857"/>
            <a:ext cx="2819048" cy="2857143"/>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685800" y="304800"/>
            <a:ext cx="8077200" cy="584775"/>
          </a:xfrm>
          <a:prstGeom prst="rect">
            <a:avLst/>
          </a:prstGeom>
          <a:noFill/>
          <a:ln w="9525">
            <a:noFill/>
            <a:miter lim="800000"/>
            <a:headEnd/>
            <a:tailEnd/>
          </a:ln>
        </p:spPr>
        <p:txBody>
          <a:bodyPr wrap="square">
            <a:spAutoFit/>
          </a:bodyPr>
          <a:lstStyle/>
          <a:p>
            <a:r>
              <a:rPr lang="en-US" sz="3200" b="1" dirty="0">
                <a:solidFill>
                  <a:srgbClr val="1F497D">
                    <a:lumMod val="20000"/>
                    <a:lumOff val="80000"/>
                  </a:srgbClr>
                </a:solidFill>
                <a:latin typeface="Rockwell Extra Bold" pitchFamily="18" charset="0"/>
                <a:cs typeface="Arial" pitchFamily="34" charset="0"/>
              </a:rPr>
              <a:t>CIP:  </a:t>
            </a:r>
            <a:r>
              <a:rPr lang="en-US" sz="2400" b="1" dirty="0">
                <a:solidFill>
                  <a:srgbClr val="1F497D">
                    <a:lumMod val="20000"/>
                    <a:lumOff val="80000"/>
                  </a:srgbClr>
                </a:solidFill>
                <a:latin typeface="Rockwell Extra Bold" pitchFamily="18" charset="0"/>
                <a:cs typeface="Arial" pitchFamily="34" charset="0"/>
              </a:rPr>
              <a:t>Calf Intestine Alkaline </a:t>
            </a:r>
            <a:r>
              <a:rPr lang="en-US" sz="2400" b="1" dirty="0" err="1">
                <a:solidFill>
                  <a:srgbClr val="1F497D">
                    <a:lumMod val="20000"/>
                    <a:lumOff val="80000"/>
                  </a:srgbClr>
                </a:solidFill>
                <a:latin typeface="Rockwell Extra Bold" pitchFamily="18" charset="0"/>
                <a:cs typeface="Arial" pitchFamily="34" charset="0"/>
              </a:rPr>
              <a:t>Phosphatase</a:t>
            </a:r>
            <a:endParaRPr lang="en-US" sz="3200" b="1" dirty="0">
              <a:solidFill>
                <a:srgbClr val="1F497D">
                  <a:lumMod val="20000"/>
                  <a:lumOff val="80000"/>
                </a:srgbClr>
              </a:solidFill>
              <a:latin typeface="Rockwell Extra Bold" pitchFamily="18" charset="0"/>
              <a:cs typeface="Arial" pitchFamily="34" charset="0"/>
            </a:endParaRPr>
          </a:p>
        </p:txBody>
      </p:sp>
      <p:sp>
        <p:nvSpPr>
          <p:cNvPr id="6" name="Rectangle 5"/>
          <p:cNvSpPr/>
          <p:nvPr/>
        </p:nvSpPr>
        <p:spPr>
          <a:xfrm>
            <a:off x="1066800" y="838200"/>
            <a:ext cx="7467600" cy="2308324"/>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Oldest and most commonly used since it is very robust and cheap</a:t>
            </a:r>
          </a:p>
          <a:p>
            <a:pPr marL="457200" indent="-457200">
              <a:buFont typeface="Wingdings" pitchFamily="2" charset="2"/>
              <a:buChar char="§"/>
            </a:pPr>
            <a:r>
              <a:rPr lang="en-US" sz="2400" dirty="0">
                <a:solidFill>
                  <a:srgbClr val="1F497D">
                    <a:lumMod val="20000"/>
                    <a:lumOff val="80000"/>
                  </a:srgbClr>
                </a:solidFill>
                <a:latin typeface="Calibri" pitchFamily="34" charset="0"/>
              </a:rPr>
              <a:t>Often used to prevent re-closure of ends of a vector digested with restriction enzymes</a:t>
            </a:r>
          </a:p>
          <a:p>
            <a:pPr marL="457200" indent="-457200">
              <a:buFont typeface="Wingdings" pitchFamily="2" charset="2"/>
              <a:buChar char="§"/>
            </a:pPr>
            <a:r>
              <a:rPr lang="en-US" sz="2400" dirty="0">
                <a:solidFill>
                  <a:srgbClr val="1F497D">
                    <a:lumMod val="20000"/>
                    <a:lumOff val="80000"/>
                  </a:srgbClr>
                </a:solidFill>
                <a:latin typeface="Calibri" pitchFamily="34" charset="0"/>
              </a:rPr>
              <a:t>Can also be used to destroy </a:t>
            </a:r>
            <a:r>
              <a:rPr lang="en-US" sz="2400" dirty="0" err="1">
                <a:solidFill>
                  <a:srgbClr val="1F497D">
                    <a:lumMod val="20000"/>
                    <a:lumOff val="80000"/>
                  </a:srgbClr>
                </a:solidFill>
                <a:latin typeface="Calibri" pitchFamily="34" charset="0"/>
              </a:rPr>
              <a:t>dNTPs</a:t>
            </a:r>
            <a:r>
              <a:rPr lang="en-US" sz="2400" dirty="0">
                <a:solidFill>
                  <a:srgbClr val="1F497D">
                    <a:lumMod val="20000"/>
                    <a:lumOff val="80000"/>
                  </a:srgbClr>
                </a:solidFill>
                <a:latin typeface="Calibri" pitchFamily="34" charset="0"/>
              </a:rPr>
              <a:t> in a reaction mixture</a:t>
            </a:r>
          </a:p>
        </p:txBody>
      </p:sp>
      <p:sp>
        <p:nvSpPr>
          <p:cNvPr id="5" name="TextBox 4"/>
          <p:cNvSpPr txBox="1">
            <a:spLocks noChangeArrowheads="1"/>
          </p:cNvSpPr>
          <p:nvPr/>
        </p:nvSpPr>
        <p:spPr bwMode="auto">
          <a:xfrm>
            <a:off x="685800" y="3301425"/>
            <a:ext cx="5943600" cy="461665"/>
          </a:xfrm>
          <a:prstGeom prst="rect">
            <a:avLst/>
          </a:prstGeom>
          <a:noFill/>
          <a:ln w="9525">
            <a:noFill/>
            <a:miter lim="800000"/>
            <a:headEnd/>
            <a:tailEnd/>
          </a:ln>
        </p:spPr>
        <p:txBody>
          <a:bodyPr wrap="square">
            <a:spAutoFit/>
          </a:bodyPr>
          <a:lstStyle/>
          <a:p>
            <a:r>
              <a:rPr lang="en-US" sz="2400" b="1" dirty="0">
                <a:solidFill>
                  <a:srgbClr val="1F497D">
                    <a:lumMod val="20000"/>
                    <a:lumOff val="80000"/>
                  </a:srgbClr>
                </a:solidFill>
                <a:latin typeface="Rockwell Extra Bold" pitchFamily="18" charset="0"/>
                <a:cs typeface="Arial" pitchFamily="34" charset="0"/>
              </a:rPr>
              <a:t>Shrimp Alkaline </a:t>
            </a:r>
            <a:r>
              <a:rPr lang="en-US" sz="2400" b="1" dirty="0" err="1">
                <a:solidFill>
                  <a:srgbClr val="1F497D">
                    <a:lumMod val="20000"/>
                    <a:lumOff val="80000"/>
                  </a:srgbClr>
                </a:solidFill>
                <a:latin typeface="Rockwell Extra Bold" pitchFamily="18" charset="0"/>
                <a:cs typeface="Arial" pitchFamily="34" charset="0"/>
              </a:rPr>
              <a:t>Phosphatase</a:t>
            </a:r>
            <a:endParaRPr lang="en-US" sz="3200" b="1" dirty="0">
              <a:solidFill>
                <a:srgbClr val="1F497D">
                  <a:lumMod val="20000"/>
                  <a:lumOff val="80000"/>
                </a:srgbClr>
              </a:solidFill>
              <a:latin typeface="Rockwell Extra Bold" pitchFamily="18" charset="0"/>
              <a:cs typeface="Arial" pitchFamily="34" charset="0"/>
            </a:endParaRPr>
          </a:p>
        </p:txBody>
      </p:sp>
      <p:sp>
        <p:nvSpPr>
          <p:cNvPr id="8" name="Rectangle 7"/>
          <p:cNvSpPr/>
          <p:nvPr/>
        </p:nvSpPr>
        <p:spPr>
          <a:xfrm>
            <a:off x="1066800" y="3787676"/>
            <a:ext cx="7467600" cy="830997"/>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Can be easily heat-killed</a:t>
            </a:r>
          </a:p>
          <a:p>
            <a:pPr marL="457200" indent="-457200">
              <a:buFont typeface="Wingdings" pitchFamily="2" charset="2"/>
              <a:buChar char="§"/>
            </a:pPr>
            <a:r>
              <a:rPr lang="en-US" sz="2400" dirty="0">
                <a:solidFill>
                  <a:srgbClr val="1F497D">
                    <a:lumMod val="20000"/>
                    <a:lumOff val="80000"/>
                  </a:srgbClr>
                </a:solidFill>
                <a:latin typeface="Calibri" pitchFamily="34" charset="0"/>
              </a:rPr>
              <a:t>Used for </a:t>
            </a:r>
            <a:r>
              <a:rPr lang="en-US" sz="2400" dirty="0" err="1">
                <a:solidFill>
                  <a:srgbClr val="1F497D">
                    <a:lumMod val="20000"/>
                    <a:lumOff val="80000"/>
                  </a:srgbClr>
                </a:solidFill>
                <a:latin typeface="Calibri" pitchFamily="34" charset="0"/>
              </a:rPr>
              <a:t>exo</a:t>
            </a:r>
            <a:r>
              <a:rPr lang="en-US" sz="2400" dirty="0">
                <a:solidFill>
                  <a:srgbClr val="1F497D">
                    <a:lumMod val="20000"/>
                    <a:lumOff val="80000"/>
                  </a:srgbClr>
                </a:solidFill>
                <a:latin typeface="Calibri" pitchFamily="34" charset="0"/>
              </a:rPr>
              <a:t>-SAP sequencing</a:t>
            </a:r>
          </a:p>
        </p:txBody>
      </p:sp>
      <p:sp>
        <p:nvSpPr>
          <p:cNvPr id="9" name="TextBox 8"/>
          <p:cNvSpPr txBox="1">
            <a:spLocks noChangeArrowheads="1"/>
          </p:cNvSpPr>
          <p:nvPr/>
        </p:nvSpPr>
        <p:spPr bwMode="auto">
          <a:xfrm>
            <a:off x="685800" y="4702552"/>
            <a:ext cx="5943600" cy="461665"/>
          </a:xfrm>
          <a:prstGeom prst="rect">
            <a:avLst/>
          </a:prstGeom>
          <a:noFill/>
          <a:ln w="9525">
            <a:noFill/>
            <a:miter lim="800000"/>
            <a:headEnd/>
            <a:tailEnd/>
          </a:ln>
        </p:spPr>
        <p:txBody>
          <a:bodyPr wrap="square">
            <a:spAutoFit/>
          </a:bodyPr>
          <a:lstStyle/>
          <a:p>
            <a:r>
              <a:rPr lang="en-US" sz="2400" b="1" dirty="0">
                <a:solidFill>
                  <a:srgbClr val="1F497D">
                    <a:lumMod val="20000"/>
                    <a:lumOff val="80000"/>
                  </a:srgbClr>
                </a:solidFill>
                <a:latin typeface="Rockwell Extra Bold" pitchFamily="18" charset="0"/>
                <a:cs typeface="Arial" pitchFamily="34" charset="0"/>
              </a:rPr>
              <a:t>Antarctic </a:t>
            </a:r>
            <a:r>
              <a:rPr lang="en-US" sz="2400" b="1" dirty="0" err="1">
                <a:solidFill>
                  <a:srgbClr val="1F497D">
                    <a:lumMod val="20000"/>
                    <a:lumOff val="80000"/>
                  </a:srgbClr>
                </a:solidFill>
                <a:latin typeface="Rockwell Extra Bold" pitchFamily="18" charset="0"/>
                <a:cs typeface="Arial" pitchFamily="34" charset="0"/>
              </a:rPr>
              <a:t>Phosphatase</a:t>
            </a:r>
            <a:endParaRPr lang="en-US" sz="3200" b="1" dirty="0">
              <a:solidFill>
                <a:srgbClr val="1F497D">
                  <a:lumMod val="20000"/>
                  <a:lumOff val="80000"/>
                </a:srgbClr>
              </a:solidFill>
              <a:latin typeface="Rockwell Extra Bold" pitchFamily="18" charset="0"/>
              <a:cs typeface="Arial" pitchFamily="34" charset="0"/>
            </a:endParaRPr>
          </a:p>
        </p:txBody>
      </p:sp>
      <p:sp>
        <p:nvSpPr>
          <p:cNvPr id="10" name="Rectangle 9"/>
          <p:cNvSpPr/>
          <p:nvPr/>
        </p:nvSpPr>
        <p:spPr>
          <a:xfrm>
            <a:off x="1066800" y="5188803"/>
            <a:ext cx="7467600" cy="830997"/>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A lot like SAP</a:t>
            </a:r>
          </a:p>
          <a:p>
            <a:pPr marL="457200" indent="-457200">
              <a:buFont typeface="Wingdings" pitchFamily="2" charset="2"/>
              <a:buChar char="§"/>
            </a:pPr>
            <a:r>
              <a:rPr lang="en-US" sz="2400" dirty="0">
                <a:solidFill>
                  <a:srgbClr val="1F497D">
                    <a:lumMod val="20000"/>
                    <a:lumOff val="80000"/>
                  </a:srgbClr>
                </a:solidFill>
                <a:latin typeface="Calibri" pitchFamily="34" charset="0"/>
              </a:rPr>
              <a:t>Claimed to be even more heat-killable</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b="1" dirty="0">
                <a:solidFill>
                  <a:srgbClr val="1F497D">
                    <a:lumMod val="20000"/>
                    <a:lumOff val="80000"/>
                  </a:srgbClr>
                </a:solidFill>
                <a:latin typeface="Rockwell Extra Bold" pitchFamily="18" charset="0"/>
                <a:cs typeface="Arial" pitchFamily="34" charset="0"/>
              </a:rPr>
              <a:t>T4 Polynucleotide </a:t>
            </a:r>
            <a:r>
              <a:rPr lang="en-US" sz="3200" b="1" dirty="0" err="1">
                <a:solidFill>
                  <a:srgbClr val="1F497D">
                    <a:lumMod val="20000"/>
                    <a:lumOff val="80000"/>
                  </a:srgbClr>
                </a:solidFill>
                <a:latin typeface="Rockwell Extra Bold" pitchFamily="18" charset="0"/>
                <a:cs typeface="Arial" pitchFamily="34" charset="0"/>
              </a:rPr>
              <a:t>Kinase</a:t>
            </a:r>
            <a:r>
              <a:rPr lang="en-US" sz="3200" b="1" dirty="0">
                <a:solidFill>
                  <a:srgbClr val="1F497D">
                    <a:lumMod val="20000"/>
                    <a:lumOff val="80000"/>
                  </a:srgbClr>
                </a:solidFill>
                <a:latin typeface="Rockwell Extra Bold" pitchFamily="18" charset="0"/>
                <a:cs typeface="Arial" pitchFamily="34" charset="0"/>
              </a:rPr>
              <a:t> (PNK)</a:t>
            </a:r>
          </a:p>
        </p:txBody>
      </p:sp>
      <p:sp>
        <p:nvSpPr>
          <p:cNvPr id="6" name="Rectangle 5"/>
          <p:cNvSpPr/>
          <p:nvPr/>
        </p:nvSpPr>
        <p:spPr>
          <a:xfrm>
            <a:off x="1066800" y="1143000"/>
            <a:ext cx="7924800" cy="3046988"/>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Transfers a single phosphate on the 5’ hydroxyl of an RNA or DNA</a:t>
            </a:r>
          </a:p>
          <a:p>
            <a:pPr marL="457200" indent="-457200">
              <a:buFont typeface="Wingdings" pitchFamily="2" charset="2"/>
              <a:buChar char="§"/>
            </a:pPr>
            <a:r>
              <a:rPr lang="en-US" sz="2400" dirty="0">
                <a:solidFill>
                  <a:srgbClr val="1F497D">
                    <a:lumMod val="20000"/>
                    <a:lumOff val="80000"/>
                  </a:srgbClr>
                </a:solidFill>
                <a:latin typeface="Calibri" pitchFamily="34" charset="0"/>
              </a:rPr>
              <a:t>Uses the gamma phosphate of ATP as a phosphate source</a:t>
            </a:r>
          </a:p>
          <a:p>
            <a:pPr marL="457200" indent="-457200">
              <a:buFont typeface="Wingdings" pitchFamily="2" charset="2"/>
              <a:buChar char="§"/>
            </a:pPr>
            <a:r>
              <a:rPr lang="en-US" sz="2400" dirty="0">
                <a:solidFill>
                  <a:srgbClr val="1F497D">
                    <a:lumMod val="20000"/>
                    <a:lumOff val="80000"/>
                  </a:srgbClr>
                </a:solidFill>
                <a:latin typeface="Calibri" pitchFamily="34" charset="0"/>
              </a:rPr>
              <a:t>Used on synthetic </a:t>
            </a:r>
            <a:r>
              <a:rPr lang="en-US" sz="2400" dirty="0" err="1">
                <a:solidFill>
                  <a:srgbClr val="1F497D">
                    <a:lumMod val="20000"/>
                    <a:lumOff val="80000"/>
                  </a:srgbClr>
                </a:solidFill>
                <a:latin typeface="Calibri" pitchFamily="34" charset="0"/>
              </a:rPr>
              <a:t>oligonucleotides</a:t>
            </a:r>
            <a:r>
              <a:rPr lang="en-US" sz="2400" dirty="0">
                <a:solidFill>
                  <a:srgbClr val="1F497D">
                    <a:lumMod val="20000"/>
                    <a:lumOff val="80000"/>
                  </a:srgbClr>
                </a:solidFill>
                <a:latin typeface="Calibri" pitchFamily="34" charset="0"/>
              </a:rPr>
              <a:t> so that they can be substrates for </a:t>
            </a:r>
            <a:r>
              <a:rPr lang="en-US" sz="2400" dirty="0" err="1">
                <a:solidFill>
                  <a:srgbClr val="1F497D">
                    <a:lumMod val="20000"/>
                    <a:lumOff val="80000"/>
                  </a:srgbClr>
                </a:solidFill>
                <a:latin typeface="Calibri" pitchFamily="34" charset="0"/>
              </a:rPr>
              <a:t>ligase</a:t>
            </a: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r>
              <a:rPr lang="en-US" sz="2400" dirty="0">
                <a:solidFill>
                  <a:srgbClr val="1F497D">
                    <a:lumMod val="20000"/>
                    <a:lumOff val="80000"/>
                  </a:srgbClr>
                </a:solidFill>
                <a:latin typeface="Calibri" pitchFamily="34" charset="0"/>
              </a:rPr>
              <a:t>Not efficient on double-stranded DNAs</a:t>
            </a:r>
          </a:p>
          <a:p>
            <a:pPr marL="457200" indent="-457200">
              <a:buFont typeface="Wingdings" pitchFamily="2" charset="2"/>
              <a:buChar char="§"/>
            </a:pPr>
            <a:r>
              <a:rPr lang="en-US" sz="2400" dirty="0">
                <a:solidFill>
                  <a:srgbClr val="1F497D">
                    <a:lumMod val="20000"/>
                    <a:lumOff val="80000"/>
                  </a:srgbClr>
                </a:solidFill>
                <a:latin typeface="Calibri" pitchFamily="34" charset="0"/>
              </a:rPr>
              <a:t>Also used for radioactive labeling of DNAs or RNAs using [gamma-P-32] ATP </a:t>
            </a:r>
          </a:p>
        </p:txBody>
      </p:sp>
      <p:pic>
        <p:nvPicPr>
          <p:cNvPr id="5" name="Picture 4" descr="atp.png"/>
          <p:cNvPicPr>
            <a:picLocks noChangeAspect="1"/>
          </p:cNvPicPr>
          <p:nvPr/>
        </p:nvPicPr>
        <p:blipFill>
          <a:blip r:embed="rId3" cstate="print"/>
          <a:stretch>
            <a:fillRect/>
          </a:stretch>
        </p:blipFill>
        <p:spPr>
          <a:xfrm>
            <a:off x="3352800" y="4165232"/>
            <a:ext cx="3555451" cy="2476485"/>
          </a:xfrm>
          <a:prstGeom prst="rect">
            <a:avLst/>
          </a:prstGeom>
        </p:spPr>
      </p:pic>
      <p:sp>
        <p:nvSpPr>
          <p:cNvPr id="8" name="Right Arrow 7"/>
          <p:cNvSpPr/>
          <p:nvPr/>
        </p:nvSpPr>
        <p:spPr>
          <a:xfrm rot="1869557">
            <a:off x="2668903" y="5003795"/>
            <a:ext cx="1066800" cy="304800"/>
          </a:xfrm>
          <a:prstGeom prst="rightArrow">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81374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4" cstate="print"/>
          <a:srcRect/>
          <a:stretch>
            <a:fillRect/>
          </a:stretch>
        </p:blipFill>
        <p:spPr bwMode="auto">
          <a:xfrm>
            <a:off x="0" y="0"/>
            <a:ext cx="9535618" cy="7022206"/>
          </a:xfrm>
          <a:prstGeom prst="rect">
            <a:avLst/>
          </a:prstGeom>
          <a:noFill/>
          <a:ln w="9525">
            <a:noFill/>
            <a:miter lim="800000"/>
            <a:headEnd/>
            <a:tailEnd/>
          </a:ln>
          <a:effectLst/>
        </p:spPr>
      </p:pic>
      <p:sp>
        <p:nvSpPr>
          <p:cNvPr id="3" name="Rectangle 2"/>
          <p:cNvSpPr/>
          <p:nvPr/>
        </p:nvSpPr>
        <p:spPr>
          <a:xfrm>
            <a:off x="1981200" y="40386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2355656" y="63246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5943600" y="35052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638800" y="10668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029200" y="2667000"/>
            <a:ext cx="5334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p:cNvSpPr/>
          <p:nvPr/>
        </p:nvSpPr>
        <p:spPr>
          <a:xfrm>
            <a:off x="304800" y="1981200"/>
            <a:ext cx="685800" cy="914400"/>
          </a:xfrm>
          <a:prstGeom prst="ellipse">
            <a:avLst/>
          </a:prstGeom>
          <a:solidFill>
            <a:srgbClr val="00B050">
              <a:alpha val="28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343400" y="6096000"/>
            <a:ext cx="4549643" cy="523220"/>
          </a:xfrm>
          <a:prstGeom prst="rect">
            <a:avLst/>
          </a:prstGeom>
        </p:spPr>
        <p:txBody>
          <a:bodyPr wrap="none">
            <a:spAutoFit/>
          </a:bodyPr>
          <a:lstStyle/>
          <a:p>
            <a:pPr lvl="0"/>
            <a:r>
              <a:rPr lang="mr-IN" sz="2800" dirty="0"/>
              <a:t>…</a:t>
            </a:r>
            <a:r>
              <a:rPr lang="en-US" sz="2800" dirty="0"/>
              <a:t>being added by T4 PNK?</a:t>
            </a:r>
          </a:p>
        </p:txBody>
      </p:sp>
      <p:pic>
        <p:nvPicPr>
          <p:cNvPr id="10" name="Picture 9" descr="ponder.png"/>
          <p:cNvPicPr>
            <a:picLocks noChangeAspect="1"/>
          </p:cNvPicPr>
          <p:nvPr/>
        </p:nvPicPr>
        <p:blipFill>
          <a:blip r:embed="rId5" cstate="print"/>
          <a:stretch>
            <a:fillRect/>
          </a:stretch>
        </p:blipFill>
        <p:spPr>
          <a:xfrm>
            <a:off x="221048" y="95107"/>
            <a:ext cx="573880" cy="824953"/>
          </a:xfrm>
          <a:prstGeom prst="rect">
            <a:avLst/>
          </a:prstGeom>
        </p:spPr>
      </p:pic>
      <p:sp>
        <p:nvSpPr>
          <p:cNvPr id="11" name="Rectangle 10"/>
          <p:cNvSpPr/>
          <p:nvPr/>
        </p:nvSpPr>
        <p:spPr>
          <a:xfrm>
            <a:off x="938173" y="273729"/>
            <a:ext cx="5146210" cy="646331"/>
          </a:xfrm>
          <a:prstGeom prst="rect">
            <a:avLst/>
          </a:prstGeom>
        </p:spPr>
        <p:txBody>
          <a:bodyPr wrap="none">
            <a:spAutoFit/>
          </a:bodyPr>
          <a:lstStyle/>
          <a:p>
            <a:pPr fontAlgn="auto">
              <a:spcBef>
                <a:spcPts val="0"/>
              </a:spcBef>
              <a:spcAft>
                <a:spcPts val="0"/>
              </a:spcAft>
            </a:pPr>
            <a:r>
              <a:rPr lang="en-US" sz="3600" dirty="0">
                <a:solidFill>
                  <a:prstClr val="black"/>
                </a:solidFill>
                <a:latin typeface="Calibri"/>
              </a:rPr>
              <a:t>Where is the phosphate</a:t>
            </a:r>
            <a:r>
              <a:rPr lang="mr-IN" sz="3600" dirty="0">
                <a:solidFill>
                  <a:prstClr val="black"/>
                </a:solidFill>
                <a:latin typeface="Calibri"/>
              </a:rPr>
              <a:t>…</a:t>
            </a:r>
            <a:endParaRPr lang="en-US" sz="3600" dirty="0">
              <a:solidFill>
                <a:prstClr val="black"/>
              </a:solidFill>
              <a:latin typeface="Calibri"/>
            </a:endParaRPr>
          </a:p>
        </p:txBody>
      </p:sp>
    </p:spTree>
    <p:custDataLst>
      <p:tags r:id="rId1"/>
    </p:custDataLst>
    <p:extLst>
      <p:ext uri="{BB962C8B-B14F-4D97-AF65-F5344CB8AC3E}">
        <p14:creationId xmlns:p14="http://schemas.microsoft.com/office/powerpoint/2010/main" val="4004369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1143000"/>
            <a:ext cx="9144000" cy="707886"/>
          </a:xfrm>
          <a:prstGeom prst="rect">
            <a:avLst/>
          </a:prstGeom>
          <a:noFill/>
          <a:ln w="9525">
            <a:noFill/>
            <a:miter lim="800000"/>
            <a:headEnd/>
            <a:tailEnd/>
          </a:ln>
        </p:spPr>
        <p:txBody>
          <a:bodyPr wrap="square">
            <a:spAutoFit/>
          </a:bodyPr>
          <a:lstStyle/>
          <a:p>
            <a:pPr algn="ctr"/>
            <a:r>
              <a:rPr lang="en-US" sz="4000" dirty="0" err="1">
                <a:solidFill>
                  <a:schemeClr val="bg1"/>
                </a:solidFill>
                <a:latin typeface="Rockwell Extra Bold" pitchFamily="18" charset="0"/>
                <a:cs typeface="Arial" pitchFamily="34" charset="0"/>
              </a:rPr>
              <a:t>Recombinases</a:t>
            </a:r>
            <a:endParaRPr lang="en-US" sz="4000" dirty="0">
              <a:solidFill>
                <a:schemeClr val="bg1"/>
              </a:solidFill>
              <a:latin typeface="Rockwell Extra Bold" pitchFamily="18" charset="0"/>
              <a:cs typeface="Arial" pitchFamily="34" charset="0"/>
            </a:endParaRPr>
          </a:p>
        </p:txBody>
      </p:sp>
      <p:sp>
        <p:nvSpPr>
          <p:cNvPr id="14" name="Rectangle 13"/>
          <p:cNvSpPr/>
          <p:nvPr/>
        </p:nvSpPr>
        <p:spPr>
          <a:xfrm>
            <a:off x="2971800" y="2133600"/>
            <a:ext cx="5791200" cy="830997"/>
          </a:xfrm>
          <a:prstGeom prst="rect">
            <a:avLst/>
          </a:prstGeom>
        </p:spPr>
        <p:txBody>
          <a:bodyPr wrap="square">
            <a:spAutoFit/>
          </a:bodyPr>
          <a:lstStyle/>
          <a:p>
            <a:pPr marL="457200" indent="-457200">
              <a:buFont typeface="Wingdings" pitchFamily="2" charset="2"/>
              <a:buChar char="§"/>
            </a:pPr>
            <a:r>
              <a:rPr lang="en-US" sz="2400" dirty="0">
                <a:solidFill>
                  <a:schemeClr val="bg1"/>
                </a:solidFill>
                <a:latin typeface="Calibri" pitchFamily="34" charset="0"/>
              </a:rPr>
              <a:t>Site-specific ones</a:t>
            </a:r>
          </a:p>
          <a:p>
            <a:pPr marL="457200" indent="-457200">
              <a:buFont typeface="Wingdings" pitchFamily="2" charset="2"/>
              <a:buChar char="§"/>
            </a:pPr>
            <a:r>
              <a:rPr lang="en-US" sz="2400" dirty="0">
                <a:solidFill>
                  <a:schemeClr val="bg1"/>
                </a:solidFill>
                <a:latin typeface="Calibri" pitchFamily="34" charset="0"/>
              </a:rPr>
              <a:t>Ones for homologous recombination</a:t>
            </a:r>
          </a:p>
        </p:txBody>
      </p:sp>
      <p:pic>
        <p:nvPicPr>
          <p:cNvPr id="7" name="Picture 6" descr="recombinase prototype.png"/>
          <p:cNvPicPr>
            <a:picLocks noChangeAspect="1"/>
          </p:cNvPicPr>
          <p:nvPr/>
        </p:nvPicPr>
        <p:blipFill>
          <a:blip r:embed="rId5" cstate="print"/>
          <a:stretch>
            <a:fillRect/>
          </a:stretch>
        </p:blipFill>
        <p:spPr>
          <a:xfrm>
            <a:off x="2743200" y="3124200"/>
            <a:ext cx="2958730" cy="3593651"/>
          </a:xfrm>
          <a:prstGeom prst="rect">
            <a:avLst/>
          </a:prstGeom>
        </p:spPr>
      </p:pic>
    </p:spTree>
    <p:custDataLst>
      <p:tags r:id="rId2"/>
    </p:custDataLst>
  </p:cSld>
  <p:clrMapOvr>
    <a:overrideClrMapping bg1="lt1" tx1="dk1" bg2="lt2" tx2="dk2" accent1="accent1" accent2="accent2" accent3="accent3" accent4="accent4" accent5="accent5" accent6="accent6" hlink="hlink" folHlink="folHlink"/>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b="1" dirty="0">
                <a:solidFill>
                  <a:srgbClr val="1F497D">
                    <a:lumMod val="20000"/>
                    <a:lumOff val="80000"/>
                  </a:srgbClr>
                </a:solidFill>
                <a:latin typeface="Rockwell Extra Bold" pitchFamily="18" charset="0"/>
                <a:cs typeface="Arial" pitchFamily="34" charset="0"/>
              </a:rPr>
              <a:t>Cre </a:t>
            </a:r>
            <a:r>
              <a:rPr lang="en-US" sz="3200" b="1" dirty="0" err="1">
                <a:solidFill>
                  <a:srgbClr val="1F497D">
                    <a:lumMod val="20000"/>
                    <a:lumOff val="80000"/>
                  </a:srgbClr>
                </a:solidFill>
                <a:latin typeface="Rockwell Extra Bold" pitchFamily="18" charset="0"/>
                <a:cs typeface="Arial" pitchFamily="34" charset="0"/>
              </a:rPr>
              <a:t>Recombinase</a:t>
            </a:r>
            <a:endParaRPr lang="en-US" sz="3200" b="1" dirty="0">
              <a:solidFill>
                <a:srgbClr val="1F497D">
                  <a:lumMod val="20000"/>
                  <a:lumOff val="80000"/>
                </a:srgbClr>
              </a:solidFill>
              <a:latin typeface="Rockwell Extra Bold" pitchFamily="18" charset="0"/>
              <a:cs typeface="Arial" pitchFamily="34" charset="0"/>
            </a:endParaRPr>
          </a:p>
        </p:txBody>
      </p:sp>
      <p:sp>
        <p:nvSpPr>
          <p:cNvPr id="6" name="Rectangle 5"/>
          <p:cNvSpPr/>
          <p:nvPr/>
        </p:nvSpPr>
        <p:spPr>
          <a:xfrm>
            <a:off x="1066800" y="990600"/>
            <a:ext cx="7924800" cy="1938992"/>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Recombines the Lox sequence:</a:t>
            </a:r>
          </a:p>
          <a:p>
            <a:r>
              <a:rPr lang="en-US" sz="2400" dirty="0">
                <a:solidFill>
                  <a:srgbClr val="1F497D">
                    <a:lumMod val="20000"/>
                    <a:lumOff val="80000"/>
                  </a:srgbClr>
                </a:solidFill>
                <a:latin typeface="Calibri" pitchFamily="34" charset="0"/>
              </a:rPr>
              <a:t>	ATAACTTCGTATA – ATGTATGC – TATACGAAGTTAT</a:t>
            </a:r>
          </a:p>
          <a:p>
            <a:pPr marL="457200" indent="-457200">
              <a:buFont typeface="Wingdings" pitchFamily="2" charset="2"/>
              <a:buChar char="§"/>
            </a:pPr>
            <a:r>
              <a:rPr lang="en-US" sz="2400" dirty="0">
                <a:solidFill>
                  <a:srgbClr val="1F497D">
                    <a:lumMod val="20000"/>
                    <a:lumOff val="80000"/>
                  </a:srgbClr>
                </a:solidFill>
                <a:latin typeface="Calibri" pitchFamily="34" charset="0"/>
              </a:rPr>
              <a:t>Parallel sites in a DNA result in excision</a:t>
            </a:r>
          </a:p>
          <a:p>
            <a:pPr marL="457200" indent="-457200">
              <a:buFont typeface="Wingdings" pitchFamily="2" charset="2"/>
              <a:buChar char="§"/>
            </a:pPr>
            <a:r>
              <a:rPr lang="en-US" sz="2400" dirty="0" err="1">
                <a:solidFill>
                  <a:srgbClr val="1F497D">
                    <a:lumMod val="20000"/>
                    <a:lumOff val="80000"/>
                  </a:srgbClr>
                </a:solidFill>
                <a:latin typeface="Calibri" pitchFamily="34" charset="0"/>
              </a:rPr>
              <a:t>Antiparallel</a:t>
            </a:r>
            <a:r>
              <a:rPr lang="en-US" sz="2400" dirty="0">
                <a:solidFill>
                  <a:srgbClr val="1F497D">
                    <a:lumMod val="20000"/>
                    <a:lumOff val="80000"/>
                  </a:srgbClr>
                </a:solidFill>
                <a:latin typeface="Calibri" pitchFamily="34" charset="0"/>
              </a:rPr>
              <a:t> sites result in inversion</a:t>
            </a:r>
          </a:p>
          <a:p>
            <a:pPr marL="457200" indent="-457200">
              <a:buFont typeface="Wingdings" pitchFamily="2" charset="2"/>
              <a:buChar char="§"/>
            </a:pPr>
            <a:r>
              <a:rPr lang="en-US" sz="2400" dirty="0">
                <a:solidFill>
                  <a:srgbClr val="1F497D">
                    <a:lumMod val="20000"/>
                    <a:lumOff val="80000"/>
                  </a:srgbClr>
                </a:solidFill>
                <a:latin typeface="Calibri" pitchFamily="34" charset="0"/>
              </a:rPr>
              <a:t>Often used for “</a:t>
            </a:r>
            <a:r>
              <a:rPr lang="en-US" sz="2400" dirty="0" err="1">
                <a:solidFill>
                  <a:srgbClr val="1F497D">
                    <a:lumMod val="20000"/>
                    <a:lumOff val="80000"/>
                  </a:srgbClr>
                </a:solidFill>
                <a:latin typeface="Calibri" pitchFamily="34" charset="0"/>
              </a:rPr>
              <a:t>floxing</a:t>
            </a:r>
            <a:r>
              <a:rPr lang="en-US" sz="2400" dirty="0">
                <a:solidFill>
                  <a:srgbClr val="1F497D">
                    <a:lumMod val="20000"/>
                    <a:lumOff val="80000"/>
                  </a:srgbClr>
                </a:solidFill>
                <a:latin typeface="Calibri" pitchFamily="34" charset="0"/>
              </a:rPr>
              <a:t>” a gene</a:t>
            </a:r>
          </a:p>
        </p:txBody>
      </p:sp>
      <p:cxnSp>
        <p:nvCxnSpPr>
          <p:cNvPr id="5" name="Straight Connector 4"/>
          <p:cNvCxnSpPr/>
          <p:nvPr/>
        </p:nvCxnSpPr>
        <p:spPr>
          <a:xfrm>
            <a:off x="838200" y="3352800"/>
            <a:ext cx="29718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8" name="Right Arrow 7"/>
          <p:cNvSpPr/>
          <p:nvPr/>
        </p:nvSpPr>
        <p:spPr>
          <a:xfrm>
            <a:off x="990600" y="3200400"/>
            <a:ext cx="381000" cy="304800"/>
          </a:xfrm>
          <a:prstGeom prst="rightArrow">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3276600" y="3200400"/>
            <a:ext cx="381000" cy="304800"/>
          </a:xfrm>
          <a:prstGeom prst="rightArrow">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1752600" y="2971800"/>
            <a:ext cx="1066800" cy="685800"/>
          </a:xfrm>
          <a:prstGeom prst="rightArrow">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rot="5400000">
            <a:off x="2058194" y="4190206"/>
            <a:ext cx="457200" cy="1588"/>
          </a:xfrm>
          <a:prstGeom prst="straightConnector1">
            <a:avLst/>
          </a:prstGeom>
          <a:ln w="38100">
            <a:solidFill>
              <a:schemeClr val="tx2">
                <a:lumMod val="20000"/>
                <a:lumOff val="8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295400" y="5181600"/>
            <a:ext cx="16764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3" name="Right Arrow 12"/>
          <p:cNvSpPr/>
          <p:nvPr/>
        </p:nvSpPr>
        <p:spPr>
          <a:xfrm>
            <a:off x="2057400" y="5029200"/>
            <a:ext cx="381000" cy="304800"/>
          </a:xfrm>
          <a:prstGeom prst="rightArrow">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p:nvPr/>
        </p:nvCxnSpPr>
        <p:spPr>
          <a:xfrm>
            <a:off x="4876800" y="3352800"/>
            <a:ext cx="29718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5" name="Right Arrow 14"/>
          <p:cNvSpPr/>
          <p:nvPr/>
        </p:nvSpPr>
        <p:spPr>
          <a:xfrm>
            <a:off x="5029200" y="3200400"/>
            <a:ext cx="381000" cy="304800"/>
          </a:xfrm>
          <a:prstGeom prst="rightArrow">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p:cNvSpPr/>
          <p:nvPr/>
        </p:nvSpPr>
        <p:spPr>
          <a:xfrm flipH="1">
            <a:off x="7315200" y="3200400"/>
            <a:ext cx="381000" cy="304800"/>
          </a:xfrm>
          <a:prstGeom prst="rightArrow">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p:cNvSpPr/>
          <p:nvPr/>
        </p:nvSpPr>
        <p:spPr>
          <a:xfrm>
            <a:off x="5791200" y="2971800"/>
            <a:ext cx="1066800" cy="685800"/>
          </a:xfrm>
          <a:prstGeom prst="rightArrow">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p:nvPr/>
        </p:nvCxnSpPr>
        <p:spPr>
          <a:xfrm rot="5400000">
            <a:off x="6096794" y="4190206"/>
            <a:ext cx="457200" cy="1588"/>
          </a:xfrm>
          <a:prstGeom prst="straightConnector1">
            <a:avLst/>
          </a:prstGeom>
          <a:ln w="38100">
            <a:solidFill>
              <a:schemeClr val="tx2">
                <a:lumMod val="20000"/>
                <a:lumOff val="8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876800" y="5181600"/>
            <a:ext cx="2971800" cy="1588"/>
          </a:xfrm>
          <a:prstGeom prst="line">
            <a:avLst/>
          </a:prstGeom>
          <a:ln w="381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0" name="Right Arrow 19"/>
          <p:cNvSpPr/>
          <p:nvPr/>
        </p:nvSpPr>
        <p:spPr>
          <a:xfrm>
            <a:off x="5029200" y="5029200"/>
            <a:ext cx="381000" cy="304800"/>
          </a:xfrm>
          <a:prstGeom prst="rightArrow">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p:cNvSpPr/>
          <p:nvPr/>
        </p:nvSpPr>
        <p:spPr>
          <a:xfrm flipH="1">
            <a:off x="7315200" y="5029200"/>
            <a:ext cx="381000" cy="304800"/>
          </a:xfrm>
          <a:prstGeom prst="rightArrow">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p:cNvSpPr/>
          <p:nvPr/>
        </p:nvSpPr>
        <p:spPr>
          <a:xfrm flipH="1">
            <a:off x="5791200" y="4800600"/>
            <a:ext cx="1066800" cy="685800"/>
          </a:xfrm>
          <a:prstGeom prst="rightArrow">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066800" y="5798403"/>
            <a:ext cx="7924800" cy="830997"/>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Many similar systems exist including the </a:t>
            </a:r>
            <a:r>
              <a:rPr lang="en-US" sz="2400" dirty="0" err="1">
                <a:solidFill>
                  <a:srgbClr val="1F497D">
                    <a:lumMod val="20000"/>
                    <a:lumOff val="80000"/>
                  </a:srgbClr>
                </a:solidFill>
                <a:latin typeface="Calibri" pitchFamily="34" charset="0"/>
              </a:rPr>
              <a:t>Flp</a:t>
            </a:r>
            <a:r>
              <a:rPr lang="en-US" sz="2400" dirty="0">
                <a:solidFill>
                  <a:srgbClr val="1F497D">
                    <a:lumMod val="20000"/>
                    <a:lumOff val="80000"/>
                  </a:srgbClr>
                </a:solidFill>
                <a:latin typeface="Calibri" pitchFamily="34" charset="0"/>
              </a:rPr>
              <a:t>/FRT and </a:t>
            </a:r>
            <a:r>
              <a:rPr lang="en-US" sz="2400" dirty="0" err="1">
                <a:solidFill>
                  <a:srgbClr val="1F497D">
                    <a:lumMod val="20000"/>
                    <a:lumOff val="80000"/>
                  </a:srgbClr>
                </a:solidFill>
                <a:latin typeface="Calibri" pitchFamily="34" charset="0"/>
              </a:rPr>
              <a:t>Hin</a:t>
            </a:r>
            <a:r>
              <a:rPr lang="en-US" sz="2400" dirty="0">
                <a:solidFill>
                  <a:srgbClr val="1F497D">
                    <a:lumMod val="20000"/>
                    <a:lumOff val="80000"/>
                  </a:srgbClr>
                </a:solidFill>
                <a:latin typeface="Calibri" pitchFamily="34" charset="0"/>
              </a:rPr>
              <a:t>/</a:t>
            </a:r>
            <a:r>
              <a:rPr lang="en-US" sz="2400" dirty="0" err="1">
                <a:solidFill>
                  <a:srgbClr val="1F497D">
                    <a:lumMod val="20000"/>
                    <a:lumOff val="80000"/>
                  </a:srgbClr>
                </a:solidFill>
                <a:latin typeface="Calibri" pitchFamily="34" charset="0"/>
              </a:rPr>
              <a:t>hix</a:t>
            </a:r>
            <a:r>
              <a:rPr lang="en-US" sz="2400" dirty="0">
                <a:solidFill>
                  <a:srgbClr val="1F497D">
                    <a:lumMod val="20000"/>
                    <a:lumOff val="80000"/>
                  </a:srgbClr>
                </a:solidFill>
                <a:latin typeface="Calibri" pitchFamily="34" charset="0"/>
              </a:rPr>
              <a:t> systems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b="1" dirty="0">
                <a:solidFill>
                  <a:srgbClr val="1F497D">
                    <a:lumMod val="20000"/>
                    <a:lumOff val="80000"/>
                  </a:srgbClr>
                </a:solidFill>
                <a:latin typeface="Rockwell Extra Bold" pitchFamily="18" charset="0"/>
                <a:cs typeface="Arial" pitchFamily="34" charset="0"/>
              </a:rPr>
              <a:t>Phage </a:t>
            </a:r>
            <a:r>
              <a:rPr lang="en-US" sz="3200" b="1" i="1" dirty="0" err="1">
                <a:solidFill>
                  <a:srgbClr val="1F497D">
                    <a:lumMod val="20000"/>
                    <a:lumOff val="80000"/>
                  </a:srgbClr>
                </a:solidFill>
                <a:latin typeface="Rockwell Extra Bold" pitchFamily="18" charset="0"/>
                <a:cs typeface="Arial" pitchFamily="34" charset="0"/>
              </a:rPr>
              <a:t>att</a:t>
            </a:r>
            <a:r>
              <a:rPr lang="en-US" sz="3200" b="1" dirty="0">
                <a:solidFill>
                  <a:srgbClr val="1F497D">
                    <a:lumMod val="20000"/>
                    <a:lumOff val="80000"/>
                  </a:srgbClr>
                </a:solidFill>
                <a:latin typeface="Rockwell Extra Bold" pitchFamily="18" charset="0"/>
                <a:cs typeface="Arial" pitchFamily="34" charset="0"/>
              </a:rPr>
              <a:t> Sites</a:t>
            </a:r>
          </a:p>
        </p:txBody>
      </p:sp>
      <p:sp>
        <p:nvSpPr>
          <p:cNvPr id="6" name="Rectangle 5"/>
          <p:cNvSpPr/>
          <p:nvPr/>
        </p:nvSpPr>
        <p:spPr>
          <a:xfrm>
            <a:off x="3733800" y="990600"/>
            <a:ext cx="5257800" cy="4893647"/>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Most common from phi80, lambda, HK022, P21, P22, and phiC31 lysogenic and integrative phages</a:t>
            </a:r>
          </a:p>
          <a:p>
            <a:pPr marL="457200" indent="-457200">
              <a:buFont typeface="Wingdings" pitchFamily="2" charset="2"/>
              <a:buChar char="§"/>
            </a:pPr>
            <a:r>
              <a:rPr lang="en-US" sz="2400" dirty="0">
                <a:solidFill>
                  <a:srgbClr val="1F497D">
                    <a:lumMod val="20000"/>
                    <a:lumOff val="80000"/>
                  </a:srgbClr>
                </a:solidFill>
                <a:latin typeface="Calibri" pitchFamily="34" charset="0"/>
              </a:rPr>
              <a:t>The lox-like components are called </a:t>
            </a:r>
            <a:r>
              <a:rPr lang="en-US" sz="2400" i="1" dirty="0" err="1">
                <a:solidFill>
                  <a:srgbClr val="1F497D">
                    <a:lumMod val="20000"/>
                    <a:lumOff val="80000"/>
                  </a:srgbClr>
                </a:solidFill>
                <a:latin typeface="Calibri" pitchFamily="34" charset="0"/>
              </a:rPr>
              <a:t>att</a:t>
            </a:r>
            <a:r>
              <a:rPr lang="en-US" sz="2400" dirty="0">
                <a:solidFill>
                  <a:srgbClr val="1F497D">
                    <a:lumMod val="20000"/>
                    <a:lumOff val="80000"/>
                  </a:srgbClr>
                </a:solidFill>
                <a:latin typeface="Calibri" pitchFamily="34" charset="0"/>
              </a:rPr>
              <a:t> sites, but much longer</a:t>
            </a:r>
          </a:p>
          <a:p>
            <a:pPr marL="457200" indent="-457200">
              <a:buFont typeface="Wingdings" pitchFamily="2" charset="2"/>
              <a:buChar char="§"/>
            </a:pPr>
            <a:r>
              <a:rPr lang="en-US" sz="2400" dirty="0">
                <a:solidFill>
                  <a:srgbClr val="1F497D">
                    <a:lumMod val="20000"/>
                    <a:lumOff val="80000"/>
                  </a:srgbClr>
                </a:solidFill>
                <a:latin typeface="Calibri" pitchFamily="34" charset="0"/>
              </a:rPr>
              <a:t>The cre-like components are called </a:t>
            </a:r>
            <a:r>
              <a:rPr lang="en-US" sz="2400" dirty="0" err="1">
                <a:solidFill>
                  <a:srgbClr val="1F497D">
                    <a:lumMod val="20000"/>
                    <a:lumOff val="80000"/>
                  </a:srgbClr>
                </a:solidFill>
                <a:latin typeface="Calibri" pitchFamily="34" charset="0"/>
              </a:rPr>
              <a:t>Int</a:t>
            </a:r>
            <a:r>
              <a:rPr lang="en-US" sz="2400" dirty="0">
                <a:solidFill>
                  <a:srgbClr val="1F497D">
                    <a:lumMod val="20000"/>
                    <a:lumOff val="80000"/>
                  </a:srgbClr>
                </a:solidFill>
                <a:latin typeface="Calibri" pitchFamily="34" charset="0"/>
              </a:rPr>
              <a:t> </a:t>
            </a:r>
            <a:r>
              <a:rPr lang="en-US" sz="2400" dirty="0" err="1">
                <a:solidFill>
                  <a:srgbClr val="1F497D">
                    <a:lumMod val="20000"/>
                    <a:lumOff val="80000"/>
                  </a:srgbClr>
                </a:solidFill>
                <a:latin typeface="Calibri" pitchFamily="34" charset="0"/>
              </a:rPr>
              <a:t>recombinases</a:t>
            </a:r>
            <a:r>
              <a:rPr lang="en-US" sz="2400" dirty="0">
                <a:solidFill>
                  <a:srgbClr val="1F497D">
                    <a:lumMod val="20000"/>
                    <a:lumOff val="80000"/>
                  </a:srgbClr>
                </a:solidFill>
                <a:latin typeface="Calibri" pitchFamily="34" charset="0"/>
              </a:rPr>
              <a:t> or </a:t>
            </a:r>
            <a:r>
              <a:rPr lang="en-US" sz="2400" dirty="0" err="1">
                <a:solidFill>
                  <a:srgbClr val="1F497D">
                    <a:lumMod val="20000"/>
                    <a:lumOff val="80000"/>
                  </a:srgbClr>
                </a:solidFill>
                <a:latin typeface="Calibri" pitchFamily="34" charset="0"/>
              </a:rPr>
              <a:t>integrases</a:t>
            </a:r>
            <a:endParaRPr lang="en-US" sz="2400" dirty="0">
              <a:solidFill>
                <a:srgbClr val="1F497D">
                  <a:lumMod val="20000"/>
                  <a:lumOff val="80000"/>
                </a:srgbClr>
              </a:solidFill>
              <a:latin typeface="Calibri" pitchFamily="34" charset="0"/>
            </a:endParaRPr>
          </a:p>
          <a:p>
            <a:pPr marL="457200" indent="-457200">
              <a:buFont typeface="Wingdings" pitchFamily="2" charset="2"/>
              <a:buChar char="§"/>
            </a:pPr>
            <a:r>
              <a:rPr lang="en-US" sz="2400" dirty="0">
                <a:solidFill>
                  <a:srgbClr val="1F497D">
                    <a:lumMod val="20000"/>
                    <a:lumOff val="80000"/>
                  </a:srgbClr>
                </a:solidFill>
                <a:latin typeface="Calibri" pitchFamily="34" charset="0"/>
              </a:rPr>
              <a:t>They also can include </a:t>
            </a:r>
            <a:r>
              <a:rPr lang="en-US" sz="2400" dirty="0" err="1">
                <a:solidFill>
                  <a:srgbClr val="1F497D">
                    <a:lumMod val="20000"/>
                    <a:lumOff val="80000"/>
                  </a:srgbClr>
                </a:solidFill>
                <a:latin typeface="Calibri" pitchFamily="34" charset="0"/>
              </a:rPr>
              <a:t>Xis</a:t>
            </a:r>
            <a:r>
              <a:rPr lang="en-US" sz="2400" dirty="0">
                <a:solidFill>
                  <a:srgbClr val="1F497D">
                    <a:lumMod val="20000"/>
                    <a:lumOff val="80000"/>
                  </a:srgbClr>
                </a:solidFill>
                <a:latin typeface="Calibri" pitchFamily="34" charset="0"/>
              </a:rPr>
              <a:t> protein which switches the preferred directionality</a:t>
            </a:r>
          </a:p>
          <a:p>
            <a:pPr marL="457200" indent="-457200">
              <a:buFont typeface="Wingdings" pitchFamily="2" charset="2"/>
              <a:buChar char="§"/>
            </a:pPr>
            <a:r>
              <a:rPr lang="en-US" sz="2400" dirty="0">
                <a:solidFill>
                  <a:srgbClr val="1F497D">
                    <a:lumMod val="20000"/>
                    <a:lumOff val="80000"/>
                  </a:srgbClr>
                </a:solidFill>
                <a:latin typeface="Calibri" pitchFamily="34" charset="0"/>
              </a:rPr>
              <a:t>Used for integrating DNAs into the genome</a:t>
            </a:r>
          </a:p>
          <a:p>
            <a:pPr marL="457200" indent="-457200">
              <a:buFont typeface="Wingdings" pitchFamily="2" charset="2"/>
              <a:buChar char="§"/>
            </a:pPr>
            <a:r>
              <a:rPr lang="en-US" sz="2400" dirty="0">
                <a:solidFill>
                  <a:srgbClr val="1F497D">
                    <a:lumMod val="20000"/>
                    <a:lumOff val="80000"/>
                  </a:srgbClr>
                </a:solidFill>
                <a:latin typeface="Calibri" pitchFamily="34" charset="0"/>
              </a:rPr>
              <a:t>Used in the Gateway reaction</a:t>
            </a:r>
          </a:p>
        </p:txBody>
      </p:sp>
      <p:pic>
        <p:nvPicPr>
          <p:cNvPr id="30" name="Picture 29" descr="gateway rxn.png"/>
          <p:cNvPicPr>
            <a:picLocks noChangeAspect="1"/>
          </p:cNvPicPr>
          <p:nvPr/>
        </p:nvPicPr>
        <p:blipFill>
          <a:blip r:embed="rId3" cstate="print"/>
          <a:stretch>
            <a:fillRect/>
          </a:stretch>
        </p:blipFill>
        <p:spPr>
          <a:xfrm>
            <a:off x="152400" y="1447800"/>
            <a:ext cx="3860318" cy="400000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0" y="304800"/>
            <a:ext cx="9144000" cy="584775"/>
          </a:xfrm>
          <a:prstGeom prst="rect">
            <a:avLst/>
          </a:prstGeom>
          <a:noFill/>
          <a:ln w="9525">
            <a:noFill/>
            <a:miter lim="800000"/>
            <a:headEnd/>
            <a:tailEnd/>
          </a:ln>
        </p:spPr>
        <p:txBody>
          <a:bodyPr wrap="square">
            <a:spAutoFit/>
          </a:bodyPr>
          <a:lstStyle/>
          <a:p>
            <a:pPr algn="ctr"/>
            <a:r>
              <a:rPr lang="en-US" sz="3200" b="1" dirty="0">
                <a:solidFill>
                  <a:srgbClr val="1F497D">
                    <a:lumMod val="20000"/>
                    <a:lumOff val="80000"/>
                  </a:srgbClr>
                </a:solidFill>
                <a:latin typeface="Rockwell Extra Bold" pitchFamily="18" charset="0"/>
                <a:cs typeface="Arial" pitchFamily="34" charset="0"/>
              </a:rPr>
              <a:t>Homologous Recombination</a:t>
            </a:r>
          </a:p>
        </p:txBody>
      </p:sp>
      <p:sp>
        <p:nvSpPr>
          <p:cNvPr id="5" name="Rectangle 4"/>
          <p:cNvSpPr/>
          <p:nvPr/>
        </p:nvSpPr>
        <p:spPr>
          <a:xfrm>
            <a:off x="1066800" y="1150203"/>
            <a:ext cx="7924800" cy="4893647"/>
          </a:xfrm>
          <a:prstGeom prst="rect">
            <a:avLst/>
          </a:prstGeom>
        </p:spPr>
        <p:txBody>
          <a:bodyPr wrap="square">
            <a:spAutoFit/>
          </a:bodyPr>
          <a:lstStyle/>
          <a:p>
            <a:pPr marL="457200" indent="-457200">
              <a:buFont typeface="Wingdings" pitchFamily="2" charset="2"/>
              <a:buChar char="§"/>
            </a:pPr>
            <a:r>
              <a:rPr lang="en-US" sz="2400" dirty="0">
                <a:solidFill>
                  <a:srgbClr val="1F497D">
                    <a:lumMod val="20000"/>
                    <a:lumOff val="80000"/>
                  </a:srgbClr>
                </a:solidFill>
                <a:latin typeface="Calibri" pitchFamily="34" charset="0"/>
              </a:rPr>
              <a:t>Yeast and </a:t>
            </a:r>
            <a:r>
              <a:rPr lang="en-US" sz="2400" i="1" dirty="0">
                <a:solidFill>
                  <a:srgbClr val="1F497D">
                    <a:lumMod val="20000"/>
                    <a:lumOff val="80000"/>
                  </a:srgbClr>
                </a:solidFill>
                <a:latin typeface="Calibri" pitchFamily="34" charset="0"/>
              </a:rPr>
              <a:t>B. </a:t>
            </a:r>
            <a:r>
              <a:rPr lang="en-US" sz="2400" i="1" dirty="0" err="1">
                <a:solidFill>
                  <a:srgbClr val="1F497D">
                    <a:lumMod val="20000"/>
                    <a:lumOff val="80000"/>
                  </a:srgbClr>
                </a:solidFill>
                <a:latin typeface="Calibri" pitchFamily="34" charset="0"/>
              </a:rPr>
              <a:t>subtilis</a:t>
            </a:r>
            <a:r>
              <a:rPr lang="en-US" sz="2400" dirty="0">
                <a:solidFill>
                  <a:srgbClr val="1F497D">
                    <a:lumMod val="20000"/>
                    <a:lumOff val="80000"/>
                  </a:srgbClr>
                </a:solidFill>
                <a:latin typeface="Calibri" pitchFamily="34" charset="0"/>
              </a:rPr>
              <a:t> readily catalyze homologous recombination</a:t>
            </a:r>
          </a:p>
          <a:p>
            <a:pPr marL="457200" indent="-457200">
              <a:buFont typeface="Wingdings" pitchFamily="2" charset="2"/>
              <a:buChar char="§"/>
            </a:pPr>
            <a:r>
              <a:rPr lang="en-US" sz="2400" i="1" dirty="0">
                <a:solidFill>
                  <a:srgbClr val="1F497D">
                    <a:lumMod val="20000"/>
                    <a:lumOff val="80000"/>
                  </a:srgbClr>
                </a:solidFill>
                <a:latin typeface="Calibri" pitchFamily="34" charset="0"/>
              </a:rPr>
              <a:t>E. coli</a:t>
            </a:r>
            <a:r>
              <a:rPr lang="en-US" sz="2400" dirty="0">
                <a:solidFill>
                  <a:srgbClr val="1F497D">
                    <a:lumMod val="20000"/>
                    <a:lumOff val="80000"/>
                  </a:srgbClr>
                </a:solidFill>
                <a:latin typeface="Calibri" pitchFamily="34" charset="0"/>
              </a:rPr>
              <a:t> requires additional genes for it to be efficient</a:t>
            </a:r>
          </a:p>
          <a:p>
            <a:pPr marL="457200" indent="-457200">
              <a:buFont typeface="Wingdings" pitchFamily="2" charset="2"/>
              <a:buChar char="§"/>
            </a:pPr>
            <a:r>
              <a:rPr lang="en-US" sz="2400" dirty="0">
                <a:solidFill>
                  <a:srgbClr val="1F497D">
                    <a:lumMod val="20000"/>
                    <a:lumOff val="80000"/>
                  </a:srgbClr>
                </a:solidFill>
                <a:latin typeface="Calibri" pitchFamily="34" charset="0"/>
              </a:rPr>
              <a:t>The lambda Red genes (from lambda phage) are one such set of genes</a:t>
            </a:r>
          </a:p>
          <a:p>
            <a:pPr marL="457200" indent="-457200">
              <a:buFont typeface="Wingdings" pitchFamily="2" charset="2"/>
              <a:buChar char="§"/>
            </a:pPr>
            <a:r>
              <a:rPr lang="en-US" sz="2400" dirty="0">
                <a:solidFill>
                  <a:srgbClr val="1F497D">
                    <a:lumMod val="20000"/>
                    <a:lumOff val="80000"/>
                  </a:srgbClr>
                </a:solidFill>
                <a:latin typeface="Calibri" pitchFamily="34" charset="0"/>
              </a:rPr>
              <a:t>Used for “</a:t>
            </a:r>
            <a:r>
              <a:rPr lang="en-US" sz="2400" dirty="0" err="1">
                <a:solidFill>
                  <a:srgbClr val="1F497D">
                    <a:lumMod val="20000"/>
                    <a:lumOff val="80000"/>
                  </a:srgbClr>
                </a:solidFill>
                <a:latin typeface="Calibri" pitchFamily="34" charset="0"/>
              </a:rPr>
              <a:t>recombineering</a:t>
            </a:r>
            <a:r>
              <a:rPr lang="en-US" sz="2400" dirty="0">
                <a:solidFill>
                  <a:srgbClr val="1F497D">
                    <a:lumMod val="20000"/>
                    <a:lumOff val="80000"/>
                  </a:srgbClr>
                </a:solidFill>
                <a:latin typeface="Calibri" pitchFamily="34" charset="0"/>
              </a:rPr>
              <a:t>” which is recombination-based manipulation of the genome or plasmids in </a:t>
            </a:r>
            <a:r>
              <a:rPr lang="en-US" sz="2400" i="1" dirty="0">
                <a:solidFill>
                  <a:srgbClr val="1F497D">
                    <a:lumMod val="20000"/>
                    <a:lumOff val="80000"/>
                  </a:srgbClr>
                </a:solidFill>
                <a:latin typeface="Calibri" pitchFamily="34" charset="0"/>
              </a:rPr>
              <a:t>E. coli</a:t>
            </a:r>
          </a:p>
          <a:p>
            <a:pPr marL="457200" indent="-457200">
              <a:buFont typeface="Wingdings" pitchFamily="2" charset="2"/>
              <a:buChar char="§"/>
            </a:pPr>
            <a:r>
              <a:rPr lang="en-US" sz="2400" dirty="0">
                <a:solidFill>
                  <a:srgbClr val="1F497D">
                    <a:lumMod val="20000"/>
                    <a:lumOff val="80000"/>
                  </a:srgbClr>
                </a:solidFill>
                <a:latin typeface="Calibri" pitchFamily="34" charset="0"/>
              </a:rPr>
              <a:t>Often used for knocking out genes in </a:t>
            </a:r>
            <a:r>
              <a:rPr lang="en-US" sz="2400" i="1" dirty="0">
                <a:solidFill>
                  <a:srgbClr val="1F497D">
                    <a:lumMod val="20000"/>
                    <a:lumOff val="80000"/>
                  </a:srgbClr>
                </a:solidFill>
                <a:latin typeface="Calibri" pitchFamily="34" charset="0"/>
              </a:rPr>
              <a:t>E. coli</a:t>
            </a:r>
          </a:p>
          <a:p>
            <a:pPr marL="457200" indent="-457200">
              <a:buFont typeface="Wingdings" pitchFamily="2" charset="2"/>
              <a:buChar char="§"/>
            </a:pPr>
            <a:r>
              <a:rPr lang="en-US" sz="2400" dirty="0">
                <a:solidFill>
                  <a:srgbClr val="1F497D">
                    <a:lumMod val="20000"/>
                    <a:lumOff val="80000"/>
                  </a:srgbClr>
                </a:solidFill>
                <a:latin typeface="Calibri" pitchFamily="34" charset="0"/>
              </a:rPr>
              <a:t>Endogenous </a:t>
            </a:r>
            <a:r>
              <a:rPr lang="en-US" sz="2400" dirty="0" err="1">
                <a:solidFill>
                  <a:srgbClr val="1F497D">
                    <a:lumMod val="20000"/>
                    <a:lumOff val="80000"/>
                  </a:srgbClr>
                </a:solidFill>
                <a:latin typeface="Calibri" pitchFamily="34" charset="0"/>
              </a:rPr>
              <a:t>RecA</a:t>
            </a:r>
            <a:r>
              <a:rPr lang="en-US" sz="2400" dirty="0">
                <a:solidFill>
                  <a:srgbClr val="1F497D">
                    <a:lumMod val="20000"/>
                    <a:lumOff val="80000"/>
                  </a:srgbClr>
                </a:solidFill>
                <a:latin typeface="Calibri" pitchFamily="34" charset="0"/>
              </a:rPr>
              <a:t> protein is also involved in the reaction</a:t>
            </a:r>
          </a:p>
          <a:p>
            <a:pPr marL="457200" indent="-457200">
              <a:buFont typeface="Wingdings" pitchFamily="2" charset="2"/>
              <a:buChar char="§"/>
            </a:pPr>
            <a:r>
              <a:rPr lang="en-US" sz="2400" dirty="0" err="1">
                <a:solidFill>
                  <a:srgbClr val="1F497D">
                    <a:lumMod val="20000"/>
                    <a:lumOff val="80000"/>
                  </a:srgbClr>
                </a:solidFill>
                <a:latin typeface="Calibri" pitchFamily="34" charset="0"/>
              </a:rPr>
              <a:t>RecA</a:t>
            </a:r>
            <a:r>
              <a:rPr lang="en-US" sz="2400" dirty="0">
                <a:solidFill>
                  <a:srgbClr val="1F497D">
                    <a:lumMod val="20000"/>
                    <a:lumOff val="80000"/>
                  </a:srgbClr>
                </a:solidFill>
                <a:latin typeface="Calibri" pitchFamily="34" charset="0"/>
              </a:rPr>
              <a:t> is a protein involved in DNA repair pathways that stabilizes single-stranded DNAs</a:t>
            </a:r>
          </a:p>
          <a:p>
            <a:pPr marL="457200" indent="-457200">
              <a:buFont typeface="Wingdings" pitchFamily="2" charset="2"/>
              <a:buChar char="§"/>
            </a:pPr>
            <a:r>
              <a:rPr lang="en-US" sz="2400" dirty="0" err="1">
                <a:solidFill>
                  <a:srgbClr val="1F497D">
                    <a:lumMod val="20000"/>
                    <a:lumOff val="80000"/>
                  </a:srgbClr>
                </a:solidFill>
                <a:latin typeface="Calibri" pitchFamily="34" charset="0"/>
              </a:rPr>
              <a:t>RecA</a:t>
            </a:r>
            <a:r>
              <a:rPr lang="en-US" sz="2400" dirty="0">
                <a:solidFill>
                  <a:srgbClr val="1F497D">
                    <a:lumMod val="20000"/>
                    <a:lumOff val="80000"/>
                  </a:srgbClr>
                </a:solidFill>
                <a:latin typeface="Calibri" pitchFamily="34" charset="0"/>
              </a:rPr>
              <a:t> can also be used to promote homologous recombination </a:t>
            </a:r>
            <a:r>
              <a:rPr lang="en-US" sz="2400" i="1" dirty="0">
                <a:solidFill>
                  <a:srgbClr val="1F497D">
                    <a:lumMod val="20000"/>
                    <a:lumOff val="80000"/>
                  </a:srgbClr>
                </a:solidFill>
                <a:latin typeface="Calibri" pitchFamily="34" charset="0"/>
              </a:rPr>
              <a:t>in vitro</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sp>
        <p:nvSpPr>
          <p:cNvPr id="4" name="TextBox 3"/>
          <p:cNvSpPr txBox="1"/>
          <p:nvPr/>
        </p:nvSpPr>
        <p:spPr>
          <a:xfrm>
            <a:off x="912872" y="2198470"/>
            <a:ext cx="7742633" cy="1015663"/>
          </a:xfrm>
          <a:prstGeom prst="rect">
            <a:avLst/>
          </a:prstGeom>
          <a:noFill/>
        </p:spPr>
        <p:txBody>
          <a:bodyPr wrap="square" rtlCol="0">
            <a:spAutoFit/>
          </a:bodyPr>
          <a:lstStyle/>
          <a:p>
            <a:pPr defTabSz="457200" fontAlgn="auto">
              <a:spcBef>
                <a:spcPts val="0"/>
              </a:spcBef>
              <a:spcAft>
                <a:spcPts val="0"/>
              </a:spcAft>
            </a:pPr>
            <a:r>
              <a:rPr lang="en-US" sz="6000" b="1" dirty="0">
                <a:solidFill>
                  <a:prstClr val="white"/>
                </a:solidFill>
                <a:latin typeface="Arial"/>
                <a:cs typeface="Arial"/>
              </a:rPr>
              <a:t>Questions?</a:t>
            </a:r>
          </a:p>
        </p:txBody>
      </p:sp>
    </p:spTree>
    <p:extLst>
      <p:ext uri="{BB962C8B-B14F-4D97-AF65-F5344CB8AC3E}">
        <p14:creationId xmlns:p14="http://schemas.microsoft.com/office/powerpoint/2010/main" val="7400069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TextBox 3"/>
          <p:cNvSpPr txBox="1"/>
          <p:nvPr/>
        </p:nvSpPr>
        <p:spPr>
          <a:xfrm>
            <a:off x="711939" y="2152471"/>
            <a:ext cx="7742633" cy="1200329"/>
          </a:xfrm>
          <a:prstGeom prst="rect">
            <a:avLst/>
          </a:prstGeom>
          <a:noFill/>
        </p:spPr>
        <p:txBody>
          <a:bodyPr wrap="square" rtlCol="0">
            <a:spAutoFit/>
          </a:bodyPr>
          <a:lstStyle/>
          <a:p>
            <a:pPr algn="ctr" defTabSz="457200" fontAlgn="auto">
              <a:spcBef>
                <a:spcPts val="0"/>
              </a:spcBef>
              <a:spcAft>
                <a:spcPts val="0"/>
              </a:spcAft>
            </a:pPr>
            <a:r>
              <a:rPr lang="en-US" sz="7200" b="1" dirty="0">
                <a:solidFill>
                  <a:prstClr val="white"/>
                </a:solidFill>
                <a:latin typeface="Arial"/>
                <a:cs typeface="Arial"/>
              </a:rPr>
              <a:t>All-Hands</a:t>
            </a:r>
          </a:p>
        </p:txBody>
      </p:sp>
    </p:spTree>
    <p:extLst>
      <p:ext uri="{BB962C8B-B14F-4D97-AF65-F5344CB8AC3E}">
        <p14:creationId xmlns:p14="http://schemas.microsoft.com/office/powerpoint/2010/main" val="15720678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a:spLocks noChangeArrowheads="1"/>
          </p:cNvSpPr>
          <p:nvPr/>
        </p:nvSpPr>
        <p:spPr bwMode="auto">
          <a:xfrm>
            <a:off x="304800" y="130314"/>
            <a:ext cx="8610600" cy="646331"/>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effectLst/>
                <a:uLnTx/>
                <a:uFillTx/>
                <a:latin typeface="Calibri"/>
                <a:ea typeface="+mn-ea"/>
                <a:cs typeface="Calibri"/>
              </a:rPr>
              <a:t>Office Hours</a:t>
            </a:r>
          </a:p>
        </p:txBody>
      </p:sp>
      <p:sp>
        <p:nvSpPr>
          <p:cNvPr id="4" name="Text Box 7">
            <a:extLst>
              <a:ext uri="{FF2B5EF4-FFF2-40B4-BE49-F238E27FC236}">
                <a16:creationId xmlns:a16="http://schemas.microsoft.com/office/drawing/2014/main" id="{5DE346E3-0155-8A48-8C4C-BCAF6556FB09}"/>
              </a:ext>
            </a:extLst>
          </p:cNvPr>
          <p:cNvSpPr txBox="1">
            <a:spLocks noChangeArrowheads="1"/>
          </p:cNvSpPr>
          <p:nvPr/>
        </p:nvSpPr>
        <p:spPr bwMode="auto">
          <a:xfrm>
            <a:off x="914400" y="1219200"/>
            <a:ext cx="7848600" cy="3477875"/>
          </a:xfrm>
          <a:prstGeom prst="rect">
            <a:avLst/>
          </a:prstGeom>
          <a:noFill/>
          <a:ln w="9525">
            <a:noFill/>
            <a:miter lim="800000"/>
            <a:headEnd/>
            <a:tailEnd/>
          </a:ln>
          <a:effectLst/>
        </p:spPr>
        <p:txBody>
          <a:bodyPr wrap="square">
            <a:spAutoFit/>
          </a:bodyPr>
          <a:lstStyle/>
          <a:p>
            <a:pPr fontAlgn="auto">
              <a:spcBef>
                <a:spcPts val="0"/>
              </a:spcBef>
              <a:spcAft>
                <a:spcPts val="0"/>
              </a:spcAft>
              <a:tabLst>
                <a:tab pos="455613" algn="l"/>
              </a:tabLst>
            </a:pPr>
            <a:r>
              <a:rPr lang="en-US" sz="2000" dirty="0">
                <a:latin typeface="Calibri" pitchFamily="34" charset="0"/>
              </a:rPr>
              <a:t>You are welcome to come ask questions during MWF 2-4 lab times</a:t>
            </a:r>
          </a:p>
          <a:p>
            <a:pPr marL="457200" indent="-457200" fontAlgn="auto">
              <a:spcBef>
                <a:spcPts val="0"/>
              </a:spcBef>
              <a:spcAft>
                <a:spcPts val="0"/>
              </a:spcAft>
              <a:buFont typeface="Wingdings" pitchFamily="2" charset="2"/>
              <a:buChar char="§"/>
              <a:tabLst>
                <a:tab pos="455613" algn="l"/>
              </a:tabLst>
            </a:pPr>
            <a:endParaRPr lang="en-US" sz="2000" dirty="0">
              <a:latin typeface="Calibri" pitchFamily="34" charset="0"/>
            </a:endParaRPr>
          </a:p>
          <a:p>
            <a:pPr fontAlgn="auto">
              <a:spcBef>
                <a:spcPts val="0"/>
              </a:spcBef>
              <a:spcAft>
                <a:spcPts val="0"/>
              </a:spcAft>
              <a:tabLst>
                <a:tab pos="455613" algn="l"/>
              </a:tabLst>
            </a:pPr>
            <a:r>
              <a:rPr lang="en-US" sz="2000" dirty="0">
                <a:latin typeface="Calibri" pitchFamily="34" charset="0"/>
              </a:rPr>
              <a:t>JCA:  </a:t>
            </a:r>
          </a:p>
          <a:p>
            <a:pPr marL="914400" lvl="1" indent="-457200" fontAlgn="auto">
              <a:spcBef>
                <a:spcPts val="0"/>
              </a:spcBef>
              <a:spcAft>
                <a:spcPts val="0"/>
              </a:spcAft>
              <a:buFont typeface="Wingdings" pitchFamily="2" charset="2"/>
              <a:buChar char="§"/>
              <a:tabLst>
                <a:tab pos="455613" algn="l"/>
              </a:tabLst>
            </a:pPr>
            <a:r>
              <a:rPr lang="en-US" sz="2000" dirty="0">
                <a:latin typeface="Calibri" pitchFamily="34" charset="0"/>
              </a:rPr>
              <a:t>TBD</a:t>
            </a:r>
          </a:p>
          <a:p>
            <a:pPr marL="914400" lvl="1" indent="-457200" fontAlgn="auto">
              <a:spcBef>
                <a:spcPts val="0"/>
              </a:spcBef>
              <a:spcAft>
                <a:spcPts val="0"/>
              </a:spcAft>
              <a:buFont typeface="Wingdings" pitchFamily="2" charset="2"/>
              <a:buChar char="§"/>
              <a:tabLst>
                <a:tab pos="455613" algn="l"/>
              </a:tabLst>
            </a:pPr>
            <a:r>
              <a:rPr lang="en-US" sz="2000" dirty="0">
                <a:latin typeface="Calibri" pitchFamily="34" charset="0"/>
              </a:rPr>
              <a:t>Weds 6-7 pm on Zoom (https://</a:t>
            </a:r>
            <a:r>
              <a:rPr lang="en-US" sz="2000" dirty="0" err="1">
                <a:latin typeface="Calibri" pitchFamily="34" charset="0"/>
              </a:rPr>
              <a:t>berkeley.zoom.us</a:t>
            </a:r>
            <a:r>
              <a:rPr lang="en-US" sz="2000" dirty="0">
                <a:latin typeface="Calibri" pitchFamily="34" charset="0"/>
              </a:rPr>
              <a:t>/j/4183308053)</a:t>
            </a:r>
          </a:p>
          <a:p>
            <a:pPr fontAlgn="auto">
              <a:spcBef>
                <a:spcPts val="0"/>
              </a:spcBef>
              <a:spcAft>
                <a:spcPts val="0"/>
              </a:spcAft>
              <a:tabLst>
                <a:tab pos="455613" algn="l"/>
              </a:tabLst>
            </a:pPr>
            <a:endParaRPr lang="en-US" sz="2000" dirty="0">
              <a:latin typeface="Calibri" pitchFamily="34" charset="0"/>
            </a:endParaRPr>
          </a:p>
          <a:p>
            <a:pPr fontAlgn="auto">
              <a:spcBef>
                <a:spcPts val="0"/>
              </a:spcBef>
              <a:spcAft>
                <a:spcPts val="0"/>
              </a:spcAft>
              <a:tabLst>
                <a:tab pos="455613" algn="l"/>
              </a:tabLst>
            </a:pPr>
            <a:r>
              <a:rPr lang="en-US" sz="2000" dirty="0">
                <a:latin typeface="Calibri" pitchFamily="34" charset="0"/>
              </a:rPr>
              <a:t>Javad:  TBD</a:t>
            </a:r>
          </a:p>
          <a:p>
            <a:pPr fontAlgn="auto">
              <a:spcBef>
                <a:spcPts val="0"/>
              </a:spcBef>
              <a:spcAft>
                <a:spcPts val="0"/>
              </a:spcAft>
              <a:tabLst>
                <a:tab pos="455613" algn="l"/>
              </a:tabLst>
            </a:pPr>
            <a:endParaRPr lang="en-US" sz="2000" dirty="0">
              <a:latin typeface="Calibri" pitchFamily="34" charset="0"/>
            </a:endParaRPr>
          </a:p>
          <a:p>
            <a:pPr fontAlgn="auto">
              <a:spcBef>
                <a:spcPts val="0"/>
              </a:spcBef>
              <a:spcAft>
                <a:spcPts val="0"/>
              </a:spcAft>
              <a:tabLst>
                <a:tab pos="455613" algn="l"/>
              </a:tabLst>
            </a:pPr>
            <a:endParaRPr lang="en-US" sz="2000" dirty="0">
              <a:latin typeface="Calibri" pitchFamily="34" charset="0"/>
            </a:endParaRPr>
          </a:p>
          <a:p>
            <a:pPr fontAlgn="auto">
              <a:spcBef>
                <a:spcPts val="0"/>
              </a:spcBef>
              <a:spcAft>
                <a:spcPts val="0"/>
              </a:spcAft>
              <a:tabLst>
                <a:tab pos="455613" algn="l"/>
              </a:tabLst>
            </a:pPr>
            <a:r>
              <a:rPr lang="en-US" sz="2000" dirty="0">
                <a:latin typeface="Calibri" pitchFamily="34" charset="0"/>
              </a:rPr>
              <a:t>If you have </a:t>
            </a:r>
            <a:r>
              <a:rPr lang="en-US" sz="2000" dirty="0" err="1">
                <a:latin typeface="Calibri" pitchFamily="34" charset="0"/>
              </a:rPr>
              <a:t>wetlab</a:t>
            </a:r>
            <a:r>
              <a:rPr lang="en-US" sz="2000" dirty="0">
                <a:latin typeface="Calibri" pitchFamily="34" charset="0"/>
              </a:rPr>
              <a:t> time conflicts, please contact </a:t>
            </a:r>
            <a:r>
              <a:rPr lang="en-US" sz="2000" dirty="0">
                <a:latin typeface="Calibri" pitchFamily="34" charset="0"/>
                <a:hlinkClick r:id="rId3"/>
              </a:rPr>
              <a:t>jcanderson@berkeley.edu</a:t>
            </a:r>
            <a:r>
              <a:rPr lang="en-US" sz="2000" dirty="0">
                <a:latin typeface="Calibri" pitchFamily="34" charset="0"/>
              </a:rPr>
              <a:t> ASAP</a:t>
            </a:r>
            <a:endParaRPr lang="en-US" sz="2000" dirty="0">
              <a:latin typeface="Calibri"/>
            </a:endParaRPr>
          </a:p>
        </p:txBody>
      </p:sp>
    </p:spTree>
    <p:extLst>
      <p:ext uri="{BB962C8B-B14F-4D97-AF65-F5344CB8AC3E}">
        <p14:creationId xmlns:p14="http://schemas.microsoft.com/office/powerpoint/2010/main" val="200000815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4E4B185-43C5-26EB-9EF3-AD1FF31E6CCA}"/>
              </a:ext>
            </a:extLst>
          </p:cNvPr>
          <p:cNvSpPr txBox="1">
            <a:spLocks noChangeArrowheads="1"/>
          </p:cNvSpPr>
          <p:nvPr/>
        </p:nvSpPr>
        <p:spPr bwMode="auto">
          <a:xfrm>
            <a:off x="304800" y="130314"/>
            <a:ext cx="8610600" cy="646331"/>
          </a:xfrm>
          <a:prstGeom prst="rect">
            <a:avLst/>
          </a:prstGeom>
          <a:noFill/>
          <a:ln w="9525">
            <a:noFill/>
            <a:miter lim="800000"/>
            <a:headEnd/>
            <a:tailEnd/>
          </a:ln>
        </p:spPr>
        <p:txBody>
          <a:bodyPr wrap="square">
            <a:spAutoFit/>
          </a:bodyPr>
          <a:lstStyle/>
          <a:p>
            <a:r>
              <a:rPr lang="en-US" sz="3600" dirty="0">
                <a:solidFill>
                  <a:srgbClr val="000000"/>
                </a:solidFill>
                <a:latin typeface="Calibri"/>
                <a:cs typeface="Calibri"/>
              </a:rPr>
              <a:t>Week 1 Assignments</a:t>
            </a:r>
          </a:p>
        </p:txBody>
      </p:sp>
      <p:pic>
        <p:nvPicPr>
          <p:cNvPr id="10" name="Picture 9">
            <a:extLst>
              <a:ext uri="{FF2B5EF4-FFF2-40B4-BE49-F238E27FC236}">
                <a16:creationId xmlns:a16="http://schemas.microsoft.com/office/drawing/2014/main" id="{CEE7EDB0-E15B-EE35-9390-7636DF59232C}"/>
              </a:ext>
            </a:extLst>
          </p:cNvPr>
          <p:cNvPicPr>
            <a:picLocks noChangeAspect="1"/>
          </p:cNvPicPr>
          <p:nvPr/>
        </p:nvPicPr>
        <p:blipFill>
          <a:blip r:embed="rId3"/>
          <a:stretch>
            <a:fillRect/>
          </a:stretch>
        </p:blipFill>
        <p:spPr>
          <a:xfrm>
            <a:off x="685800" y="1330452"/>
            <a:ext cx="7772400" cy="4197096"/>
          </a:xfrm>
          <a:prstGeom prst="rect">
            <a:avLst/>
          </a:prstGeom>
        </p:spPr>
      </p:pic>
    </p:spTree>
    <p:extLst>
      <p:ext uri="{BB962C8B-B14F-4D97-AF65-F5344CB8AC3E}">
        <p14:creationId xmlns:p14="http://schemas.microsoft.com/office/powerpoint/2010/main" val="220901056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p:cNvSpPr txBox="1">
            <a:spLocks noChangeArrowheads="1"/>
          </p:cNvSpPr>
          <p:nvPr/>
        </p:nvSpPr>
        <p:spPr bwMode="auto">
          <a:xfrm>
            <a:off x="304800" y="130314"/>
            <a:ext cx="8610600" cy="646331"/>
          </a:xfrm>
          <a:prstGeom prst="rect">
            <a:avLst/>
          </a:prstGeom>
          <a:noFill/>
          <a:ln w="9525">
            <a:noFill/>
            <a:miter lim="800000"/>
            <a:headEnd/>
            <a:tailEnd/>
          </a:ln>
        </p:spPr>
        <p:txBody>
          <a:bodyPr wrap="square">
            <a:spAutoFit/>
          </a:bodyPr>
          <a:lstStyle/>
          <a:p>
            <a:pPr fontAlgn="auto">
              <a:spcBef>
                <a:spcPts val="0"/>
              </a:spcBef>
              <a:spcAft>
                <a:spcPts val="0"/>
              </a:spcAft>
            </a:pPr>
            <a:r>
              <a:rPr lang="en-US" sz="3600" dirty="0">
                <a:solidFill>
                  <a:srgbClr val="000000"/>
                </a:solidFill>
                <a:latin typeface="Calibri"/>
                <a:cs typeface="Calibri"/>
              </a:rPr>
              <a:t>Week 2 Assignments</a:t>
            </a:r>
          </a:p>
        </p:txBody>
      </p:sp>
      <p:sp>
        <p:nvSpPr>
          <p:cNvPr id="2" name="Rectangle 1">
            <a:extLst>
              <a:ext uri="{FF2B5EF4-FFF2-40B4-BE49-F238E27FC236}">
                <a16:creationId xmlns:a16="http://schemas.microsoft.com/office/drawing/2014/main" id="{B6617AF0-C672-F3E7-423A-C4952BEE1BF3}"/>
              </a:ext>
            </a:extLst>
          </p:cNvPr>
          <p:cNvSpPr/>
          <p:nvPr/>
        </p:nvSpPr>
        <p:spPr>
          <a:xfrm>
            <a:off x="2590800" y="3428998"/>
            <a:ext cx="2819400" cy="1524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Rectangle 3">
            <a:extLst>
              <a:ext uri="{FF2B5EF4-FFF2-40B4-BE49-F238E27FC236}">
                <a16:creationId xmlns:a16="http://schemas.microsoft.com/office/drawing/2014/main" id="{3B456A1C-5027-1680-EBAE-46B55B3B2051}"/>
              </a:ext>
            </a:extLst>
          </p:cNvPr>
          <p:cNvSpPr/>
          <p:nvPr/>
        </p:nvSpPr>
        <p:spPr>
          <a:xfrm>
            <a:off x="2895600" y="4267199"/>
            <a:ext cx="2971800" cy="1524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aphicFrame>
        <p:nvGraphicFramePr>
          <p:cNvPr id="5" name="Table 4">
            <a:extLst>
              <a:ext uri="{FF2B5EF4-FFF2-40B4-BE49-F238E27FC236}">
                <a16:creationId xmlns:a16="http://schemas.microsoft.com/office/drawing/2014/main" id="{8824ADA6-73A3-22C7-D831-FE9A1EECBBF3}"/>
              </a:ext>
            </a:extLst>
          </p:cNvPr>
          <p:cNvGraphicFramePr>
            <a:graphicFrameLocks noGrp="1"/>
          </p:cNvGraphicFramePr>
          <p:nvPr>
            <p:extLst>
              <p:ext uri="{D42A27DB-BD31-4B8C-83A1-F6EECF244321}">
                <p14:modId xmlns:p14="http://schemas.microsoft.com/office/powerpoint/2010/main" val="1812875779"/>
              </p:ext>
            </p:extLst>
          </p:nvPr>
        </p:nvGraphicFramePr>
        <p:xfrm>
          <a:off x="857250" y="5110619"/>
          <a:ext cx="7429500" cy="609600"/>
        </p:xfrm>
        <a:graphic>
          <a:graphicData uri="http://schemas.openxmlformats.org/drawingml/2006/table">
            <a:tbl>
              <a:tblPr>
                <a:tableStyleId>{5C22544A-7EE6-4342-B048-85BDC9FD1C3A}</a:tableStyleId>
              </a:tblPr>
              <a:tblGrid>
                <a:gridCol w="825500">
                  <a:extLst>
                    <a:ext uri="{9D8B030D-6E8A-4147-A177-3AD203B41FA5}">
                      <a16:colId xmlns:a16="http://schemas.microsoft.com/office/drawing/2014/main" val="2516597181"/>
                    </a:ext>
                  </a:extLst>
                </a:gridCol>
                <a:gridCol w="825500">
                  <a:extLst>
                    <a:ext uri="{9D8B030D-6E8A-4147-A177-3AD203B41FA5}">
                      <a16:colId xmlns:a16="http://schemas.microsoft.com/office/drawing/2014/main" val="622465172"/>
                    </a:ext>
                  </a:extLst>
                </a:gridCol>
                <a:gridCol w="825500">
                  <a:extLst>
                    <a:ext uri="{9D8B030D-6E8A-4147-A177-3AD203B41FA5}">
                      <a16:colId xmlns:a16="http://schemas.microsoft.com/office/drawing/2014/main" val="3193313564"/>
                    </a:ext>
                  </a:extLst>
                </a:gridCol>
                <a:gridCol w="825500">
                  <a:extLst>
                    <a:ext uri="{9D8B030D-6E8A-4147-A177-3AD203B41FA5}">
                      <a16:colId xmlns:a16="http://schemas.microsoft.com/office/drawing/2014/main" val="1327220376"/>
                    </a:ext>
                  </a:extLst>
                </a:gridCol>
                <a:gridCol w="825500">
                  <a:extLst>
                    <a:ext uri="{9D8B030D-6E8A-4147-A177-3AD203B41FA5}">
                      <a16:colId xmlns:a16="http://schemas.microsoft.com/office/drawing/2014/main" val="1060799328"/>
                    </a:ext>
                  </a:extLst>
                </a:gridCol>
                <a:gridCol w="825500">
                  <a:extLst>
                    <a:ext uri="{9D8B030D-6E8A-4147-A177-3AD203B41FA5}">
                      <a16:colId xmlns:a16="http://schemas.microsoft.com/office/drawing/2014/main" val="1957806633"/>
                    </a:ext>
                  </a:extLst>
                </a:gridCol>
                <a:gridCol w="825500">
                  <a:extLst>
                    <a:ext uri="{9D8B030D-6E8A-4147-A177-3AD203B41FA5}">
                      <a16:colId xmlns:a16="http://schemas.microsoft.com/office/drawing/2014/main" val="2212574233"/>
                    </a:ext>
                  </a:extLst>
                </a:gridCol>
                <a:gridCol w="825500">
                  <a:extLst>
                    <a:ext uri="{9D8B030D-6E8A-4147-A177-3AD203B41FA5}">
                      <a16:colId xmlns:a16="http://schemas.microsoft.com/office/drawing/2014/main" val="533667429"/>
                    </a:ext>
                  </a:extLst>
                </a:gridCol>
                <a:gridCol w="825500">
                  <a:extLst>
                    <a:ext uri="{9D8B030D-6E8A-4147-A177-3AD203B41FA5}">
                      <a16:colId xmlns:a16="http://schemas.microsoft.com/office/drawing/2014/main" val="669537274"/>
                    </a:ext>
                  </a:extLst>
                </a:gridCol>
              </a:tblGrid>
              <a:tr h="203200">
                <a:tc>
                  <a:txBody>
                    <a:bodyPr/>
                    <a:lstStyle/>
                    <a:p>
                      <a:pPr algn="l" fontAlgn="b"/>
                      <a:r>
                        <a:rPr lang="en-US" sz="1000" u="none" strike="noStrike">
                          <a:effectLst/>
                        </a:rPr>
                        <a:t>Week 2</a:t>
                      </a:r>
                      <a:endParaRPr lang="en-US" sz="1000" b="0" i="0" u="none" strike="noStrike">
                        <a:solidFill>
                          <a:srgbClr val="000000"/>
                        </a:solidFill>
                        <a:effectLst/>
                        <a:latin typeface="Arial" panose="020B0604020202020204" pitchFamily="34" charset="0"/>
                      </a:endParaRPr>
                    </a:p>
                  </a:txBody>
                  <a:tcPr marL="9525" marR="9525" marT="19050" marB="19050" anchor="b"/>
                </a:tc>
                <a:tc>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1000" u="none" strike="noStrike">
                          <a:effectLst/>
                        </a:rPr>
                        <a:t>Week 3</a:t>
                      </a:r>
                      <a:endParaRPr lang="en-US" sz="1000" b="0" i="0" u="none" strike="noStrike">
                        <a:solidFill>
                          <a:srgbClr val="000000"/>
                        </a:solidFill>
                        <a:effectLst/>
                        <a:latin typeface="Arial" panose="020B0604020202020204" pitchFamily="34" charset="0"/>
                      </a:endParaRPr>
                    </a:p>
                  </a:txBody>
                  <a:tcPr marL="9525" marR="9525" marT="19050" marB="19050" anchor="b"/>
                </a:tc>
                <a:tc>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19050" marB="19050" anchor="b"/>
                </a:tc>
                <a:tc>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1000" u="none" strike="noStrike">
                          <a:effectLst/>
                        </a:rPr>
                        <a:t>Week 4</a:t>
                      </a:r>
                      <a:endParaRPr lang="en-US" sz="1000" b="0" i="0" u="none" strike="noStrike">
                        <a:solidFill>
                          <a:srgbClr val="000000"/>
                        </a:solidFill>
                        <a:effectLst/>
                        <a:latin typeface="Arial" panose="020B0604020202020204" pitchFamily="34" charset="0"/>
                      </a:endParaRPr>
                    </a:p>
                  </a:txBody>
                  <a:tcPr marL="9525" marR="9525" marT="19050" marB="19050" anchor="b"/>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endParaRPr lang="en-US"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43126294"/>
                  </a:ext>
                </a:extLst>
              </a:tr>
              <a:tr h="203200">
                <a:tc>
                  <a:txBody>
                    <a:bodyPr/>
                    <a:lstStyle/>
                    <a:p>
                      <a:pPr algn="l" fontAlgn="b"/>
                      <a:r>
                        <a:rPr lang="en-US" sz="1000" u="none" strike="noStrike">
                          <a:effectLst/>
                        </a:rPr>
                        <a:t>M</a:t>
                      </a:r>
                      <a:endParaRPr lang="en-US" sz="1000" b="0" i="0" u="none" strike="noStrike">
                        <a:solidFill>
                          <a:srgbClr val="000000"/>
                        </a:solidFill>
                        <a:effectLst/>
                        <a:latin typeface="Arial" panose="020B0604020202020204" pitchFamily="34" charset="0"/>
                      </a:endParaRPr>
                    </a:p>
                  </a:txBody>
                  <a:tcPr marL="9525" marR="9525" marT="19050" marB="19050" anchor="b"/>
                </a:tc>
                <a:tc>
                  <a:txBody>
                    <a:bodyPr/>
                    <a:lstStyle/>
                    <a:p>
                      <a:pPr algn="l" fontAlgn="b"/>
                      <a:r>
                        <a:rPr lang="en-US" sz="1000" u="none" strike="noStrike">
                          <a:effectLst/>
                        </a:rPr>
                        <a:t>W</a:t>
                      </a:r>
                      <a:endParaRPr lang="en-US" sz="1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1000" u="none" strike="noStrike">
                          <a:effectLst/>
                        </a:rPr>
                        <a:t>F</a:t>
                      </a:r>
                      <a:endParaRPr lang="en-US" sz="1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1000" u="none" strike="noStrike">
                          <a:effectLst/>
                        </a:rPr>
                        <a:t>M</a:t>
                      </a:r>
                      <a:endParaRPr lang="en-US" sz="1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1000" u="none" strike="noStrike">
                          <a:effectLst/>
                        </a:rPr>
                        <a:t>W</a:t>
                      </a:r>
                      <a:endParaRPr lang="en-US" sz="1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1000" u="none" strike="noStrike">
                          <a:effectLst/>
                        </a:rPr>
                        <a:t>F</a:t>
                      </a:r>
                      <a:endParaRPr lang="en-US" sz="1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1000" u="none" strike="noStrike">
                          <a:effectLst/>
                        </a:rPr>
                        <a:t>M</a:t>
                      </a:r>
                      <a:endParaRPr lang="en-US" sz="1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1000" u="none" strike="noStrike">
                          <a:effectLst/>
                        </a:rPr>
                        <a:t>W</a:t>
                      </a:r>
                      <a:endParaRPr lang="en-US" sz="1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1000" u="none" strike="noStrike">
                          <a:effectLst/>
                        </a:rPr>
                        <a:t>F</a:t>
                      </a:r>
                      <a:endParaRPr lang="en-US" sz="10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048462757"/>
                  </a:ext>
                </a:extLst>
              </a:tr>
              <a:tr h="203200">
                <a:tc>
                  <a:txBody>
                    <a:bodyPr/>
                    <a:lstStyle/>
                    <a:p>
                      <a:pPr algn="l" fontAlgn="b"/>
                      <a:r>
                        <a:rPr lang="en-US" sz="1000" u="none" strike="noStrike">
                          <a:effectLst/>
                        </a:rPr>
                        <a:t>video/read</a:t>
                      </a:r>
                      <a:endParaRPr lang="en-US" sz="1000" b="0" i="0" u="none" strike="noStrike">
                        <a:solidFill>
                          <a:srgbClr val="000000"/>
                        </a:solidFill>
                        <a:effectLst/>
                        <a:latin typeface="Arial" panose="020B0604020202020204" pitchFamily="34" charset="0"/>
                      </a:endParaRPr>
                    </a:p>
                  </a:txBody>
                  <a:tcPr marL="9525" marR="9525" marT="19050" marB="19050" anchor="b"/>
                </a:tc>
                <a:tc>
                  <a:txBody>
                    <a:bodyPr/>
                    <a:lstStyle/>
                    <a:p>
                      <a:pPr algn="l" fontAlgn="b"/>
                      <a:r>
                        <a:rPr lang="en-US" sz="1000" u="none" strike="noStrike">
                          <a:effectLst/>
                        </a:rPr>
                        <a:t>PCR</a:t>
                      </a:r>
                      <a:endParaRPr lang="en-US" sz="1000" b="0" i="0" u="none" strike="noStrike">
                        <a:solidFill>
                          <a:srgbClr val="000000"/>
                        </a:solidFill>
                        <a:effectLst/>
                        <a:latin typeface="Arial" panose="020B0604020202020204" pitchFamily="34" charset="0"/>
                      </a:endParaRPr>
                    </a:p>
                  </a:txBody>
                  <a:tcPr marL="9525" marR="9525" marT="19050" marB="19050" anchor="b"/>
                </a:tc>
                <a:tc>
                  <a:txBody>
                    <a:bodyPr/>
                    <a:lstStyle/>
                    <a:p>
                      <a:pPr algn="l" fontAlgn="b"/>
                      <a:r>
                        <a:rPr lang="en-US" sz="1000" u="none" strike="noStrike">
                          <a:effectLst/>
                        </a:rPr>
                        <a:t>Gel/Zymo</a:t>
                      </a:r>
                      <a:endParaRPr lang="en-US" sz="1000" b="0" i="0" u="none" strike="noStrike">
                        <a:solidFill>
                          <a:srgbClr val="000000"/>
                        </a:solidFill>
                        <a:effectLst/>
                        <a:latin typeface="Arial" panose="020B0604020202020204" pitchFamily="34" charset="0"/>
                      </a:endParaRPr>
                    </a:p>
                  </a:txBody>
                  <a:tcPr marL="9525" marR="9525" marT="19050" marB="19050" anchor="b"/>
                </a:tc>
                <a:tc>
                  <a:txBody>
                    <a:bodyPr/>
                    <a:lstStyle/>
                    <a:p>
                      <a:pPr algn="l" fontAlgn="b"/>
                      <a:r>
                        <a:rPr lang="en-US" sz="1000" u="none" strike="noStrike">
                          <a:effectLst/>
                        </a:rPr>
                        <a:t>Assemble</a:t>
                      </a:r>
                      <a:endParaRPr lang="en-US" sz="1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1000" u="none" strike="noStrike">
                          <a:effectLst/>
                        </a:rPr>
                        <a:t>Transform</a:t>
                      </a:r>
                      <a:endParaRPr lang="en-US" sz="1000" b="0" i="0" u="none" strike="noStrike">
                        <a:solidFill>
                          <a:srgbClr val="000000"/>
                        </a:solidFill>
                        <a:effectLst/>
                        <a:latin typeface="Arial" panose="020B0604020202020204" pitchFamily="34" charset="0"/>
                      </a:endParaRPr>
                    </a:p>
                  </a:txBody>
                  <a:tcPr marL="9525" marR="9525" marT="19050" marB="19050" anchor="b"/>
                </a:tc>
                <a:tc>
                  <a:txBody>
                    <a:bodyPr/>
                    <a:lstStyle/>
                    <a:p>
                      <a:pPr algn="l" fontAlgn="b"/>
                      <a:r>
                        <a:rPr lang="en-US" sz="1000" u="none" strike="noStrike">
                          <a:effectLst/>
                        </a:rPr>
                        <a:t>Pick</a:t>
                      </a:r>
                      <a:endParaRPr lang="en-US" sz="1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1000" u="none" strike="noStrike">
                          <a:effectLst/>
                        </a:rPr>
                        <a:t>Miniprep</a:t>
                      </a:r>
                      <a:endParaRPr lang="en-US" sz="1000" b="0" i="0" u="none" strike="noStrike">
                        <a:solidFill>
                          <a:srgbClr val="000000"/>
                        </a:solidFill>
                        <a:effectLst/>
                        <a:latin typeface="Arial" panose="020B0604020202020204" pitchFamily="34" charset="0"/>
                      </a:endParaRPr>
                    </a:p>
                  </a:txBody>
                  <a:tcPr marL="9525" marR="9525" marT="19050" marB="19050" anchor="b"/>
                </a:tc>
                <a:tc>
                  <a:txBody>
                    <a:bodyPr/>
                    <a:lstStyle/>
                    <a:p>
                      <a:pPr algn="l" fontAlgn="b"/>
                      <a:r>
                        <a:rPr lang="en-US" sz="1000" u="none" strike="noStrike">
                          <a:effectLst/>
                        </a:rPr>
                        <a:t>Sequence</a:t>
                      </a:r>
                      <a:endParaRPr lang="en-US" sz="1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1000" u="none" strike="noStrike" dirty="0">
                          <a:effectLst/>
                        </a:rPr>
                        <a:t>Analyze</a:t>
                      </a:r>
                      <a:endParaRPr lang="en-US" sz="10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684927917"/>
                  </a:ext>
                </a:extLst>
              </a:tr>
            </a:tbl>
          </a:graphicData>
        </a:graphic>
      </p:graphicFrame>
      <p:pic>
        <p:nvPicPr>
          <p:cNvPr id="7" name="Picture 6">
            <a:extLst>
              <a:ext uri="{FF2B5EF4-FFF2-40B4-BE49-F238E27FC236}">
                <a16:creationId xmlns:a16="http://schemas.microsoft.com/office/drawing/2014/main" id="{C653C632-5088-AED2-C32D-81CED842B07A}"/>
              </a:ext>
            </a:extLst>
          </p:cNvPr>
          <p:cNvPicPr>
            <a:picLocks noChangeAspect="1"/>
          </p:cNvPicPr>
          <p:nvPr/>
        </p:nvPicPr>
        <p:blipFill>
          <a:blip r:embed="rId3"/>
          <a:stretch>
            <a:fillRect/>
          </a:stretch>
        </p:blipFill>
        <p:spPr>
          <a:xfrm>
            <a:off x="685800" y="2251030"/>
            <a:ext cx="7772400" cy="2355939"/>
          </a:xfrm>
          <a:prstGeom prst="rect">
            <a:avLst/>
          </a:prstGeom>
        </p:spPr>
      </p:pic>
    </p:spTree>
    <p:extLst>
      <p:ext uri="{BB962C8B-B14F-4D97-AF65-F5344CB8AC3E}">
        <p14:creationId xmlns:p14="http://schemas.microsoft.com/office/powerpoint/2010/main" val="341423264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4164C2-3A57-87CE-BADA-5A222578459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A5BE23C-2ABF-72D2-91B2-7AB40D6B44C9}"/>
              </a:ext>
            </a:extLst>
          </p:cNvPr>
          <p:cNvSpPr txBox="1">
            <a:spLocks noChangeArrowheads="1"/>
          </p:cNvSpPr>
          <p:nvPr/>
        </p:nvSpPr>
        <p:spPr bwMode="auto">
          <a:xfrm>
            <a:off x="304800" y="130314"/>
            <a:ext cx="8610600" cy="646331"/>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err="1">
                <a:ln>
                  <a:noFill/>
                </a:ln>
                <a:solidFill>
                  <a:srgbClr val="000000"/>
                </a:solidFill>
                <a:effectLst/>
                <a:uLnTx/>
                <a:uFillTx/>
                <a:latin typeface="Calibri"/>
                <a:ea typeface="+mn-ea"/>
                <a:cs typeface="Calibri"/>
              </a:rPr>
              <a:t>Wetlab</a:t>
            </a:r>
            <a:r>
              <a:rPr kumimoji="0" lang="en-US" sz="3600" b="0" i="0" u="none" strike="noStrike" kern="1200" cap="none" spc="0" normalizeH="0" baseline="0" noProof="0" dirty="0">
                <a:ln>
                  <a:noFill/>
                </a:ln>
                <a:solidFill>
                  <a:srgbClr val="000000"/>
                </a:solidFill>
                <a:effectLst/>
                <a:uLnTx/>
                <a:uFillTx/>
                <a:latin typeface="Calibri"/>
                <a:ea typeface="+mn-ea"/>
                <a:cs typeface="Calibri"/>
              </a:rPr>
              <a:t> logistics</a:t>
            </a:r>
          </a:p>
        </p:txBody>
      </p:sp>
      <p:sp>
        <p:nvSpPr>
          <p:cNvPr id="3" name="Text Box 7">
            <a:extLst>
              <a:ext uri="{FF2B5EF4-FFF2-40B4-BE49-F238E27FC236}">
                <a16:creationId xmlns:a16="http://schemas.microsoft.com/office/drawing/2014/main" id="{19C3D3FD-A9BA-F4B1-02DF-FA4D7CBB8787}"/>
              </a:ext>
            </a:extLst>
          </p:cNvPr>
          <p:cNvSpPr txBox="1">
            <a:spLocks noChangeArrowheads="1"/>
          </p:cNvSpPr>
          <p:nvPr/>
        </p:nvSpPr>
        <p:spPr bwMode="auto">
          <a:xfrm>
            <a:off x="914400" y="990600"/>
            <a:ext cx="7391400" cy="4093428"/>
          </a:xfrm>
          <a:prstGeom prst="rect">
            <a:avLst/>
          </a:prstGeom>
          <a:noFill/>
          <a:ln w="9525">
            <a:noFill/>
            <a:miter lim="800000"/>
            <a:headEnd/>
            <a:tailEnd/>
          </a:ln>
          <a:effectLst/>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itchFamily="2" charset="2"/>
              <a:buChar char="§"/>
              <a:tabLst>
                <a:tab pos="455613" algn="l"/>
              </a:tabLst>
              <a:defRPr/>
            </a:pPr>
            <a:r>
              <a:rPr kumimoji="0" lang="en-US" sz="2000" b="0" i="0" u="none" strike="noStrike" kern="1200" cap="none" spc="0" normalizeH="0" baseline="0" noProof="0" dirty="0">
                <a:ln>
                  <a:noFill/>
                </a:ln>
                <a:solidFill>
                  <a:prstClr val="black"/>
                </a:solidFill>
                <a:effectLst/>
                <a:uLnTx/>
                <a:uFillTx/>
                <a:latin typeface="Calibri" pitchFamily="34" charset="0"/>
                <a:ea typeface="+mn-ea"/>
                <a:cs typeface="Arial" charset="0"/>
              </a:rPr>
              <a:t>Finish your pipette training before starting the projects</a:t>
            </a:r>
          </a:p>
          <a:p>
            <a:pPr marL="0" marR="0" lvl="0" indent="0" algn="l" defTabSz="914400" rtl="0" eaLnBrk="1" fontAlgn="auto" latinLnBrk="0" hangingPunct="1">
              <a:lnSpc>
                <a:spcPct val="100000"/>
              </a:lnSpc>
              <a:spcBef>
                <a:spcPts val="0"/>
              </a:spcBef>
              <a:spcAft>
                <a:spcPts val="0"/>
              </a:spcAft>
              <a:buClrTx/>
              <a:buSzTx/>
              <a:buFontTx/>
              <a:buNone/>
              <a:tabLst>
                <a:tab pos="455613" algn="l"/>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Arial" charset="0"/>
            </a:endParaRPr>
          </a:p>
          <a:p>
            <a:pPr marL="457200" marR="0" lvl="0" indent="-457200" algn="l" defTabSz="914400" rtl="0" eaLnBrk="1" fontAlgn="auto" latinLnBrk="0" hangingPunct="1">
              <a:lnSpc>
                <a:spcPct val="100000"/>
              </a:lnSpc>
              <a:spcBef>
                <a:spcPts val="0"/>
              </a:spcBef>
              <a:spcAft>
                <a:spcPts val="0"/>
              </a:spcAft>
              <a:buClrTx/>
              <a:buSzTx/>
              <a:buFont typeface="Wingdings" pitchFamily="2" charset="2"/>
              <a:buChar char="§"/>
              <a:tabLst>
                <a:tab pos="455613" algn="l"/>
              </a:tabLst>
              <a:defRPr/>
            </a:pPr>
            <a:r>
              <a:rPr kumimoji="0" lang="en-US" sz="2000" b="0" i="0" u="none" strike="noStrike" kern="1200" cap="none" spc="0" normalizeH="0" baseline="0" noProof="0" dirty="0">
                <a:ln>
                  <a:noFill/>
                </a:ln>
                <a:solidFill>
                  <a:prstClr val="black"/>
                </a:solidFill>
                <a:effectLst/>
                <a:uLnTx/>
                <a:uFillTx/>
                <a:latin typeface="Calibri"/>
                <a:ea typeface="+mn-ea"/>
                <a:cs typeface="Arial" charset="0"/>
              </a:rPr>
              <a:t>You can begin using the scheduled </a:t>
            </a:r>
            <a:r>
              <a:rPr kumimoji="0" lang="en-US" sz="2000" b="0" i="0" u="none" strike="noStrike" kern="1200" cap="none" spc="0" normalizeH="0" baseline="0" noProof="0" dirty="0" err="1">
                <a:ln>
                  <a:noFill/>
                </a:ln>
                <a:solidFill>
                  <a:prstClr val="black"/>
                </a:solidFill>
                <a:effectLst/>
                <a:uLnTx/>
                <a:uFillTx/>
                <a:latin typeface="Calibri"/>
                <a:ea typeface="+mn-ea"/>
                <a:cs typeface="Arial" charset="0"/>
              </a:rPr>
              <a:t>wetlab</a:t>
            </a:r>
            <a:r>
              <a:rPr kumimoji="0" lang="en-US" sz="2000" b="0" i="0" u="none" strike="noStrike" kern="1200" cap="none" spc="0" normalizeH="0" baseline="0" noProof="0" dirty="0">
                <a:ln>
                  <a:noFill/>
                </a:ln>
                <a:solidFill>
                  <a:prstClr val="black"/>
                </a:solidFill>
                <a:effectLst/>
                <a:uLnTx/>
                <a:uFillTx/>
                <a:latin typeface="Calibri"/>
                <a:ea typeface="+mn-ea"/>
                <a:cs typeface="Arial" charset="0"/>
              </a:rPr>
              <a:t> sessions on Wed, 9/10</a:t>
            </a:r>
          </a:p>
          <a:p>
            <a:pPr marL="0" marR="0" lvl="0" indent="0" algn="l" defTabSz="914400" rtl="0" eaLnBrk="1" fontAlgn="auto" latinLnBrk="0" hangingPunct="1">
              <a:lnSpc>
                <a:spcPct val="100000"/>
              </a:lnSpc>
              <a:spcBef>
                <a:spcPts val="0"/>
              </a:spcBef>
              <a:spcAft>
                <a:spcPts val="0"/>
              </a:spcAft>
              <a:buClrTx/>
              <a:buSzTx/>
              <a:buFontTx/>
              <a:buNone/>
              <a:tabLst>
                <a:tab pos="455613" algn="l"/>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Arial" charset="0"/>
            </a:endParaRPr>
          </a:p>
          <a:p>
            <a:pPr marL="457200" marR="0" lvl="0" indent="-457200" algn="l" defTabSz="914400" rtl="0" eaLnBrk="1" fontAlgn="auto" latinLnBrk="0" hangingPunct="1">
              <a:lnSpc>
                <a:spcPct val="100000"/>
              </a:lnSpc>
              <a:spcBef>
                <a:spcPts val="0"/>
              </a:spcBef>
              <a:spcAft>
                <a:spcPts val="0"/>
              </a:spcAft>
              <a:buClrTx/>
              <a:buSzTx/>
              <a:buFont typeface="Wingdings" pitchFamily="2" charset="2"/>
              <a:buChar char="§"/>
              <a:tabLst>
                <a:tab pos="455613" algn="l"/>
              </a:tabLst>
              <a:defRPr/>
            </a:pPr>
            <a:r>
              <a:rPr kumimoji="0" lang="en-US" sz="2000" b="0" i="0" u="none" strike="noStrike" kern="1200" cap="none" spc="0" normalizeH="0" baseline="0" noProof="0" dirty="0">
                <a:ln>
                  <a:noFill/>
                </a:ln>
                <a:solidFill>
                  <a:prstClr val="black"/>
                </a:solidFill>
                <a:effectLst/>
                <a:uLnTx/>
                <a:uFillTx/>
                <a:latin typeface="Calibri"/>
                <a:ea typeface="+mn-ea"/>
                <a:cs typeface="Arial" charset="0"/>
              </a:rPr>
              <a:t>Follow the instructions in the Wetlab4 assignment</a:t>
            </a:r>
            <a:endParaRPr kumimoji="0" lang="en-US" sz="2000" b="0" i="0" u="none" strike="noStrike" kern="1200" cap="none" spc="0" normalizeH="0" baseline="0" noProof="0" dirty="0">
              <a:ln>
                <a:noFill/>
              </a:ln>
              <a:solidFill>
                <a:prstClr val="black"/>
              </a:solidFill>
              <a:effectLst/>
              <a:uLnTx/>
              <a:uFillTx/>
              <a:latin typeface="Arial" charset="0"/>
              <a:ea typeface="+mn-ea"/>
              <a:cs typeface="Arial" charset="0"/>
            </a:endParaRPr>
          </a:p>
          <a:p>
            <a:pPr marL="457200" marR="0" lvl="0" indent="-457200" algn="l" defTabSz="914400" rtl="0" eaLnBrk="1" fontAlgn="auto" latinLnBrk="0" hangingPunct="1">
              <a:lnSpc>
                <a:spcPct val="100000"/>
              </a:lnSpc>
              <a:spcBef>
                <a:spcPts val="0"/>
              </a:spcBef>
              <a:spcAft>
                <a:spcPts val="0"/>
              </a:spcAft>
              <a:buClrTx/>
              <a:buSzTx/>
              <a:buFont typeface="Wingdings" pitchFamily="2" charset="2"/>
              <a:buChar char="§"/>
              <a:tabLst>
                <a:tab pos="455613" algn="l"/>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Arial" charset="0"/>
            </a:endParaRPr>
          </a:p>
          <a:p>
            <a:pPr marL="457200" marR="0" lvl="0" indent="-457200" algn="l" defTabSz="914400" rtl="0" eaLnBrk="1" fontAlgn="auto" latinLnBrk="0" hangingPunct="1">
              <a:lnSpc>
                <a:spcPct val="100000"/>
              </a:lnSpc>
              <a:spcBef>
                <a:spcPts val="0"/>
              </a:spcBef>
              <a:spcAft>
                <a:spcPts val="0"/>
              </a:spcAft>
              <a:buClrTx/>
              <a:buSzTx/>
              <a:buFont typeface="Wingdings" pitchFamily="2" charset="2"/>
              <a:buChar char="§"/>
              <a:tabLst>
                <a:tab pos="455613" algn="l"/>
              </a:tabLst>
              <a:defRPr/>
            </a:pPr>
            <a:r>
              <a:rPr kumimoji="0" lang="en-US" sz="2000" b="0" i="0" u="none" strike="noStrike" kern="1200" cap="none" spc="0" normalizeH="0" baseline="0" noProof="0" dirty="0">
                <a:ln>
                  <a:noFill/>
                </a:ln>
                <a:solidFill>
                  <a:prstClr val="black"/>
                </a:solidFill>
                <a:effectLst/>
                <a:uLnTx/>
                <a:uFillTx/>
                <a:latin typeface="Calibri"/>
                <a:ea typeface="+mn-ea"/>
                <a:cs typeface="Arial" charset="0"/>
              </a:rPr>
              <a:t>pP6 is an independent project</a:t>
            </a:r>
          </a:p>
          <a:p>
            <a:pPr marL="457200" marR="0" lvl="0" indent="-457200" algn="l" defTabSz="914400" rtl="0" eaLnBrk="1" fontAlgn="auto" latinLnBrk="0" hangingPunct="1">
              <a:lnSpc>
                <a:spcPct val="100000"/>
              </a:lnSpc>
              <a:spcBef>
                <a:spcPts val="0"/>
              </a:spcBef>
              <a:spcAft>
                <a:spcPts val="0"/>
              </a:spcAft>
              <a:buClrTx/>
              <a:buSzTx/>
              <a:buFont typeface="Wingdings" pitchFamily="2" charset="2"/>
              <a:buChar char="§"/>
              <a:tabLst>
                <a:tab pos="455613" algn="l"/>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Arial" charset="0"/>
            </a:endParaRPr>
          </a:p>
          <a:p>
            <a:pPr marL="457200" marR="0" lvl="0" indent="-457200" algn="l" defTabSz="914400" rtl="0" eaLnBrk="1" fontAlgn="auto" latinLnBrk="0" hangingPunct="1">
              <a:lnSpc>
                <a:spcPct val="100000"/>
              </a:lnSpc>
              <a:spcBef>
                <a:spcPts val="0"/>
              </a:spcBef>
              <a:spcAft>
                <a:spcPts val="0"/>
              </a:spcAft>
              <a:buClrTx/>
              <a:buSzTx/>
              <a:buFont typeface="Wingdings" pitchFamily="2" charset="2"/>
              <a:buChar char="§"/>
              <a:tabLst>
                <a:tab pos="455613" algn="l"/>
              </a:tabLst>
              <a:defRPr/>
            </a:pPr>
            <a:r>
              <a:rPr kumimoji="0" lang="en-US" sz="2000" b="0" i="0" u="none" strike="noStrike" kern="1200" cap="none" spc="0" normalizeH="0" baseline="0" noProof="0" dirty="0">
                <a:ln>
                  <a:noFill/>
                </a:ln>
                <a:solidFill>
                  <a:prstClr val="black"/>
                </a:solidFill>
                <a:effectLst/>
                <a:uLnTx/>
                <a:uFillTx/>
                <a:latin typeface="Calibri"/>
                <a:ea typeface="+mn-ea"/>
                <a:cs typeface="Arial" charset="0"/>
              </a:rPr>
              <a:t>There is not a specific timeline for completing it, and it depends heavily on what works and doesn’t.  You are expected to spend about 3 </a:t>
            </a:r>
            <a:r>
              <a:rPr kumimoji="0" lang="en-US" sz="2000" b="0" i="0" u="none" strike="noStrike" kern="1200" cap="none" spc="0" normalizeH="0" baseline="0" noProof="0" dirty="0" err="1">
                <a:ln>
                  <a:noFill/>
                </a:ln>
                <a:solidFill>
                  <a:prstClr val="black"/>
                </a:solidFill>
                <a:effectLst/>
                <a:uLnTx/>
                <a:uFillTx/>
                <a:latin typeface="Calibri"/>
                <a:ea typeface="+mn-ea"/>
                <a:cs typeface="Arial" charset="0"/>
              </a:rPr>
              <a:t>hrs</a:t>
            </a:r>
            <a:r>
              <a:rPr kumimoji="0" lang="en-US" sz="2000" b="0" i="0" u="none" strike="noStrike" kern="1200" cap="none" spc="0" normalizeH="0" baseline="0" noProof="0" dirty="0">
                <a:ln>
                  <a:noFill/>
                </a:ln>
                <a:solidFill>
                  <a:prstClr val="black"/>
                </a:solidFill>
                <a:effectLst/>
                <a:uLnTx/>
                <a:uFillTx/>
                <a:latin typeface="Calibri"/>
                <a:ea typeface="+mn-ea"/>
                <a:cs typeface="Arial" charset="0"/>
              </a:rPr>
              <a:t>/week on it, with the 2 </a:t>
            </a:r>
            <a:r>
              <a:rPr kumimoji="0" lang="en-US" sz="2000" b="0" i="0" u="none" strike="noStrike" kern="1200" cap="none" spc="0" normalizeH="0" baseline="0" noProof="0" dirty="0" err="1">
                <a:ln>
                  <a:noFill/>
                </a:ln>
                <a:solidFill>
                  <a:prstClr val="black"/>
                </a:solidFill>
                <a:effectLst/>
                <a:uLnTx/>
                <a:uFillTx/>
                <a:latin typeface="Calibri"/>
                <a:ea typeface="+mn-ea"/>
                <a:cs typeface="Arial" charset="0"/>
              </a:rPr>
              <a:t>hr</a:t>
            </a:r>
            <a:r>
              <a:rPr kumimoji="0" lang="en-US" sz="2000" b="0" i="0" u="none" strike="noStrike" kern="1200" cap="none" spc="0" normalizeH="0" baseline="0" noProof="0" dirty="0">
                <a:ln>
                  <a:noFill/>
                </a:ln>
                <a:solidFill>
                  <a:prstClr val="black"/>
                </a:solidFill>
                <a:effectLst/>
                <a:uLnTx/>
                <a:uFillTx/>
                <a:latin typeface="Calibri"/>
                <a:ea typeface="+mn-ea"/>
                <a:cs typeface="Arial" charset="0"/>
              </a:rPr>
              <a:t> in lab minimum discussed previously.</a:t>
            </a:r>
          </a:p>
          <a:p>
            <a:pPr marL="0" marR="0" lvl="0" indent="0" algn="l" defTabSz="914400" rtl="0" eaLnBrk="1" fontAlgn="auto" latinLnBrk="0" hangingPunct="1">
              <a:lnSpc>
                <a:spcPct val="100000"/>
              </a:lnSpc>
              <a:spcBef>
                <a:spcPts val="0"/>
              </a:spcBef>
              <a:spcAft>
                <a:spcPts val="0"/>
              </a:spcAft>
              <a:buClrTx/>
              <a:buSzTx/>
              <a:buFontTx/>
              <a:buNone/>
              <a:tabLst>
                <a:tab pos="455613" algn="l"/>
              </a:tabLst>
              <a:defRPr/>
            </a:pPr>
            <a:endParaRPr kumimoji="0" lang="en-US" sz="20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28898456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p:cNvSpPr txBox="1">
            <a:spLocks noChangeArrowheads="1"/>
          </p:cNvSpPr>
          <p:nvPr/>
        </p:nvSpPr>
        <p:spPr bwMode="auto">
          <a:xfrm>
            <a:off x="304800" y="130314"/>
            <a:ext cx="8610600" cy="646331"/>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000000"/>
                </a:solidFill>
                <a:effectLst/>
                <a:uLnTx/>
                <a:uFillTx/>
                <a:latin typeface="Calibri"/>
                <a:ea typeface="+mn-ea"/>
                <a:cs typeface="Calibri"/>
              </a:rPr>
              <a:t>From </a:t>
            </a:r>
            <a:r>
              <a:rPr kumimoji="0" lang="en-US" sz="3600" b="0" i="0" u="none" strike="noStrike" kern="1200" cap="none" spc="0" normalizeH="0" baseline="0" noProof="0" dirty="0" err="1">
                <a:ln>
                  <a:noFill/>
                </a:ln>
                <a:solidFill>
                  <a:srgbClr val="000000"/>
                </a:solidFill>
                <a:effectLst/>
                <a:uLnTx/>
                <a:uFillTx/>
                <a:latin typeface="Calibri"/>
                <a:ea typeface="+mn-ea"/>
                <a:cs typeface="Calibri"/>
              </a:rPr>
              <a:t>Bcourses</a:t>
            </a:r>
            <a:endParaRPr kumimoji="0" lang="en-US" sz="3600" b="0" i="0" u="none" strike="noStrike" kern="1200" cap="none" spc="0" normalizeH="0" baseline="0" noProof="0" dirty="0">
              <a:ln>
                <a:noFill/>
              </a:ln>
              <a:solidFill>
                <a:srgbClr val="000000"/>
              </a:solidFill>
              <a:effectLst/>
              <a:uLnTx/>
              <a:uFillTx/>
              <a:latin typeface="Calibri"/>
              <a:ea typeface="+mn-ea"/>
              <a:cs typeface="Calibri"/>
            </a:endParaRPr>
          </a:p>
        </p:txBody>
      </p:sp>
      <p:sp>
        <p:nvSpPr>
          <p:cNvPr id="5" name="TextBox 4">
            <a:extLst>
              <a:ext uri="{FF2B5EF4-FFF2-40B4-BE49-F238E27FC236}">
                <a16:creationId xmlns:a16="http://schemas.microsoft.com/office/drawing/2014/main" id="{F325A003-056F-4983-75DA-FA89C9225A77}"/>
              </a:ext>
            </a:extLst>
          </p:cNvPr>
          <p:cNvSpPr txBox="1"/>
          <p:nvPr/>
        </p:nvSpPr>
        <p:spPr>
          <a:xfrm>
            <a:off x="1066800" y="1496106"/>
            <a:ext cx="7010400" cy="3693319"/>
          </a:xfrm>
          <a:prstGeom prst="rect">
            <a:avLst/>
          </a:prstGeom>
          <a:noFill/>
        </p:spPr>
        <p:txBody>
          <a:bodyPr wrap="square">
            <a:spAutoFit/>
          </a:bodyPr>
          <a:lstStyle/>
          <a:p>
            <a:pPr>
              <a:spcBef>
                <a:spcPts val="900"/>
              </a:spcBef>
              <a:spcAft>
                <a:spcPts val="900"/>
              </a:spcAft>
            </a:pPr>
            <a:r>
              <a:rPr lang="en-US" sz="1200" dirty="0">
                <a:solidFill>
                  <a:srgbClr val="273540"/>
                </a:solidFill>
                <a:latin typeface="Lato Extended"/>
              </a:rPr>
              <a:t>Wetlab4: Projects </a:t>
            </a:r>
          </a:p>
          <a:p>
            <a:pPr algn="l">
              <a:spcBef>
                <a:spcPts val="900"/>
              </a:spcBef>
              <a:spcAft>
                <a:spcPts val="900"/>
              </a:spcAft>
              <a:buNone/>
            </a:pPr>
            <a:r>
              <a:rPr lang="en-US" sz="1200" b="0" i="0" dirty="0">
                <a:solidFill>
                  <a:srgbClr val="273540"/>
                </a:solidFill>
                <a:effectLst/>
                <a:latin typeface="Lato Extended"/>
              </a:rPr>
              <a:t>Create a new TPcon6 family of parts and then apply them to the lycopene pathway, or as far as you can get with it.  For starters, read through this introduction:</a:t>
            </a:r>
          </a:p>
          <a:p>
            <a:pPr algn="l">
              <a:spcBef>
                <a:spcPts val="900"/>
              </a:spcBef>
              <a:spcAft>
                <a:spcPts val="900"/>
              </a:spcAft>
              <a:buNone/>
            </a:pPr>
            <a:r>
              <a:rPr lang="en-US" sz="1200" b="0" i="0" u="sng" dirty="0">
                <a:solidFill>
                  <a:srgbClr val="367191"/>
                </a:solidFill>
                <a:effectLst/>
                <a:latin typeface="Lato Extended"/>
                <a:hlinkClick r:id="rId3"/>
              </a:rPr>
              <a:t>https://ucb-bioe-anderson-lab.github.io/cloning-tutorials/wetlab/intro/Links to an external site.</a:t>
            </a:r>
            <a:endParaRPr lang="en-US" sz="1200" b="0" i="0" dirty="0">
              <a:solidFill>
                <a:srgbClr val="273540"/>
              </a:solidFill>
              <a:effectLst/>
              <a:latin typeface="Lato Extended"/>
            </a:endParaRPr>
          </a:p>
          <a:p>
            <a:pPr algn="l">
              <a:spcBef>
                <a:spcPts val="900"/>
              </a:spcBef>
              <a:spcAft>
                <a:spcPts val="900"/>
              </a:spcAft>
              <a:buNone/>
            </a:pPr>
            <a:r>
              <a:rPr lang="en-US" sz="1200" b="0" i="0" dirty="0">
                <a:solidFill>
                  <a:srgbClr val="273540"/>
                </a:solidFill>
                <a:effectLst/>
                <a:latin typeface="Lato Extended"/>
              </a:rPr>
              <a:t>Then proceed through all 11 chapters of the </a:t>
            </a:r>
            <a:r>
              <a:rPr lang="en-US" sz="1200" b="0" i="0" dirty="0" err="1">
                <a:solidFill>
                  <a:srgbClr val="273540"/>
                </a:solidFill>
                <a:effectLst/>
                <a:latin typeface="Lato Extended"/>
              </a:rPr>
              <a:t>Wetlab</a:t>
            </a:r>
            <a:r>
              <a:rPr lang="en-US" sz="1200" b="0" i="0" dirty="0">
                <a:solidFill>
                  <a:srgbClr val="273540"/>
                </a:solidFill>
                <a:effectLst/>
                <a:latin typeface="Lato Extended"/>
              </a:rPr>
              <a:t> section.  For each chapter, there is textual explanation and a quiz.  You can access your results by clicking "Submit Report" and update your response to this Assignment with the report.</a:t>
            </a:r>
          </a:p>
          <a:p>
            <a:pPr algn="l">
              <a:spcBef>
                <a:spcPts val="900"/>
              </a:spcBef>
              <a:spcAft>
                <a:spcPts val="900"/>
              </a:spcAft>
              <a:buNone/>
            </a:pPr>
            <a:r>
              <a:rPr lang="en-US" sz="1200" b="0" i="0" dirty="0">
                <a:solidFill>
                  <a:srgbClr val="273540"/>
                </a:solidFill>
                <a:effectLst/>
                <a:latin typeface="Lato Extended"/>
              </a:rPr>
              <a:t>Most chapters also refer to 9 videos on </a:t>
            </a:r>
            <a:r>
              <a:rPr lang="en-US" sz="1200" b="0" i="0" dirty="0" err="1">
                <a:solidFill>
                  <a:srgbClr val="273540"/>
                </a:solidFill>
                <a:effectLst/>
                <a:latin typeface="Lato Extended"/>
              </a:rPr>
              <a:t>bcourses</a:t>
            </a:r>
            <a:r>
              <a:rPr lang="en-US" sz="1200" b="0" i="0" dirty="0">
                <a:solidFill>
                  <a:srgbClr val="273540"/>
                </a:solidFill>
                <a:effectLst/>
                <a:latin typeface="Lato Extended"/>
              </a:rPr>
              <a:t> with names starting with pP6-2022-#.  You should watch the video and take the quiz before you try the step in the lab.</a:t>
            </a:r>
          </a:p>
          <a:p>
            <a:pPr algn="l">
              <a:spcBef>
                <a:spcPts val="900"/>
              </a:spcBef>
              <a:spcAft>
                <a:spcPts val="900"/>
              </a:spcAft>
              <a:buNone/>
            </a:pPr>
            <a:r>
              <a:rPr lang="en-US" sz="1200" b="0" i="0" dirty="0">
                <a:solidFill>
                  <a:srgbClr val="273540"/>
                </a:solidFill>
                <a:effectLst/>
                <a:latin typeface="Lato Extended"/>
              </a:rPr>
              <a:t>The </a:t>
            </a:r>
            <a:r>
              <a:rPr lang="en-US" sz="1200" b="0" i="0" dirty="0" err="1">
                <a:solidFill>
                  <a:srgbClr val="273540"/>
                </a:solidFill>
                <a:effectLst/>
                <a:latin typeface="Lato Extended"/>
              </a:rPr>
              <a:t>wetlab</a:t>
            </a:r>
            <a:r>
              <a:rPr lang="en-US" sz="1200" b="0" i="0" dirty="0">
                <a:solidFill>
                  <a:srgbClr val="273540"/>
                </a:solidFill>
                <a:effectLst/>
                <a:latin typeface="Lato Extended"/>
              </a:rPr>
              <a:t> schedule itself is asynchronous within the supervised times, and it is up to you when to start.  You are expected to average out to 2 </a:t>
            </a:r>
            <a:r>
              <a:rPr lang="en-US" sz="1200" b="0" i="0" dirty="0" err="1">
                <a:solidFill>
                  <a:srgbClr val="273540"/>
                </a:solidFill>
                <a:effectLst/>
                <a:latin typeface="Lato Extended"/>
              </a:rPr>
              <a:t>wetlab</a:t>
            </a:r>
            <a:r>
              <a:rPr lang="en-US" sz="1200" b="0" i="0" dirty="0">
                <a:solidFill>
                  <a:srgbClr val="273540"/>
                </a:solidFill>
                <a:effectLst/>
                <a:latin typeface="Lato Extended"/>
              </a:rPr>
              <a:t> sessions per week.</a:t>
            </a:r>
          </a:p>
          <a:p>
            <a:pPr algn="l">
              <a:spcBef>
                <a:spcPts val="900"/>
              </a:spcBef>
              <a:spcAft>
                <a:spcPts val="900"/>
              </a:spcAft>
              <a:buNone/>
            </a:pPr>
            <a:r>
              <a:rPr lang="en-US" sz="1200" b="0" i="0" dirty="0">
                <a:solidFill>
                  <a:srgbClr val="273540"/>
                </a:solidFill>
                <a:effectLst/>
                <a:latin typeface="Lato Extended"/>
              </a:rPr>
              <a:t>Subsequent experiments will be described later in the course.</a:t>
            </a:r>
          </a:p>
        </p:txBody>
      </p:sp>
    </p:spTree>
    <p:extLst>
      <p:ext uri="{BB962C8B-B14F-4D97-AF65-F5344CB8AC3E}">
        <p14:creationId xmlns:p14="http://schemas.microsoft.com/office/powerpoint/2010/main" val="29628747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304800" y="130314"/>
            <a:ext cx="8610600" cy="646331"/>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600" b="0" i="0" u="none" strike="noStrike" kern="1200" cap="none" spc="0" normalizeH="0" baseline="0" noProof="0" dirty="0" err="1">
                <a:ln>
                  <a:noFill/>
                </a:ln>
                <a:solidFill>
                  <a:prstClr val="black"/>
                </a:solidFill>
                <a:effectLst/>
                <a:uLnTx/>
                <a:uFillTx/>
                <a:latin typeface="Calibri"/>
                <a:ea typeface="+mn-ea"/>
                <a:cs typeface="Calibri"/>
              </a:rPr>
              <a:t>iGEMers</a:t>
            </a:r>
            <a:endParaRPr kumimoji="0" lang="en-US" sz="3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 name="Text Box 7">
            <a:extLst>
              <a:ext uri="{FF2B5EF4-FFF2-40B4-BE49-F238E27FC236}">
                <a16:creationId xmlns:a16="http://schemas.microsoft.com/office/drawing/2014/main" id="{59DB973D-CBE3-AF43-5603-36C79FFAB58E}"/>
              </a:ext>
            </a:extLst>
          </p:cNvPr>
          <p:cNvSpPr txBox="1">
            <a:spLocks noChangeArrowheads="1"/>
          </p:cNvSpPr>
          <p:nvPr/>
        </p:nvSpPr>
        <p:spPr bwMode="auto">
          <a:xfrm>
            <a:off x="914400" y="911706"/>
            <a:ext cx="8153400" cy="830997"/>
          </a:xfrm>
          <a:prstGeom prst="rect">
            <a:avLst/>
          </a:prstGeom>
          <a:noFill/>
          <a:ln w="9525">
            <a:noFill/>
            <a:miter lim="800000"/>
            <a:headEnd/>
            <a:tailEnd/>
          </a:ln>
          <a:effectLst/>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455613" algn="l"/>
              </a:tabLst>
              <a:defRPr/>
            </a:pPr>
            <a:r>
              <a:rPr kumimoji="0" lang="en-US" sz="2400" b="0" i="0" u="none" strike="noStrike" kern="1200" cap="none" spc="0" normalizeH="0" baseline="0" noProof="0" dirty="0">
                <a:ln>
                  <a:noFill/>
                </a:ln>
                <a:solidFill>
                  <a:prstClr val="black"/>
                </a:solidFill>
                <a:effectLst/>
                <a:uLnTx/>
                <a:uFillTx/>
                <a:latin typeface="Calibri" pitchFamily="34" charset="0"/>
                <a:ea typeface="+mn-ea"/>
                <a:cs typeface="Arial" charset="0"/>
              </a:rPr>
              <a:t>If you have already done pP6, contact JCA if you don’t feel you need to do it again</a:t>
            </a:r>
          </a:p>
        </p:txBody>
      </p:sp>
    </p:spTree>
    <p:extLst>
      <p:ext uri="{BB962C8B-B14F-4D97-AF65-F5344CB8AC3E}">
        <p14:creationId xmlns:p14="http://schemas.microsoft.com/office/powerpoint/2010/main" val="134440512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sp>
        <p:nvSpPr>
          <p:cNvPr id="4" name="TextBox 3"/>
          <p:cNvSpPr txBox="1"/>
          <p:nvPr/>
        </p:nvSpPr>
        <p:spPr>
          <a:xfrm>
            <a:off x="912872" y="2198470"/>
            <a:ext cx="7742633" cy="1015663"/>
          </a:xfrm>
          <a:prstGeom prst="rect">
            <a:avLst/>
          </a:prstGeom>
          <a:noFill/>
        </p:spPr>
        <p:txBody>
          <a:bodyPr wrap="square" rtlCol="0">
            <a:spAutoFit/>
          </a:bodyPr>
          <a:lstStyle/>
          <a:p>
            <a:pPr defTabSz="457200" fontAlgn="auto">
              <a:spcBef>
                <a:spcPts val="0"/>
              </a:spcBef>
              <a:spcAft>
                <a:spcPts val="0"/>
              </a:spcAft>
            </a:pPr>
            <a:r>
              <a:rPr lang="en-US" sz="6000" b="1" dirty="0">
                <a:solidFill>
                  <a:prstClr val="white"/>
                </a:solidFill>
                <a:latin typeface="Arial"/>
                <a:cs typeface="Arial"/>
              </a:rPr>
              <a:t>Questions?</a:t>
            </a:r>
          </a:p>
        </p:txBody>
      </p:sp>
    </p:spTree>
    <p:extLst>
      <p:ext uri="{BB962C8B-B14F-4D97-AF65-F5344CB8AC3E}">
        <p14:creationId xmlns:p14="http://schemas.microsoft.com/office/powerpoint/2010/main" val="42069977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2.4|4.8"/>
</p:tagLst>
</file>

<file path=ppt/tags/tag2.xml><?xml version="1.0" encoding="utf-8"?>
<p:tagLst xmlns:a="http://schemas.openxmlformats.org/drawingml/2006/main" xmlns:r="http://schemas.openxmlformats.org/officeDocument/2006/relationships" xmlns:p="http://schemas.openxmlformats.org/presentationml/2006/main">
  <p:tag name="TIMING" val="|27.5|1.2|0.5|0.4|79.5|17.3"/>
</p:tagLst>
</file>

<file path=ppt/tags/tag3.xml><?xml version="1.0" encoding="utf-8"?>
<p:tagLst xmlns:a="http://schemas.openxmlformats.org/drawingml/2006/main" xmlns:r="http://schemas.openxmlformats.org/officeDocument/2006/relationships" xmlns:p="http://schemas.openxmlformats.org/presentationml/2006/main">
  <p:tag name="TIMING" val="|11.4"/>
</p:tagLst>
</file>

<file path=ppt/tags/tag4.xml><?xml version="1.0" encoding="utf-8"?>
<p:tagLst xmlns:a="http://schemas.openxmlformats.org/drawingml/2006/main" xmlns:r="http://schemas.openxmlformats.org/officeDocument/2006/relationships" xmlns:p="http://schemas.openxmlformats.org/presentationml/2006/main">
  <p:tag name="TIMING" val="|30.8"/>
</p:tagLst>
</file>

<file path=ppt/tags/tag5.xml><?xml version="1.0" encoding="utf-8"?>
<p:tagLst xmlns:a="http://schemas.openxmlformats.org/drawingml/2006/main" xmlns:r="http://schemas.openxmlformats.org/officeDocument/2006/relationships" xmlns:p="http://schemas.openxmlformats.org/presentationml/2006/main">
  <p:tag name="TIMING" val="|30.8"/>
</p:tagLst>
</file>

<file path=ppt/tags/tag6.xml><?xml version="1.0" encoding="utf-8"?>
<p:tagLst xmlns:a="http://schemas.openxmlformats.org/drawingml/2006/main" xmlns:r="http://schemas.openxmlformats.org/officeDocument/2006/relationships" xmlns:p="http://schemas.openxmlformats.org/presentationml/2006/main">
  <p:tag name="TIMING" val="|22.4"/>
</p:tagLst>
</file>

<file path=ppt/tags/tag7.xml><?xml version="1.0" encoding="utf-8"?>
<p:tagLst xmlns:a="http://schemas.openxmlformats.org/drawingml/2006/main" xmlns:r="http://schemas.openxmlformats.org/officeDocument/2006/relationships" xmlns:p="http://schemas.openxmlformats.org/presentationml/2006/main">
  <p:tag name="TIMING" val="|26.5|20.5"/>
</p:tagLst>
</file>

<file path=ppt/tags/tag8.xml><?xml version="1.0" encoding="utf-8"?>
<p:tagLst xmlns:a="http://schemas.openxmlformats.org/drawingml/2006/main" xmlns:r="http://schemas.openxmlformats.org/officeDocument/2006/relationships" xmlns:p="http://schemas.openxmlformats.org/presentationml/2006/main">
  <p:tag name="TIMING" val="|17.5|30.1|25.3"/>
</p:tagLst>
</file>

<file path=ppt/tags/tag9.xml><?xml version="1.0" encoding="utf-8"?>
<p:tagLst xmlns:a="http://schemas.openxmlformats.org/drawingml/2006/main" xmlns:r="http://schemas.openxmlformats.org/officeDocument/2006/relationships" xmlns:p="http://schemas.openxmlformats.org/presentationml/2006/main">
  <p:tag name="TIMING" val="|12.4|4.8"/>
</p:tagLst>
</file>

<file path=ppt/tags/tag10.xml><?xml version="1.0" encoding="utf-8"?>
<p:tagLst xmlns:a="http://schemas.openxmlformats.org/drawingml/2006/main" xmlns:r="http://schemas.openxmlformats.org/officeDocument/2006/relationships" xmlns:p="http://schemas.openxmlformats.org/presentationml/2006/main">
  <p:tag name="TIMING" val="|12.5|5.3|11.4|14.4|8.6|9.7"/>
</p:tagLst>
</file>

<file path=ppt/tags/tag11.xml><?xml version="1.0" encoding="utf-8"?>
<p:tagLst xmlns:a="http://schemas.openxmlformats.org/drawingml/2006/main" xmlns:r="http://schemas.openxmlformats.org/officeDocument/2006/relationships" xmlns:p="http://schemas.openxmlformats.org/presentationml/2006/main">
  <p:tag name="TIMING" val="|12.4|4.8"/>
</p:tagLst>
</file>

<file path=ppt/tags/tag12.xml><?xml version="1.0" encoding="utf-8"?>
<p:tagLst xmlns:a="http://schemas.openxmlformats.org/drawingml/2006/main" xmlns:r="http://schemas.openxmlformats.org/officeDocument/2006/relationships" xmlns:p="http://schemas.openxmlformats.org/presentationml/2006/main">
  <p:tag name="TIMING" val="|2.9"/>
</p:tagLst>
</file>

<file path=ppt/tags/tag13.xml><?xml version="1.0" encoding="utf-8"?>
<p:tagLst xmlns:a="http://schemas.openxmlformats.org/drawingml/2006/main" xmlns:r="http://schemas.openxmlformats.org/officeDocument/2006/relationships" xmlns:p="http://schemas.openxmlformats.org/presentationml/2006/main">
  <p:tag name="TIMING" val="|0.8"/>
</p:tagLst>
</file>

<file path=ppt/tags/tag14.xml><?xml version="1.0" encoding="utf-8"?>
<p:tagLst xmlns:a="http://schemas.openxmlformats.org/drawingml/2006/main" xmlns:r="http://schemas.openxmlformats.org/officeDocument/2006/relationships" xmlns:p="http://schemas.openxmlformats.org/presentationml/2006/main">
  <p:tag name="TIMING" val="|12.4|4.8"/>
</p:tagLst>
</file>

<file path=ppt/tags/tag15.xml><?xml version="1.0" encoding="utf-8"?>
<p:tagLst xmlns:a="http://schemas.openxmlformats.org/drawingml/2006/main" xmlns:r="http://schemas.openxmlformats.org/officeDocument/2006/relationships" xmlns:p="http://schemas.openxmlformats.org/presentationml/2006/main">
  <p:tag name="TIMING" val="|21.8|25.6"/>
</p:tagLst>
</file>

<file path=ppt/tags/tag16.xml><?xml version="1.0" encoding="utf-8"?>
<p:tagLst xmlns:a="http://schemas.openxmlformats.org/drawingml/2006/main" xmlns:r="http://schemas.openxmlformats.org/officeDocument/2006/relationships" xmlns:p="http://schemas.openxmlformats.org/presentationml/2006/main">
  <p:tag name="TIMING" val="|12.4|4.8"/>
</p:tagLst>
</file>

<file path=ppt/tags/tag17.xml><?xml version="1.0" encoding="utf-8"?>
<p:tagLst xmlns:a="http://schemas.openxmlformats.org/drawingml/2006/main" xmlns:r="http://schemas.openxmlformats.org/officeDocument/2006/relationships" xmlns:p="http://schemas.openxmlformats.org/presentationml/2006/main">
  <p:tag name="TIMING" val="|14.5"/>
</p:tagLst>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tx1"/>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smtClean="0"/>
        </a:defPPr>
      </a:lstStyle>
      <a:style>
        <a:lnRef idx="1">
          <a:schemeClr val="accent1"/>
        </a:lnRef>
        <a:fillRef idx="3">
          <a:schemeClr val="accent1"/>
        </a:fillRef>
        <a:effectRef idx="2">
          <a:schemeClr val="accent1"/>
        </a:effectRef>
        <a:fontRef idx="minor">
          <a:schemeClr val="lt1"/>
        </a:fontRef>
      </a:style>
    </a:spDef>
    <a:lnDef>
      <a:spPr>
        <a:ln>
          <a:solidFill>
            <a:schemeClr val="tx1"/>
          </a:solidFill>
          <a:tailEnd type="arrow"/>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tx1"/>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smtClean="0"/>
        </a:defPPr>
      </a:lstStyle>
      <a:style>
        <a:lnRef idx="1">
          <a:schemeClr val="accent1"/>
        </a:lnRef>
        <a:fillRef idx="3">
          <a:schemeClr val="accent1"/>
        </a:fillRef>
        <a:effectRef idx="2">
          <a:schemeClr val="accent1"/>
        </a:effectRef>
        <a:fontRef idx="minor">
          <a:schemeClr val="lt1"/>
        </a:fontRef>
      </a:style>
    </a:spDef>
    <a:lnDef>
      <a:spPr>
        <a:ln>
          <a:solidFill>
            <a:schemeClr val="tx1"/>
          </a:solidFill>
          <a:tailEnd type="arrow"/>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9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10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1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1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tx1"/>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smtClean="0"/>
        </a:defPPr>
      </a:lstStyle>
      <a:style>
        <a:lnRef idx="1">
          <a:schemeClr val="accent1"/>
        </a:lnRef>
        <a:fillRef idx="3">
          <a:schemeClr val="accent1"/>
        </a:fillRef>
        <a:effectRef idx="2">
          <a:schemeClr val="accent1"/>
        </a:effectRef>
        <a:fontRef idx="minor">
          <a:schemeClr val="lt1"/>
        </a:fontRef>
      </a:style>
    </a:spDef>
    <a:lnDef>
      <a:spPr>
        <a:ln>
          <a:solidFill>
            <a:schemeClr val="tx1"/>
          </a:solidFill>
          <a:tailEnd type="arrow"/>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18865</TotalTime>
  <Words>8322</Words>
  <Application>Microsoft Macintosh PowerPoint</Application>
  <PresentationFormat>On-screen Show (4:3)</PresentationFormat>
  <Paragraphs>698</Paragraphs>
  <Slides>89</Slides>
  <Notes>87</Notes>
  <HiddenSlides>0</HiddenSlides>
  <MMClips>0</MMClips>
  <ScaleCrop>false</ScaleCrop>
  <HeadingPairs>
    <vt:vector size="8" baseType="variant">
      <vt:variant>
        <vt:lpstr>Fonts Used</vt:lpstr>
      </vt:variant>
      <vt:variant>
        <vt:i4>9</vt:i4>
      </vt:variant>
      <vt:variant>
        <vt:lpstr>Theme</vt:lpstr>
      </vt:variant>
      <vt:variant>
        <vt:i4>10</vt:i4>
      </vt:variant>
      <vt:variant>
        <vt:lpstr>Embedded OLE Servers</vt:lpstr>
      </vt:variant>
      <vt:variant>
        <vt:i4>1</vt:i4>
      </vt:variant>
      <vt:variant>
        <vt:lpstr>Slide Titles</vt:lpstr>
      </vt:variant>
      <vt:variant>
        <vt:i4>89</vt:i4>
      </vt:variant>
    </vt:vector>
  </HeadingPairs>
  <TitlesOfParts>
    <vt:vector size="109" baseType="lpstr">
      <vt:lpstr>Aptos Narrow</vt:lpstr>
      <vt:lpstr>Arial</vt:lpstr>
      <vt:lpstr>Calibri</vt:lpstr>
      <vt:lpstr>Courier New</vt:lpstr>
      <vt:lpstr>Lato Extended</vt:lpstr>
      <vt:lpstr>Rockwell Extra Bold</vt:lpstr>
      <vt:lpstr>Segoe Script</vt:lpstr>
      <vt:lpstr>ui-sans-serif</vt:lpstr>
      <vt:lpstr>Wingdings</vt:lpstr>
      <vt:lpstr>2_Office Theme</vt:lpstr>
      <vt:lpstr>7_Office Theme</vt:lpstr>
      <vt:lpstr>8_Office Theme</vt:lpstr>
      <vt:lpstr>3_Office Theme</vt:lpstr>
      <vt:lpstr>5_Office Theme</vt:lpstr>
      <vt:lpstr>9_Office Theme</vt:lpstr>
      <vt:lpstr>10_Office Theme</vt:lpstr>
      <vt:lpstr>11_Office Theme</vt:lpstr>
      <vt:lpstr>14_Office Theme</vt:lpstr>
      <vt:lpstr>13_Office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JCAnderson</dc:creator>
  <cp:lastModifiedBy>Chris Anderson</cp:lastModifiedBy>
  <cp:revision>583</cp:revision>
  <dcterms:created xsi:type="dcterms:W3CDTF">2009-01-29T03:56:07Z</dcterms:created>
  <dcterms:modified xsi:type="dcterms:W3CDTF">2025-09-04T15:46:52Z</dcterms:modified>
</cp:coreProperties>
</file>